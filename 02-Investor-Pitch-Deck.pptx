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Welcome the investor by name. Set context.
For SMALL SAFE ($30K participants):
"Thanks for the time. I'm going to walk you through how we got from zero to 7 shops in 8 months, where we're going, and how the $30K SAFE fits in. Should take 25-30 minutes — I want plenty of time for your questions at the end."
For ANCHOR SAFE ($500K investor):
"Thanks for the time. This is going to be a 45-60 minute conversation. I'll walk through the architecture, the team, the math, and the comps — and then I want to dig into your specific concerns. The $500K anchor is the most important wire in this round, and the relationship matters more than the dollars."
Both audiences: ground them quickly. We are a real operating business, not a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the three callouts in order. Don't elaborate yet — these are the headlines, we'll unpack each.
For both audiences: After this slide, they should know exactly what we do, what stage we're at, and what we're asking for. If anything is unclear, pause and address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Key talking points:
1. "Acquired" column tells the velocity story. 8 months, 7 shops. That's institutional-grade dealflow execution.
2. "MRR start" vs "MRR now" tells the turnaround story. Arlington went from $18K to $30K (+67%). NRH from $3K to $11K (+267%). This is where the value creation lives.
3. "Funding" mix shows risk management. We don't depend on any single LP cohort. Three different shop structures, all working.
4. "Valuation" column is conservative — 0.83-0.92× revenue. BizBuySell median is 0.50× for donut shops. We're slightly above median because of demonstrated turnaround.
For SMALL SAFE: focus on the growth story. The numbers tell themselves.
For ANCHOR SAFE: emphasize the conservative valuations — leaves them upside. Mention Grapevine has 2 LPs open ($60K) — we could absorb their participation here at SAFE-cap terms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value creation story. The playbook is repeatable. Each new acquisition follows the same 5-step pattern.
Key message: "We are not buying donut shops. We are buying distressed businesses with a proven turnaround mechanism. The unit economics work because we acquire below market and lift performance by 50-200%."
For both audiences: ask if they want to see specific before/after numbers for any shop. NRH ($3K → $11K) is the most dramatic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you sell THE TEAM. Make sure every founder is namable and credible.
Key narrative: "Most QSR roll-ups are MBAs trying to operate businesses they don't fundamentally understand. We're operators who happened to have institutional and engineering backgrounds. That's the difference."
For ANCHOR SAFE: emphasize Jonathan as the institutional-grade ops hire. PE diligence will ask "who runs operations as you scale to 30+ shops?" — Jonathan is the credible answer.
For BOTH: if asked about Youyou's current consulting job, the answer is "going full-time at HoldCo formation, plan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thesis is what makes this a $80-120M exit candidate instead of a $10M strategic acquisition.
Walk through each pillar:
- Pillar 1 is the foundation. The owned stores generate the brand and the recipe IP.
- Pillar 2 is the multiplier. Once we have 15+ stores, the kitchen has volume to sell wholesale and dramatically improves margins.
- Pillar 3 is the ambition. Mix IP is a high-multiple asset adjacent to Dawn Foods.
- Pillar 4 is the wedge. Tech platform makes us defensible AND becomes its own revenue line.
For ANCHOR SAFE: this is where to spend time. They want to see that we have a vision beyond "more donut shops." The 4-pillar structure is the answer.
For SMALL SAFE: lighter touch on this slide. They mostly care about pillar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This is what they're investing in.
For ANCHOR SAFE: this is the show-stopper slide. Be specific:
- "At $80M exit on $300K SAFE → ~$770K back to you. 2.5× MOIC on a 4-year hold."
- "If we hit $120M, you get $1.1M+. 3.7× MOIC."
- "And the math gets considerably better at Year 7 — but base case at Year 4 already returns the fund."
For SMALL SAFE: simpler version:
- "At $80M exit on $30K SAFE → ~$77K back. 2.5× on a 4-year hold."
- "Same math, smaller scale."
Common pushback: "Why should I believe $80-120M?" Answer: comp slide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"why should I believe this?" — this slide is the answer.
Walk through each comp briefly:
- Shipley: same model, same kind of exit, just 4 years ahead of us
- Mochinut: same identity, same product approach, proves the category works
- Dave's: same starting point (literally parking lot, $22M revenue), reached $1B in 5 years
- Krispy Kreme: same supply-chain thesis (DFD = our centralized kitchen)
- Cava: shows the sustainable multiple
- Sweetgreen: shows we're NOT modeling on bubble peaks
Critical line: "None were pre-revenue unicorns. Dave's at $1B had $617M of actual revenue. We're not asking you to bet on hype — we're asking you to bet on a proven trajectory."
For ANCHOR SAFE: this is where they'll dig in. Be ready for "what makes you different from the failed roll-ups?" Answer: team capability (data, engineering, donut expertise —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structural slide. For sophisticated investors (anchor SAFE), this is where they evaluate whether we know what we're doing.
Key talking points:
1. Three lines is institutional-standard. PE buyers see this and immediately understand they can engage cleanly.
2. Shell HoldCo first means SAFE proceeds are available before the rollup completes. Investors don't have to wait.
3. §721 is the standard tax-free contribution mechanism. No tax event for any LP at rollup.
4. 6-12 month timeline is realistic, not aggressive. We're not pretending it happens in 30 days.
For SMALL SAFE: light touch on this slide. Mention: "you'll see this evolve as the HoldCo forms, but your equity position is established by the SAFE terms at close."
For ANCHOR SAFE: this is where they'll ask "what could go wrong?" Have ready: capital floor mechanic protects LPs, lender/landlord consents handled per-shop, tax memos drafted per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both shops side by side. Show the model works in two different capital structures.
Key narrative for ANCHOR SAFE: "Arlington shows the LP-funded path — we share equity but scale faster. Bluemound shows the founder-funded path — we keep more equity but scale slower. The HoldCo rollup blends both, and your SAFE captures the future of both paths."
For SMALL SAFE: simpler — "Both shop types are profitable. You're investing in the platform that operates both."
Pushback to prepare for: "What's the actual EBITDA margin?" Honest answer: still being verified by bookkeeper, target is 18-22% at maturity (Dave's-comparable).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slide. Be specific. Be honest.
For ANCHOR SAFE ($500K): "We're talking to one anchor of $500K plus pool participants for the remaining $500K. The anchor gets the right of first look on Series A pricing — meaningful upside protection."
For SMALL SAFE ($30K): "The terms are MFN-protected. If a later investor gets better terms, yours automatically upgrade. No timing risk."
Make sure they understand the use of proceeds. Legal isn't bloated — it's actually necessary to do this rollup right. The Jonathan hire is the single biggest line because that's the institutional-grade ops capability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math. The MOICs are very high — that's the point of a $2M cap on a company we believe will be worth $80-120M in 4 years. Early SAFE investors are taking the most risk and getting the most upside.
For ANCHOR SAFE ($500K row): "At base case ($120M exit), you get back $24M. That's 48× MOIC over 4 years. At conservative case ($80M), still $16M and 32×. The cap is the answer to 'what protects me if you stumble' — and the cap is $2M. We deliberately set it generous because we want anchor commitment NOW, when we need the capital most."
For SMALL SAFE ($30K row): "$30K at base case becomes $1.44M. That's 48× over 4 years. At conservative $80M exit, still $960K and 32×. The cap normalizes the math — every dollar of SAFE has the same per-dollar return potential."
Critical: be honest about assumptions. These MOICs assume:
1. We hit $80-120M exit at Year 4 (execution risk)
2. Only one Series A round dilutes the SAFE (no Series B modeled)
3. No misc dilution from convertibles, employee grants beyond MIP, etc.
4. The acquirer doesn't impose additional adjustments
Realistic ranges:
- If we hit only $40M exit: SAFE pool returns 16× (still strong)
- If we need a Series B at 15% dilution: subtract ~15% from all returns
- If the rollup stalls: SAFE converts later at the same cap; less upside but still capped
If they ask "why such a low cap?" — honest answer: "We need the capital now to execute the rollup. The cap is the trade. Once Series A prices the company at $4-5M pre, the SAFE window closes forever. You are paying premium to today's $1.2M aggregate value ($2M cap = 1.7× current) for outsized upside to the $80M+ exit. That asymmetry is the entire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slide is the ultimate trust builder. Investors HATE when a founder pretends there's no risk.
Walk through each. Acknowledge honestly. Show mitigation clearly. The asymmetry: founders who admit risk and have mitigation plans are far more credible than founders who claim everything will be fine.
For ANCHOR SAFE: spend more time here. They'll have read the deck and want to probe. Be ready for "what's the worst case?" Honest answer: "Worst case, the rollup stalls due to one LP holdout. We absorb that shop later. The other 6 still roll up. SAFE proceeds still fund growth. We are not at zero."
For SMALL SAFE: lighter — but still acknowledge: "We could fail. Donut shops are not bulletproof. The way you protect yourself is the structure of the SAFE — capped, discounted, MFN. The structure does its job even if we stumble."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emotional/urgency slide. Don't oversell — facts speak.
Key message: this round is open NOW. We're not pretending it's "first come first served" but the cap won't go down once we have anchor commitment.
For ANCHOR SAFE: "Your $500K commitment closes the round and unlocks the rest. The pool participants who follow you accept whatever terms you signed."
For SMALL SAFE: "MFN protects you on terms. But the cap is a function of valuation — once we have meaningful Series A revenue, the SAFE window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close. Make sure they know exactly what happens next and when.
For ANCHOR SAFE: "I want to do this in 30 days. Faster if your timeline allows. Slower if your counsel wants more time. Walk me through your preferred process."
For SMALL SAFE: "Standard process. We'll send you the SAFE template after this call. Once you've reviewed, we coordinate signatures and wire."
End every conversation with: "What questions do you have that I haven't answered? What would you need to see to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Hold the brand moment.
End the conversation by re-stating the next step (whatever was agreed on the previous slide). Don't ramble. Confidence comes from clarity.
If they ask follow-up questions, take notes and commit to specific response times.
If they ask "when do you need an answer?" — be honest: "Anchor commitment unblocks the round. Pool participants follow on MFN terms whatever I close with the anchor. Realistic answer: 30 days from today to close this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208"/>
        </a:solidFill>
      </p:bgPr>
    </p:bg>
    <p:spTree>
      <p:nvGrpSpPr>
        <p:cNvPr id="1" name=""/>
        <p:cNvGrpSpPr/>
        <p:nvPr/>
      </p:nvGrpSpPr>
      <p:grpSpPr>
        <a:xfrm>
          <a:off x="0" y="0"/>
          <a:ext cx="0" cy="0"/>
          <a:chOff x="0" y="0"/>
          <a:chExt cx="0" cy="0"/>
        </a:xfrm>
      </p:grpSpPr>
      <p:sp>
        <p:nvSpPr>
          <p:cNvPr id="2" name="Text 0"/>
          <p:cNvSpPr/>
          <p:nvPr/>
        </p:nvSpPr>
        <p:spPr>
          <a:xfrm>
            <a:off x="548640" y="457200"/>
            <a:ext cx="11064240" cy="365760"/>
          </a:xfrm>
          <a:prstGeom prst="rect">
            <a:avLst/>
          </a:prstGeom>
          <a:noFill/>
          <a:ln/>
        </p:spPr>
        <p:txBody>
          <a:bodyPr wrap="square" rtlCol="0" anchor="ctr"/>
          <a:lstStyle/>
          <a:p>
            <a:pPr indent="0" marL="0">
              <a:buNone/>
            </a:pPr>
            <a:r>
              <a:rPr lang="en-US" sz="1100" b="1" spc="400" kern="0" dirty="0">
                <a:solidFill>
                  <a:srgbClr val="D99C2B"/>
                </a:solidFill>
                <a:latin typeface="Calibri" pitchFamily="34" charset="0"/>
                <a:ea typeface="Calibri" pitchFamily="34" charset="-122"/>
                <a:cs typeface="Calibri" pitchFamily="34" charset="-120"/>
              </a:rPr>
              <a:t>STRATEGIC INVESTMENT MEMORANDUM · MAY 2026</a:t>
            </a:r>
            <a:endParaRPr lang="en-US" sz="1100" dirty="0"/>
          </a:p>
        </p:txBody>
      </p:sp>
      <p:sp>
        <p:nvSpPr>
          <p:cNvPr id="3" name="Text 1"/>
          <p:cNvSpPr/>
          <p:nvPr/>
        </p:nvSpPr>
        <p:spPr>
          <a:xfrm>
            <a:off x="548640" y="2286000"/>
            <a:ext cx="11064240" cy="1463040"/>
          </a:xfrm>
          <a:prstGeom prst="rect">
            <a:avLst/>
          </a:prstGeom>
          <a:noFill/>
          <a:ln/>
        </p:spPr>
        <p:txBody>
          <a:bodyPr wrap="square" rtlCol="0" anchor="ctr"/>
          <a:lstStyle/>
          <a:p>
            <a:pPr indent="0" marL="0">
              <a:buNone/>
            </a:pPr>
            <a:r>
              <a:rPr lang="en-US" sz="8800" b="1" i="1" dirty="0">
                <a:solidFill>
                  <a:srgbClr val="FAF6EA"/>
                </a:solidFill>
                <a:latin typeface="Georgia" pitchFamily="34" charset="0"/>
                <a:ea typeface="Georgia" pitchFamily="34" charset="-122"/>
                <a:cs typeface="Georgia" pitchFamily="34" charset="-120"/>
              </a:rPr>
              <a:t>Golden Glaze</a:t>
            </a:r>
            <a:endParaRPr lang="en-US" sz="8800" dirty="0"/>
          </a:p>
        </p:txBody>
      </p:sp>
      <p:sp>
        <p:nvSpPr>
          <p:cNvPr id="4" name="Text 2"/>
          <p:cNvSpPr/>
          <p:nvPr/>
        </p:nvSpPr>
        <p:spPr>
          <a:xfrm>
            <a:off x="548640" y="3931920"/>
            <a:ext cx="11064240" cy="731520"/>
          </a:xfrm>
          <a:prstGeom prst="rect">
            <a:avLst/>
          </a:prstGeom>
          <a:noFill/>
          <a:ln/>
        </p:spPr>
        <p:txBody>
          <a:bodyPr wrap="square" rtlCol="0" anchor="ctr"/>
          <a:lstStyle/>
          <a:p>
            <a:pPr indent="0" marL="0">
              <a:buNone/>
            </a:pPr>
            <a:r>
              <a:rPr lang="en-US" sz="2200" i="1" dirty="0">
                <a:solidFill>
                  <a:srgbClr val="F5E2B8"/>
                </a:solidFill>
                <a:latin typeface="Calibri" pitchFamily="34" charset="0"/>
                <a:ea typeface="Calibri" pitchFamily="34" charset="-122"/>
                <a:cs typeface="Calibri" pitchFamily="34" charset="-120"/>
              </a:rPr>
              <a:t>A 7-shop specialty bakery roll-up. The platform to a $80-120M exit.</a:t>
            </a:r>
            <a:endParaRPr lang="en-US" sz="2200" dirty="0"/>
          </a:p>
        </p:txBody>
      </p:sp>
      <p:sp>
        <p:nvSpPr>
          <p:cNvPr id="5" name="Text 3"/>
          <p:cNvSpPr/>
          <p:nvPr/>
        </p:nvSpPr>
        <p:spPr>
          <a:xfrm>
            <a:off x="548640" y="6126480"/>
            <a:ext cx="11064240" cy="274320"/>
          </a:xfrm>
          <a:prstGeom prst="rect">
            <a:avLst/>
          </a:prstGeom>
          <a:noFill/>
          <a:ln/>
        </p:spPr>
        <p:txBody>
          <a:bodyPr wrap="square" rtlCol="0" anchor="ctr"/>
          <a:lstStyle/>
          <a:p>
            <a:pPr indent="0" marL="0">
              <a:buNone/>
            </a:pPr>
            <a:r>
              <a:rPr lang="en-US" sz="1000" spc="200" kern="0" dirty="0">
                <a:solidFill>
                  <a:srgbClr val="8B6E3D"/>
                </a:solidFill>
                <a:latin typeface="Calibri" pitchFamily="34" charset="0"/>
                <a:ea typeface="Calibri" pitchFamily="34" charset="-122"/>
                <a:cs typeface="Calibri" pitchFamily="34" charset="-120"/>
              </a:rPr>
              <a:t>Confidential · Prepared for investor review · Do not distribute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A"/>
        </a:solidFill>
      </p:bgPr>
    </p:bg>
    <p:spTree>
      <p:nvGrpSpPr>
        <p:cNvPr id="1" name=""/>
        <p:cNvGrpSpPr/>
        <p:nvPr/>
      </p:nvGrpSpPr>
      <p:grpSpPr>
        <a:xfrm>
          <a:off x="0" y="0"/>
          <a:ext cx="0" cy="0"/>
          <a:chOff x="0" y="0"/>
          <a:chExt cx="0" cy="0"/>
        </a:xfrm>
      </p:grpSpPr>
      <p:sp>
        <p:nvSpPr>
          <p:cNvPr id="2" name="Text 0"/>
          <p:cNvSpPr/>
          <p:nvPr/>
        </p:nvSpPr>
        <p:spPr>
          <a:xfrm>
            <a:off x="548640" y="548640"/>
            <a:ext cx="11064240" cy="54864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Golden Glaze in one paragraph</a:t>
            </a:r>
            <a:endParaRPr lang="en-US" sz="3200" dirty="0"/>
          </a:p>
        </p:txBody>
      </p:sp>
      <p:sp>
        <p:nvSpPr>
          <p:cNvPr id="3" name="Text 1"/>
          <p:cNvSpPr/>
          <p:nvPr/>
        </p:nvSpPr>
        <p:spPr>
          <a:xfrm>
            <a:off x="548640" y="1645920"/>
            <a:ext cx="11064240" cy="2743200"/>
          </a:xfrm>
          <a:prstGeom prst="rect">
            <a:avLst/>
          </a:prstGeom>
          <a:noFill/>
          <a:ln/>
        </p:spPr>
        <p:txBody>
          <a:bodyPr wrap="square" rtlCol="0" anchor="t"/>
          <a:lstStyle/>
          <a:p>
            <a:pPr indent="0" marL="0">
              <a:lnSpc>
                <a:spcPct val="140000"/>
              </a:lnSpc>
              <a:buNone/>
            </a:pPr>
            <a:r>
              <a:rPr lang="en-US" sz="2400" dirty="0">
                <a:solidFill>
                  <a:srgbClr val="4A3825"/>
                </a:solidFill>
                <a:latin typeface="Calibri" pitchFamily="34" charset="0"/>
                <a:ea typeface="Calibri" pitchFamily="34" charset="-122"/>
                <a:cs typeface="Calibri" pitchFamily="34" charset="-120"/>
              </a:rPr>
              <a:t>We acquired </a:t>
            </a:r>
            <a:pPr indent="0" marL="0">
              <a:lnSpc>
                <a:spcPct val="140000"/>
              </a:lnSpc>
              <a:buNone/>
            </a:pPr>
            <a:r>
              <a:rPr lang="en-US" sz="2400" b="1" dirty="0">
                <a:solidFill>
                  <a:srgbClr val="1A1208"/>
                </a:solidFill>
                <a:latin typeface="Calibri" pitchFamily="34" charset="0"/>
                <a:ea typeface="Calibri" pitchFamily="34" charset="-122"/>
                <a:cs typeface="Calibri" pitchFamily="34" charset="-120"/>
              </a:rPr>
              <a:t>7 underperforming donut shops across Dallas-Fort Worth in 8 months</a:t>
            </a:r>
            <a:pPr indent="0" marL="0">
              <a:lnSpc>
                <a:spcPct val="140000"/>
              </a:lnSpc>
              <a:buNone/>
            </a:pPr>
            <a:r>
              <a:rPr lang="en-US" sz="2400" dirty="0">
                <a:solidFill>
                  <a:srgbClr val="4A3825"/>
                </a:solidFill>
                <a:latin typeface="Calibri" pitchFamily="34" charset="0"/>
                <a:ea typeface="Calibri" pitchFamily="34" charset="-122"/>
                <a:cs typeface="Calibri" pitchFamily="34" charset="-120"/>
              </a:rPr>
              <a:t>, stabilized them through operational turnaround, and are now executing the roll-up to consolidate into </a:t>
            </a:r>
            <a:pPr indent="0" marL="0">
              <a:lnSpc>
                <a:spcPct val="140000"/>
              </a:lnSpc>
              <a:buNone/>
            </a:pPr>
            <a:r>
              <a:rPr lang="en-US" sz="2400" b="1" dirty="0">
                <a:solidFill>
                  <a:srgbClr val="1A1208"/>
                </a:solidFill>
                <a:latin typeface="Calibri" pitchFamily="34" charset="0"/>
                <a:ea typeface="Calibri" pitchFamily="34" charset="-122"/>
                <a:cs typeface="Calibri" pitchFamily="34" charset="-120"/>
              </a:rPr>
              <a:t>a single platform under one brand</a:t>
            </a:r>
            <a:pPr indent="0" marL="0">
              <a:lnSpc>
                <a:spcPct val="140000"/>
              </a:lnSpc>
              <a:buNone/>
            </a:pPr>
            <a:r>
              <a:rPr lang="en-US" sz="2400" dirty="0">
                <a:solidFill>
                  <a:srgbClr val="4A3825"/>
                </a:solidFill>
                <a:latin typeface="Calibri" pitchFamily="34" charset="0"/>
                <a:ea typeface="Calibri" pitchFamily="34" charset="-122"/>
                <a:cs typeface="Calibri" pitchFamily="34" charset="-120"/>
              </a:rPr>
              <a:t>. Current run-rate: </a:t>
            </a:r>
            <a:pPr indent="0" marL="0">
              <a:lnSpc>
                <a:spcPct val="140000"/>
              </a:lnSpc>
              <a:buNone/>
            </a:pPr>
            <a:r>
              <a:rPr lang="en-US" sz="2400" b="1" dirty="0">
                <a:solidFill>
                  <a:srgbClr val="A87618"/>
                </a:solidFill>
                <a:latin typeface="Calibri" pitchFamily="34" charset="0"/>
                <a:ea typeface="Calibri" pitchFamily="34" charset="-122"/>
                <a:cs typeface="Calibri" pitchFamily="34" charset="-120"/>
              </a:rPr>
              <a:t>~$1.5M gross ARR</a:t>
            </a:r>
            <a:pPr indent="0" marL="0">
              <a:lnSpc>
                <a:spcPct val="140000"/>
              </a:lnSpc>
              <a:buNone/>
            </a:pPr>
            <a:r>
              <a:rPr lang="en-US" sz="2400" dirty="0">
                <a:solidFill>
                  <a:srgbClr val="4A3825"/>
                </a:solidFill>
                <a:latin typeface="Calibri" pitchFamily="34" charset="0"/>
                <a:ea typeface="Calibri" pitchFamily="34" charset="-122"/>
                <a:cs typeface="Calibri" pitchFamily="34" charset="-120"/>
              </a:rPr>
              <a:t>. Target exit: </a:t>
            </a:r>
            <a:pPr indent="0" marL="0">
              <a:lnSpc>
                <a:spcPct val="140000"/>
              </a:lnSpc>
              <a:buNone/>
            </a:pPr>
            <a:r>
              <a:rPr lang="en-US" sz="2400" b="1" dirty="0">
                <a:solidFill>
                  <a:srgbClr val="A87618"/>
                </a:solidFill>
                <a:latin typeface="Calibri" pitchFamily="34" charset="0"/>
                <a:ea typeface="Calibri" pitchFamily="34" charset="-122"/>
                <a:cs typeface="Calibri" pitchFamily="34" charset="-120"/>
              </a:rPr>
              <a:t>$80-120M in 4 years</a:t>
            </a:r>
            <a:pPr indent="0" marL="0">
              <a:lnSpc>
                <a:spcPct val="140000"/>
              </a:lnSpc>
              <a:buNone/>
            </a:pPr>
            <a:r>
              <a:rPr lang="en-US" sz="2400" dirty="0">
                <a:solidFill>
                  <a:srgbClr val="4A3825"/>
                </a:solidFill>
                <a:latin typeface="Calibri" pitchFamily="34" charset="0"/>
                <a:ea typeface="Calibri" pitchFamily="34" charset="-122"/>
                <a:cs typeface="Calibri" pitchFamily="34" charset="-120"/>
              </a:rPr>
              <a:t> via PE or strategic acquisition.</a:t>
            </a:r>
            <a:endParaRPr lang="en-US" sz="2400" dirty="0"/>
          </a:p>
        </p:txBody>
      </p:sp>
      <p:sp>
        <p:nvSpPr>
          <p:cNvPr id="4" name="Shape 2"/>
          <p:cNvSpPr/>
          <p:nvPr/>
        </p:nvSpPr>
        <p:spPr>
          <a:xfrm>
            <a:off x="548640" y="4754880"/>
            <a:ext cx="3566160" cy="1463040"/>
          </a:xfrm>
          <a:prstGeom prst="rect">
            <a:avLst/>
          </a:prstGeom>
          <a:solidFill>
            <a:srgbClr val="F8EFD7"/>
          </a:solidFill>
          <a:ln w="12700">
            <a:solidFill>
              <a:srgbClr val="D99C2B"/>
            </a:solidFill>
            <a:prstDash val="solid"/>
          </a:ln>
        </p:spPr>
      </p:sp>
      <p:sp>
        <p:nvSpPr>
          <p:cNvPr id="5" name="Text 3"/>
          <p:cNvSpPr/>
          <p:nvPr/>
        </p:nvSpPr>
        <p:spPr>
          <a:xfrm>
            <a:off x="822960" y="4937760"/>
            <a:ext cx="3200400" cy="274320"/>
          </a:xfrm>
          <a:prstGeom prst="rect">
            <a:avLst/>
          </a:prstGeom>
          <a:noFill/>
          <a:ln/>
        </p:spPr>
        <p:txBody>
          <a:bodyPr wrap="square" rtlCol="0" anchor="ctr"/>
          <a:lstStyle/>
          <a:p>
            <a:pPr indent="0" marL="0">
              <a:buNone/>
            </a:pPr>
            <a:r>
              <a:rPr lang="en-US" sz="1000" b="1" spc="300" kern="0" dirty="0">
                <a:solidFill>
                  <a:srgbClr val="A87618"/>
                </a:solidFill>
                <a:latin typeface="Calibri" pitchFamily="34" charset="0"/>
                <a:ea typeface="Calibri" pitchFamily="34" charset="-122"/>
                <a:cs typeface="Calibri" pitchFamily="34" charset="-120"/>
              </a:rPr>
              <a:t>WHAT</a:t>
            </a:r>
            <a:endParaRPr lang="en-US" sz="1000" dirty="0"/>
          </a:p>
        </p:txBody>
      </p:sp>
      <p:sp>
        <p:nvSpPr>
          <p:cNvPr id="6" name="Text 4"/>
          <p:cNvSpPr/>
          <p:nvPr/>
        </p:nvSpPr>
        <p:spPr>
          <a:xfrm>
            <a:off x="822960" y="5257800"/>
            <a:ext cx="3200400" cy="548640"/>
          </a:xfrm>
          <a:prstGeom prst="rect">
            <a:avLst/>
          </a:prstGeom>
          <a:noFill/>
          <a:ln/>
        </p:spPr>
        <p:txBody>
          <a:bodyPr wrap="square" rtlCol="0" anchor="ctr"/>
          <a:lstStyle/>
          <a:p>
            <a:pPr indent="0" marL="0">
              <a:buNone/>
            </a:pPr>
            <a:r>
              <a:rPr lang="en-US" sz="2200" b="1" dirty="0">
                <a:solidFill>
                  <a:srgbClr val="1A1208"/>
                </a:solidFill>
                <a:latin typeface="Georgia" pitchFamily="34" charset="0"/>
                <a:ea typeface="Georgia" pitchFamily="34" charset="-122"/>
                <a:cs typeface="Georgia" pitchFamily="34" charset="-120"/>
              </a:rPr>
              <a:t>7 shops, $1.5M ARR</a:t>
            </a:r>
            <a:endParaRPr lang="en-US" sz="2200" dirty="0"/>
          </a:p>
        </p:txBody>
      </p:sp>
      <p:sp>
        <p:nvSpPr>
          <p:cNvPr id="7" name="Text 5"/>
          <p:cNvSpPr/>
          <p:nvPr/>
        </p:nvSpPr>
        <p:spPr>
          <a:xfrm>
            <a:off x="822960" y="5806440"/>
            <a:ext cx="3200400" cy="274320"/>
          </a:xfrm>
          <a:prstGeom prst="rect">
            <a:avLst/>
          </a:prstGeom>
          <a:noFill/>
          <a:ln/>
        </p:spPr>
        <p:txBody>
          <a:bodyPr wrap="square" rtlCol="0" anchor="ctr"/>
          <a:lstStyle/>
          <a:p>
            <a:pPr indent="0" marL="0">
              <a:buNone/>
            </a:pPr>
            <a:r>
              <a:rPr lang="en-US" sz="1200" i="1" dirty="0">
                <a:solidFill>
                  <a:srgbClr val="8B6E3D"/>
                </a:solidFill>
                <a:latin typeface="Calibri" pitchFamily="34" charset="0"/>
                <a:ea typeface="Calibri" pitchFamily="34" charset="-122"/>
                <a:cs typeface="Calibri" pitchFamily="34" charset="-120"/>
              </a:rPr>
              <a:t>DFW · founder-led roll-up</a:t>
            </a:r>
            <a:endParaRPr lang="en-US" sz="1200" dirty="0"/>
          </a:p>
        </p:txBody>
      </p:sp>
      <p:sp>
        <p:nvSpPr>
          <p:cNvPr id="8" name="Shape 6"/>
          <p:cNvSpPr/>
          <p:nvPr/>
        </p:nvSpPr>
        <p:spPr>
          <a:xfrm>
            <a:off x="4297680" y="4754880"/>
            <a:ext cx="3566160" cy="1463040"/>
          </a:xfrm>
          <a:prstGeom prst="rect">
            <a:avLst/>
          </a:prstGeom>
          <a:solidFill>
            <a:srgbClr val="F8EFD7"/>
          </a:solidFill>
          <a:ln w="12700">
            <a:solidFill>
              <a:srgbClr val="D99C2B"/>
            </a:solidFill>
            <a:prstDash val="solid"/>
          </a:ln>
        </p:spPr>
      </p:sp>
      <p:sp>
        <p:nvSpPr>
          <p:cNvPr id="9" name="Text 7"/>
          <p:cNvSpPr/>
          <p:nvPr/>
        </p:nvSpPr>
        <p:spPr>
          <a:xfrm>
            <a:off x="4572000" y="4937760"/>
            <a:ext cx="3200400" cy="274320"/>
          </a:xfrm>
          <a:prstGeom prst="rect">
            <a:avLst/>
          </a:prstGeom>
          <a:noFill/>
          <a:ln/>
        </p:spPr>
        <p:txBody>
          <a:bodyPr wrap="square" rtlCol="0" anchor="ctr"/>
          <a:lstStyle/>
          <a:p>
            <a:pPr indent="0" marL="0">
              <a:buNone/>
            </a:pPr>
            <a:r>
              <a:rPr lang="en-US" sz="1000" b="1" spc="300" kern="0" dirty="0">
                <a:solidFill>
                  <a:srgbClr val="A87618"/>
                </a:solidFill>
                <a:latin typeface="Calibri" pitchFamily="34" charset="0"/>
                <a:ea typeface="Calibri" pitchFamily="34" charset="-122"/>
                <a:cs typeface="Calibri" pitchFamily="34" charset="-120"/>
              </a:rPr>
              <a:t>WHEN</a:t>
            </a:r>
            <a:endParaRPr lang="en-US" sz="1000" dirty="0"/>
          </a:p>
        </p:txBody>
      </p:sp>
      <p:sp>
        <p:nvSpPr>
          <p:cNvPr id="10" name="Text 8"/>
          <p:cNvSpPr/>
          <p:nvPr/>
        </p:nvSpPr>
        <p:spPr>
          <a:xfrm>
            <a:off x="4572000" y="5257800"/>
            <a:ext cx="3200400" cy="548640"/>
          </a:xfrm>
          <a:prstGeom prst="rect">
            <a:avLst/>
          </a:prstGeom>
          <a:noFill/>
          <a:ln/>
        </p:spPr>
        <p:txBody>
          <a:bodyPr wrap="square" rtlCol="0" anchor="ctr"/>
          <a:lstStyle/>
          <a:p>
            <a:pPr indent="0" marL="0">
              <a:buNone/>
            </a:pPr>
            <a:r>
              <a:rPr lang="en-US" sz="2200" b="1" dirty="0">
                <a:solidFill>
                  <a:srgbClr val="1A1208"/>
                </a:solidFill>
                <a:latin typeface="Georgia" pitchFamily="34" charset="0"/>
                <a:ea typeface="Georgia" pitchFamily="34" charset="-122"/>
                <a:cs typeface="Georgia" pitchFamily="34" charset="-120"/>
              </a:rPr>
              <a:t>4 yrs to exit</a:t>
            </a:r>
            <a:endParaRPr lang="en-US" sz="2200" dirty="0"/>
          </a:p>
        </p:txBody>
      </p:sp>
      <p:sp>
        <p:nvSpPr>
          <p:cNvPr id="11" name="Text 9"/>
          <p:cNvSpPr/>
          <p:nvPr/>
        </p:nvSpPr>
        <p:spPr>
          <a:xfrm>
            <a:off x="4572000" y="5806440"/>
            <a:ext cx="3200400" cy="274320"/>
          </a:xfrm>
          <a:prstGeom prst="rect">
            <a:avLst/>
          </a:prstGeom>
          <a:noFill/>
          <a:ln/>
        </p:spPr>
        <p:txBody>
          <a:bodyPr wrap="square" rtlCol="0" anchor="ctr"/>
          <a:lstStyle/>
          <a:p>
            <a:pPr indent="0" marL="0">
              <a:buNone/>
            </a:pPr>
            <a:r>
              <a:rPr lang="en-US" sz="1200" i="1" dirty="0">
                <a:solidFill>
                  <a:srgbClr val="8B6E3D"/>
                </a:solidFill>
                <a:latin typeface="Calibri" pitchFamily="34" charset="0"/>
                <a:ea typeface="Calibri" pitchFamily="34" charset="-122"/>
                <a:cs typeface="Calibri" pitchFamily="34" charset="-120"/>
              </a:rPr>
              <a:t>PE / strategic at $80-120M</a:t>
            </a:r>
            <a:endParaRPr lang="en-US" sz="1200" dirty="0"/>
          </a:p>
        </p:txBody>
      </p:sp>
      <p:sp>
        <p:nvSpPr>
          <p:cNvPr id="12" name="Shape 10"/>
          <p:cNvSpPr/>
          <p:nvPr/>
        </p:nvSpPr>
        <p:spPr>
          <a:xfrm>
            <a:off x="8046720" y="4754880"/>
            <a:ext cx="3566160" cy="1463040"/>
          </a:xfrm>
          <a:prstGeom prst="rect">
            <a:avLst/>
          </a:prstGeom>
          <a:solidFill>
            <a:srgbClr val="F8EFD7"/>
          </a:solidFill>
          <a:ln w="12700">
            <a:solidFill>
              <a:srgbClr val="D99C2B"/>
            </a:solidFill>
            <a:prstDash val="solid"/>
          </a:ln>
        </p:spPr>
      </p:sp>
      <p:sp>
        <p:nvSpPr>
          <p:cNvPr id="13" name="Text 11"/>
          <p:cNvSpPr/>
          <p:nvPr/>
        </p:nvSpPr>
        <p:spPr>
          <a:xfrm>
            <a:off x="8321040" y="4937760"/>
            <a:ext cx="3200400" cy="274320"/>
          </a:xfrm>
          <a:prstGeom prst="rect">
            <a:avLst/>
          </a:prstGeom>
          <a:noFill/>
          <a:ln/>
        </p:spPr>
        <p:txBody>
          <a:bodyPr wrap="square" rtlCol="0" anchor="ctr"/>
          <a:lstStyle/>
          <a:p>
            <a:pPr indent="0" marL="0">
              <a:buNone/>
            </a:pPr>
            <a:r>
              <a:rPr lang="en-US" sz="1000" b="1" spc="300" kern="0" dirty="0">
                <a:solidFill>
                  <a:srgbClr val="A87618"/>
                </a:solidFill>
                <a:latin typeface="Calibri" pitchFamily="34" charset="0"/>
                <a:ea typeface="Calibri" pitchFamily="34" charset="-122"/>
                <a:cs typeface="Calibri" pitchFamily="34" charset="-120"/>
              </a:rPr>
              <a:t>WHY NOW</a:t>
            </a:r>
            <a:endParaRPr lang="en-US" sz="1000" dirty="0"/>
          </a:p>
        </p:txBody>
      </p:sp>
      <p:sp>
        <p:nvSpPr>
          <p:cNvPr id="14" name="Text 12"/>
          <p:cNvSpPr/>
          <p:nvPr/>
        </p:nvSpPr>
        <p:spPr>
          <a:xfrm>
            <a:off x="8321040" y="5257800"/>
            <a:ext cx="3200400" cy="548640"/>
          </a:xfrm>
          <a:prstGeom prst="rect">
            <a:avLst/>
          </a:prstGeom>
          <a:noFill/>
          <a:ln/>
        </p:spPr>
        <p:txBody>
          <a:bodyPr wrap="square" rtlCol="0" anchor="ctr"/>
          <a:lstStyle/>
          <a:p>
            <a:pPr indent="0" marL="0">
              <a:buNone/>
            </a:pPr>
            <a:r>
              <a:rPr lang="en-US" sz="2200" b="1" dirty="0">
                <a:solidFill>
                  <a:srgbClr val="1A1208"/>
                </a:solidFill>
                <a:latin typeface="Georgia" pitchFamily="34" charset="0"/>
                <a:ea typeface="Georgia" pitchFamily="34" charset="-122"/>
                <a:cs typeface="Georgia" pitchFamily="34" charset="-120"/>
              </a:rPr>
              <a:t>$300K SAFE</a:t>
            </a:r>
            <a:endParaRPr lang="en-US" sz="2200" dirty="0"/>
          </a:p>
        </p:txBody>
      </p:sp>
      <p:sp>
        <p:nvSpPr>
          <p:cNvPr id="15" name="Text 13"/>
          <p:cNvSpPr/>
          <p:nvPr/>
        </p:nvSpPr>
        <p:spPr>
          <a:xfrm>
            <a:off x="8321040" y="5806440"/>
            <a:ext cx="3200400" cy="274320"/>
          </a:xfrm>
          <a:prstGeom prst="rect">
            <a:avLst/>
          </a:prstGeom>
          <a:noFill/>
          <a:ln/>
        </p:spPr>
        <p:txBody>
          <a:bodyPr wrap="square" rtlCol="0" anchor="ctr"/>
          <a:lstStyle/>
          <a:p>
            <a:pPr indent="0" marL="0">
              <a:buNone/>
            </a:pPr>
            <a:r>
              <a:rPr lang="en-US" sz="1200" i="1" dirty="0">
                <a:solidFill>
                  <a:srgbClr val="8B6E3D"/>
                </a:solidFill>
                <a:latin typeface="Calibri" pitchFamily="34" charset="0"/>
                <a:ea typeface="Calibri" pitchFamily="34" charset="-122"/>
                <a:cs typeface="Calibri" pitchFamily="34" charset="-120"/>
              </a:rPr>
              <a:t>$2M cap · 20% discount · MFN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Where we are today</a:t>
            </a:r>
            <a:endParaRPr lang="en-US" sz="3200" dirty="0"/>
          </a:p>
        </p:txBody>
      </p:sp>
      <p:sp>
        <p:nvSpPr>
          <p:cNvPr id="3" name="Text 1"/>
          <p:cNvSpPr/>
          <p:nvPr/>
        </p:nvSpPr>
        <p:spPr>
          <a:xfrm>
            <a:off x="548640" y="100584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Seven shops, four founder-funded, three LP-funded. Eight months of acquisitions, all turned around.</a:t>
            </a:r>
            <a:endParaRPr lang="en-US" sz="1400" dirty="0"/>
          </a:p>
        </p:txBody>
      </p:sp>
      <p:sp>
        <p:nvSpPr>
          <p:cNvPr id="4" name="Text 2"/>
          <p:cNvSpPr/>
          <p:nvPr/>
        </p:nvSpPr>
        <p:spPr>
          <a:xfrm>
            <a:off x="548640" y="1554480"/>
            <a:ext cx="2606040" cy="274320"/>
          </a:xfrm>
          <a:prstGeom prst="rect">
            <a:avLst/>
          </a:prstGeom>
          <a:noFill/>
          <a:ln/>
        </p:spPr>
        <p:txBody>
          <a:bodyPr wrap="square" rtlCol="0" anchor="ctr"/>
          <a:lstStyle/>
          <a:p>
            <a:pPr indent="0" marL="0">
              <a:buNone/>
            </a:pPr>
            <a:r>
              <a:rPr lang="en-US" sz="1000" b="1" spc="300" kern="0" dirty="0">
                <a:solidFill>
                  <a:srgbClr val="8B6E3D"/>
                </a:solidFill>
                <a:latin typeface="Calibri" pitchFamily="34" charset="0"/>
                <a:ea typeface="Calibri" pitchFamily="34" charset="-122"/>
                <a:cs typeface="Calibri" pitchFamily="34" charset="-120"/>
              </a:rPr>
              <a:t>STORES</a:t>
            </a:r>
            <a:endParaRPr lang="en-US" sz="1000" dirty="0"/>
          </a:p>
        </p:txBody>
      </p:sp>
      <p:sp>
        <p:nvSpPr>
          <p:cNvPr id="5" name="Text 3"/>
          <p:cNvSpPr/>
          <p:nvPr/>
        </p:nvSpPr>
        <p:spPr>
          <a:xfrm>
            <a:off x="548640" y="1828800"/>
            <a:ext cx="2606040" cy="640080"/>
          </a:xfrm>
          <a:prstGeom prst="rect">
            <a:avLst/>
          </a:prstGeom>
          <a:noFill/>
          <a:ln/>
        </p:spPr>
        <p:txBody>
          <a:bodyPr wrap="square" rtlCol="0" anchor="ctr"/>
          <a:lstStyle/>
          <a:p>
            <a:pPr indent="0" marL="0">
              <a:buNone/>
            </a:pPr>
            <a:r>
              <a:rPr lang="en-US" sz="3800" b="1" dirty="0">
                <a:solidFill>
                  <a:srgbClr val="A87618"/>
                </a:solidFill>
                <a:latin typeface="Georgia" pitchFamily="34" charset="0"/>
                <a:ea typeface="Georgia" pitchFamily="34" charset="-122"/>
                <a:cs typeface="Georgia" pitchFamily="34" charset="-120"/>
              </a:rPr>
              <a:t>7</a:t>
            </a:r>
            <a:endParaRPr lang="en-US" sz="3800" dirty="0"/>
          </a:p>
        </p:txBody>
      </p:sp>
      <p:sp>
        <p:nvSpPr>
          <p:cNvPr id="6" name="Text 4"/>
          <p:cNvSpPr/>
          <p:nvPr/>
        </p:nvSpPr>
        <p:spPr>
          <a:xfrm>
            <a:off x="548640" y="2560320"/>
            <a:ext cx="2606040" cy="274320"/>
          </a:xfrm>
          <a:prstGeom prst="rect">
            <a:avLst/>
          </a:prstGeom>
          <a:noFill/>
          <a:ln/>
        </p:spPr>
        <p:txBody>
          <a:bodyPr wrap="square" rtlCol="0" anchor="ctr"/>
          <a:lstStyle/>
          <a:p>
            <a:pPr indent="0" marL="0">
              <a:buNone/>
            </a:pPr>
            <a:r>
              <a:rPr lang="en-US" sz="1100" dirty="0">
                <a:solidFill>
                  <a:srgbClr val="4A3825"/>
                </a:solidFill>
                <a:latin typeface="Calibri" pitchFamily="34" charset="0"/>
                <a:ea typeface="Calibri" pitchFamily="34" charset="-122"/>
                <a:cs typeface="Calibri" pitchFamily="34" charset="-120"/>
              </a:rPr>
              <a:t>in 8 months</a:t>
            </a:r>
            <a:endParaRPr lang="en-US" sz="1100" dirty="0"/>
          </a:p>
        </p:txBody>
      </p:sp>
      <p:sp>
        <p:nvSpPr>
          <p:cNvPr id="7" name="Text 5"/>
          <p:cNvSpPr/>
          <p:nvPr/>
        </p:nvSpPr>
        <p:spPr>
          <a:xfrm>
            <a:off x="3337560" y="1554480"/>
            <a:ext cx="2606040" cy="274320"/>
          </a:xfrm>
          <a:prstGeom prst="rect">
            <a:avLst/>
          </a:prstGeom>
          <a:noFill/>
          <a:ln/>
        </p:spPr>
        <p:txBody>
          <a:bodyPr wrap="square" rtlCol="0" anchor="ctr"/>
          <a:lstStyle/>
          <a:p>
            <a:pPr indent="0" marL="0">
              <a:buNone/>
            </a:pPr>
            <a:r>
              <a:rPr lang="en-US" sz="1000" b="1" spc="300" kern="0" dirty="0">
                <a:solidFill>
                  <a:srgbClr val="8B6E3D"/>
                </a:solidFill>
                <a:latin typeface="Calibri" pitchFamily="34" charset="0"/>
                <a:ea typeface="Calibri" pitchFamily="34" charset="-122"/>
                <a:cs typeface="Calibri" pitchFamily="34" charset="-120"/>
              </a:rPr>
              <a:t>GROSS ARR</a:t>
            </a:r>
            <a:endParaRPr lang="en-US" sz="1000" dirty="0"/>
          </a:p>
        </p:txBody>
      </p:sp>
      <p:sp>
        <p:nvSpPr>
          <p:cNvPr id="8" name="Text 6"/>
          <p:cNvSpPr/>
          <p:nvPr/>
        </p:nvSpPr>
        <p:spPr>
          <a:xfrm>
            <a:off x="3337560" y="1828800"/>
            <a:ext cx="2606040" cy="640080"/>
          </a:xfrm>
          <a:prstGeom prst="rect">
            <a:avLst/>
          </a:prstGeom>
          <a:noFill/>
          <a:ln/>
        </p:spPr>
        <p:txBody>
          <a:bodyPr wrap="square" rtlCol="0" anchor="ctr"/>
          <a:lstStyle/>
          <a:p>
            <a:pPr indent="0" marL="0">
              <a:buNone/>
            </a:pPr>
            <a:r>
              <a:rPr lang="en-US" sz="3800" b="1" dirty="0">
                <a:solidFill>
                  <a:srgbClr val="A87618"/>
                </a:solidFill>
                <a:latin typeface="Georgia" pitchFamily="34" charset="0"/>
                <a:ea typeface="Georgia" pitchFamily="34" charset="-122"/>
                <a:cs typeface="Georgia" pitchFamily="34" charset="-120"/>
              </a:rPr>
              <a:t>~$1.5M</a:t>
            </a:r>
            <a:endParaRPr lang="en-US" sz="3800" dirty="0"/>
          </a:p>
        </p:txBody>
      </p:sp>
      <p:sp>
        <p:nvSpPr>
          <p:cNvPr id="9" name="Text 7"/>
          <p:cNvSpPr/>
          <p:nvPr/>
        </p:nvSpPr>
        <p:spPr>
          <a:xfrm>
            <a:off x="3337560" y="2560320"/>
            <a:ext cx="2606040" cy="274320"/>
          </a:xfrm>
          <a:prstGeom prst="rect">
            <a:avLst/>
          </a:prstGeom>
          <a:noFill/>
          <a:ln/>
        </p:spPr>
        <p:txBody>
          <a:bodyPr wrap="square" rtlCol="0" anchor="ctr"/>
          <a:lstStyle/>
          <a:p>
            <a:pPr indent="0" marL="0">
              <a:buNone/>
            </a:pPr>
            <a:r>
              <a:rPr lang="en-US" sz="1100" dirty="0">
                <a:solidFill>
                  <a:srgbClr val="4A3825"/>
                </a:solidFill>
                <a:latin typeface="Calibri" pitchFamily="34" charset="0"/>
                <a:ea typeface="Calibri" pitchFamily="34" charset="-122"/>
                <a:cs typeface="Calibri" pitchFamily="34" charset="-120"/>
              </a:rPr>
              <a:t>$126K/mo · pre-merchant-fees</a:t>
            </a:r>
            <a:endParaRPr lang="en-US" sz="1100" dirty="0"/>
          </a:p>
        </p:txBody>
      </p:sp>
      <p:sp>
        <p:nvSpPr>
          <p:cNvPr id="10" name="Text 8"/>
          <p:cNvSpPr/>
          <p:nvPr/>
        </p:nvSpPr>
        <p:spPr>
          <a:xfrm>
            <a:off x="6126480" y="1554480"/>
            <a:ext cx="2606040" cy="274320"/>
          </a:xfrm>
          <a:prstGeom prst="rect">
            <a:avLst/>
          </a:prstGeom>
          <a:noFill/>
          <a:ln/>
        </p:spPr>
        <p:txBody>
          <a:bodyPr wrap="square" rtlCol="0" anchor="ctr"/>
          <a:lstStyle/>
          <a:p>
            <a:pPr indent="0" marL="0">
              <a:buNone/>
            </a:pPr>
            <a:r>
              <a:rPr lang="en-US" sz="1000" b="1" spc="300" kern="0" dirty="0">
                <a:solidFill>
                  <a:srgbClr val="8B6E3D"/>
                </a:solidFill>
                <a:latin typeface="Calibri" pitchFamily="34" charset="0"/>
                <a:ea typeface="Calibri" pitchFamily="34" charset="-122"/>
                <a:cs typeface="Calibri" pitchFamily="34" charset="-120"/>
              </a:rPr>
              <a:t>AGGREGATE VALUE</a:t>
            </a:r>
            <a:endParaRPr lang="en-US" sz="1000" dirty="0"/>
          </a:p>
        </p:txBody>
      </p:sp>
      <p:sp>
        <p:nvSpPr>
          <p:cNvPr id="11" name="Text 9"/>
          <p:cNvSpPr/>
          <p:nvPr/>
        </p:nvSpPr>
        <p:spPr>
          <a:xfrm>
            <a:off x="6126480" y="1828800"/>
            <a:ext cx="2606040" cy="640080"/>
          </a:xfrm>
          <a:prstGeom prst="rect">
            <a:avLst/>
          </a:prstGeom>
          <a:noFill/>
          <a:ln/>
        </p:spPr>
        <p:txBody>
          <a:bodyPr wrap="square" rtlCol="0" anchor="ctr"/>
          <a:lstStyle/>
          <a:p>
            <a:pPr indent="0" marL="0">
              <a:buNone/>
            </a:pPr>
            <a:r>
              <a:rPr lang="en-US" sz="3800" b="1" dirty="0">
                <a:solidFill>
                  <a:srgbClr val="A87618"/>
                </a:solidFill>
                <a:latin typeface="Georgia" pitchFamily="34" charset="0"/>
                <a:ea typeface="Georgia" pitchFamily="34" charset="-122"/>
                <a:cs typeface="Georgia" pitchFamily="34" charset="-120"/>
              </a:rPr>
              <a:t>$1.20M</a:t>
            </a:r>
            <a:endParaRPr lang="en-US" sz="3800" dirty="0"/>
          </a:p>
        </p:txBody>
      </p:sp>
      <p:sp>
        <p:nvSpPr>
          <p:cNvPr id="12" name="Text 10"/>
          <p:cNvSpPr/>
          <p:nvPr/>
        </p:nvSpPr>
        <p:spPr>
          <a:xfrm>
            <a:off x="6126480" y="2560320"/>
            <a:ext cx="2606040" cy="274320"/>
          </a:xfrm>
          <a:prstGeom prst="rect">
            <a:avLst/>
          </a:prstGeom>
          <a:noFill/>
          <a:ln/>
        </p:spPr>
        <p:txBody>
          <a:bodyPr wrap="square" rtlCol="0" anchor="ctr"/>
          <a:lstStyle/>
          <a:p>
            <a:pPr indent="0" marL="0">
              <a:buNone/>
            </a:pPr>
            <a:r>
              <a:rPr lang="en-US" sz="1100" dirty="0">
                <a:solidFill>
                  <a:srgbClr val="4A3825"/>
                </a:solidFill>
                <a:latin typeface="Calibri" pitchFamily="34" charset="0"/>
                <a:ea typeface="Calibri" pitchFamily="34" charset="-122"/>
                <a:cs typeface="Calibri" pitchFamily="34" charset="-120"/>
              </a:rPr>
              <a:t>conservative @ 0.9× rev</a:t>
            </a:r>
            <a:endParaRPr lang="en-US" sz="1100" dirty="0"/>
          </a:p>
        </p:txBody>
      </p:sp>
      <p:sp>
        <p:nvSpPr>
          <p:cNvPr id="13" name="Text 11"/>
          <p:cNvSpPr/>
          <p:nvPr/>
        </p:nvSpPr>
        <p:spPr>
          <a:xfrm>
            <a:off x="8915400" y="1554480"/>
            <a:ext cx="2606040" cy="274320"/>
          </a:xfrm>
          <a:prstGeom prst="rect">
            <a:avLst/>
          </a:prstGeom>
          <a:noFill/>
          <a:ln/>
        </p:spPr>
        <p:txBody>
          <a:bodyPr wrap="square" rtlCol="0" anchor="ctr"/>
          <a:lstStyle/>
          <a:p>
            <a:pPr indent="0" marL="0">
              <a:buNone/>
            </a:pPr>
            <a:r>
              <a:rPr lang="en-US" sz="1000" b="1" spc="300" kern="0" dirty="0">
                <a:solidFill>
                  <a:srgbClr val="8B6E3D"/>
                </a:solidFill>
                <a:latin typeface="Calibri" pitchFamily="34" charset="0"/>
                <a:ea typeface="Calibri" pitchFamily="34" charset="-122"/>
                <a:cs typeface="Calibri" pitchFamily="34" charset="-120"/>
              </a:rPr>
              <a:t>ACTIVE LPs</a:t>
            </a:r>
            <a:endParaRPr lang="en-US" sz="1000" dirty="0"/>
          </a:p>
        </p:txBody>
      </p:sp>
      <p:sp>
        <p:nvSpPr>
          <p:cNvPr id="14" name="Text 12"/>
          <p:cNvSpPr/>
          <p:nvPr/>
        </p:nvSpPr>
        <p:spPr>
          <a:xfrm>
            <a:off x="8915400" y="1828800"/>
            <a:ext cx="2606040" cy="640080"/>
          </a:xfrm>
          <a:prstGeom prst="rect">
            <a:avLst/>
          </a:prstGeom>
          <a:noFill/>
          <a:ln/>
        </p:spPr>
        <p:txBody>
          <a:bodyPr wrap="square" rtlCol="0" anchor="ctr"/>
          <a:lstStyle/>
          <a:p>
            <a:pPr indent="0" marL="0">
              <a:buNone/>
            </a:pPr>
            <a:r>
              <a:rPr lang="en-US" sz="3800" b="1" dirty="0">
                <a:solidFill>
                  <a:srgbClr val="A87618"/>
                </a:solidFill>
                <a:latin typeface="Georgia" pitchFamily="34" charset="0"/>
                <a:ea typeface="Georgia" pitchFamily="34" charset="-122"/>
                <a:cs typeface="Georgia" pitchFamily="34" charset="-120"/>
              </a:rPr>
              <a:t>14</a:t>
            </a:r>
            <a:endParaRPr lang="en-US" sz="3800" dirty="0"/>
          </a:p>
        </p:txBody>
      </p:sp>
      <p:sp>
        <p:nvSpPr>
          <p:cNvPr id="15" name="Text 13"/>
          <p:cNvSpPr/>
          <p:nvPr/>
        </p:nvSpPr>
        <p:spPr>
          <a:xfrm>
            <a:off x="8915400" y="2560320"/>
            <a:ext cx="2606040" cy="274320"/>
          </a:xfrm>
          <a:prstGeom prst="rect">
            <a:avLst/>
          </a:prstGeom>
          <a:noFill/>
          <a:ln/>
        </p:spPr>
        <p:txBody>
          <a:bodyPr wrap="square" rtlCol="0" anchor="ctr"/>
          <a:lstStyle/>
          <a:p>
            <a:pPr indent="0" marL="0">
              <a:buNone/>
            </a:pPr>
            <a:r>
              <a:rPr lang="en-US" sz="1100" dirty="0">
                <a:solidFill>
                  <a:srgbClr val="4A3825"/>
                </a:solidFill>
                <a:latin typeface="Calibri" pitchFamily="34" charset="0"/>
                <a:ea typeface="Calibri" pitchFamily="34" charset="-122"/>
                <a:cs typeface="Calibri" pitchFamily="34" charset="-120"/>
              </a:rPr>
              <a:t>$380K cash deployed</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11064240" cy="3200400"/>
        </p:xfrm>
        <a:graphic>
          <a:graphicData uri="http://schemas.openxmlformats.org/drawingml/2006/table">
            <a:tbl>
              <a:tblPr/>
              <a:tblGrid>
                <a:gridCol w="1844040"/>
                <a:gridCol w="1844040"/>
                <a:gridCol w="1844040"/>
                <a:gridCol w="1844040"/>
                <a:gridCol w="1844040"/>
                <a:gridCol w="1844040"/>
              </a:tblGrid>
              <a:tr h="40005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Shop</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Acquired</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MRR start</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MRR now</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Funding</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Valuation</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r>
              <a:tr h="400050">
                <a:tc>
                  <a:txBody>
                    <a:bodyPr/>
                    <a:lstStyle/>
                    <a:p>
                      <a:pPr algn="l" indent="0" marL="0">
                        <a:buNone/>
                      </a:pPr>
                      <a:r>
                        <a:rPr lang="en-US" sz="1100" b="1" dirty="0">
                          <a:solidFill>
                            <a:srgbClr val="4A3825"/>
                          </a:solidFill>
                          <a:latin typeface="Calibri" pitchFamily="34" charset="0"/>
                          <a:ea typeface="Calibri" pitchFamily="34" charset="-122"/>
                          <a:cs typeface="Calibri" pitchFamily="34" charset="-120"/>
                        </a:rPr>
                        <a:t>Arlington</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Sep 2025</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$18K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$30K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8 LPs × $25K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b="1" dirty="0">
                          <a:solidFill>
                            <a:srgbClr val="A87618"/>
                          </a:solidFill>
                          <a:latin typeface="Calibri" pitchFamily="34" charset="0"/>
                          <a:ea typeface="Calibri" pitchFamily="34" charset="-122"/>
                          <a:cs typeface="Calibri" pitchFamily="34" charset="-120"/>
                        </a:rPr>
                        <a:t>$330K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r>
              <a:tr h="400050">
                <a:tc>
                  <a:txBody>
                    <a:bodyPr/>
                    <a:lstStyle/>
                    <a:p>
                      <a:pPr algn="l" indent="0" marL="0">
                        <a:buNone/>
                      </a:pPr>
                      <a:r>
                        <a:rPr lang="en-US" sz="1100" b="1" dirty="0">
                          <a:solidFill>
                            <a:srgbClr val="4A3825"/>
                          </a:solidFill>
                          <a:latin typeface="Calibri" pitchFamily="34" charset="0"/>
                          <a:ea typeface="Calibri" pitchFamily="34" charset="-122"/>
                          <a:cs typeface="Calibri" pitchFamily="34" charset="-120"/>
                        </a:rPr>
                        <a:t>NRH (Rufe Snow)</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Sep 2025</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$3K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$11K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joint w/ Arl</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A87618"/>
                          </a:solidFill>
                          <a:latin typeface="Calibri" pitchFamily="34" charset="0"/>
                          <a:ea typeface="Calibri" pitchFamily="34" charset="-122"/>
                          <a:cs typeface="Calibri" pitchFamily="34" charset="-120"/>
                        </a:rPr>
                        <a:t>$110K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r>
              <a:tr h="400050">
                <a:tc>
                  <a:txBody>
                    <a:bodyPr/>
                    <a:lstStyle/>
                    <a:p>
                      <a:pPr algn="l" indent="0" marL="0">
                        <a:buNone/>
                      </a:pPr>
                      <a:r>
                        <a:rPr lang="en-US" sz="1100" b="1" dirty="0">
                          <a:solidFill>
                            <a:srgbClr val="4A3825"/>
                          </a:solidFill>
                          <a:latin typeface="Calibri" pitchFamily="34" charset="0"/>
                          <a:ea typeface="Calibri" pitchFamily="34" charset="-122"/>
                          <a:cs typeface="Calibri" pitchFamily="34" charset="-120"/>
                        </a:rPr>
                        <a:t>Fort Worth</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Oct 2025</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$17K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$22.5K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4 LPs × $30K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b="1" dirty="0">
                          <a:solidFill>
                            <a:srgbClr val="A87618"/>
                          </a:solidFill>
                          <a:latin typeface="Calibri" pitchFamily="34" charset="0"/>
                          <a:ea typeface="Calibri" pitchFamily="34" charset="-122"/>
                          <a:cs typeface="Calibri" pitchFamily="34" charset="-120"/>
                        </a:rPr>
                        <a:t>$230K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r>
              <a:tr h="400050">
                <a:tc>
                  <a:txBody>
                    <a:bodyPr/>
                    <a:lstStyle/>
                    <a:p>
                      <a:pPr algn="l" indent="0" marL="0">
                        <a:buNone/>
                      </a:pPr>
                      <a:r>
                        <a:rPr lang="en-US" sz="1100" b="1" dirty="0">
                          <a:solidFill>
                            <a:srgbClr val="4A3825"/>
                          </a:solidFill>
                          <a:latin typeface="Calibri" pitchFamily="34" charset="0"/>
                          <a:ea typeface="Calibri" pitchFamily="34" charset="-122"/>
                          <a:cs typeface="Calibri" pitchFamily="34" charset="-120"/>
                        </a:rPr>
                        <a:t>Grapevine</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Nov 2025</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$12K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$18K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2 of 4 LPs</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A87618"/>
                          </a:solidFill>
                          <a:latin typeface="Calibri" pitchFamily="34" charset="0"/>
                          <a:ea typeface="Calibri" pitchFamily="34" charset="-122"/>
                          <a:cs typeface="Calibri" pitchFamily="34" charset="-120"/>
                        </a:rPr>
                        <a:t>$190K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r>
              <a:tr h="400050">
                <a:tc>
                  <a:txBody>
                    <a:bodyPr/>
                    <a:lstStyle/>
                    <a:p>
                      <a:pPr algn="l" indent="0" marL="0">
                        <a:buNone/>
                      </a:pPr>
                      <a:r>
                        <a:rPr lang="en-US" sz="1100" b="1" dirty="0">
                          <a:solidFill>
                            <a:srgbClr val="4A3825"/>
                          </a:solidFill>
                          <a:latin typeface="Calibri" pitchFamily="34" charset="0"/>
                          <a:ea typeface="Calibri" pitchFamily="34" charset="-122"/>
                          <a:cs typeface="Calibri" pitchFamily="34" charset="-120"/>
                        </a:rPr>
                        <a:t>Carrollton</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Feb 2026</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$10K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founder-funded</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b="1" dirty="0">
                          <a:solidFill>
                            <a:srgbClr val="A87618"/>
                          </a:solidFill>
                          <a:latin typeface="Calibri" pitchFamily="34" charset="0"/>
                          <a:ea typeface="Calibri" pitchFamily="34" charset="-122"/>
                          <a:cs typeface="Calibri" pitchFamily="34" charset="-120"/>
                        </a:rPr>
                        <a:t>$140K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r>
              <a:tr h="400050">
                <a:tc>
                  <a:txBody>
                    <a:bodyPr/>
                    <a:lstStyle/>
                    <a:p>
                      <a:pPr algn="l" indent="0" marL="0">
                        <a:buNone/>
                      </a:pPr>
                      <a:r>
                        <a:rPr lang="en-US" sz="1100" b="1" dirty="0">
                          <a:solidFill>
                            <a:srgbClr val="4A3825"/>
                          </a:solidFill>
                          <a:latin typeface="Calibri" pitchFamily="34" charset="0"/>
                          <a:ea typeface="Calibri" pitchFamily="34" charset="-122"/>
                          <a:cs typeface="Calibri" pitchFamily="34" charset="-120"/>
                        </a:rPr>
                        <a:t>Dallas (Frankford)</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Feb 2026</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$10K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founder-funded</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A87618"/>
                          </a:solidFill>
                          <a:latin typeface="Calibri" pitchFamily="34" charset="0"/>
                          <a:ea typeface="Calibri" pitchFamily="34" charset="-122"/>
                          <a:cs typeface="Calibri" pitchFamily="34" charset="-120"/>
                        </a:rPr>
                        <a:t>$120K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r>
              <a:tr h="400050">
                <a:tc>
                  <a:txBody>
                    <a:bodyPr/>
                    <a:lstStyle/>
                    <a:p>
                      <a:pPr algn="l" indent="0" marL="0">
                        <a:buNone/>
                      </a:pPr>
                      <a:r>
                        <a:rPr lang="en-US" sz="1100" b="1" dirty="0">
                          <a:solidFill>
                            <a:srgbClr val="4A3825"/>
                          </a:solidFill>
                          <a:latin typeface="Calibri" pitchFamily="34" charset="0"/>
                          <a:ea typeface="Calibri" pitchFamily="34" charset="-122"/>
                          <a:cs typeface="Calibri" pitchFamily="34" charset="-120"/>
                        </a:rPr>
                        <a:t>Bluemound</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Apr 2026</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dirty="0">
                          <a:solidFill>
                            <a:srgbClr val="4A3825"/>
                          </a:solidFill>
                          <a:latin typeface="Calibri" pitchFamily="34" charset="0"/>
                          <a:ea typeface="Calibri" pitchFamily="34" charset="-122"/>
                          <a:cs typeface="Calibri" pitchFamily="34" charset="-120"/>
                        </a:rPr>
                        <a:t>$8K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l" indent="0" marL="0">
                        <a:buNone/>
                      </a:pPr>
                      <a:r>
                        <a:rPr lang="en-US" sz="1100" dirty="0">
                          <a:solidFill>
                            <a:srgbClr val="4A3825"/>
                          </a:solidFill>
                          <a:latin typeface="Calibri" pitchFamily="34" charset="0"/>
                          <a:ea typeface="Calibri" pitchFamily="34" charset="-122"/>
                          <a:cs typeface="Calibri" pitchFamily="34" charset="-120"/>
                        </a:rPr>
                        <a:t>founder-funded</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r" indent="0" marL="0">
                        <a:buNone/>
                      </a:pPr>
                      <a:r>
                        <a:rPr lang="en-US" sz="1100" b="1" dirty="0">
                          <a:solidFill>
                            <a:srgbClr val="A87618"/>
                          </a:solidFill>
                          <a:latin typeface="Calibri" pitchFamily="34" charset="0"/>
                          <a:ea typeface="Calibri" pitchFamily="34" charset="-122"/>
                          <a:cs typeface="Calibri" pitchFamily="34" charset="-120"/>
                        </a:rPr>
                        <a:t>$80K</a:t>
                      </a:r>
                      <a:endParaRPr lang="en-US" sz="11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A"/>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The turnaround playbook</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How we lift a tired donut shop from $3K MRR to $11K MRR in 90 days.</a:t>
            </a:r>
            <a:endParaRPr lang="en-US" sz="1400" dirty="0"/>
          </a:p>
        </p:txBody>
      </p:sp>
      <p:sp>
        <p:nvSpPr>
          <p:cNvPr id="4" name="Shape 2"/>
          <p:cNvSpPr/>
          <p:nvPr/>
        </p:nvSpPr>
        <p:spPr>
          <a:xfrm>
            <a:off x="548640" y="1645920"/>
            <a:ext cx="731520" cy="731520"/>
          </a:xfrm>
          <a:prstGeom prst="ellipse">
            <a:avLst/>
          </a:prstGeom>
          <a:solidFill>
            <a:srgbClr val="D99C2B"/>
          </a:solidFill>
          <a:ln w="12700">
            <a:solidFill>
              <a:srgbClr val="D99C2B"/>
            </a:solidFill>
            <a:prstDash val="solid"/>
          </a:ln>
        </p:spPr>
      </p:sp>
      <p:sp>
        <p:nvSpPr>
          <p:cNvPr id="5" name="Text 3"/>
          <p:cNvSpPr/>
          <p:nvPr/>
        </p:nvSpPr>
        <p:spPr>
          <a:xfrm>
            <a:off x="548640" y="1783080"/>
            <a:ext cx="731520" cy="457200"/>
          </a:xfrm>
          <a:prstGeom prst="rect">
            <a:avLst/>
          </a:prstGeom>
          <a:noFill/>
          <a:ln/>
        </p:spPr>
        <p:txBody>
          <a:bodyPr wrap="square" rtlCol="0" anchor="ctr"/>
          <a:lstStyle/>
          <a:p>
            <a:pPr algn="ctr" indent="0" marL="0">
              <a:buNone/>
            </a:pPr>
            <a:r>
              <a:rPr lang="en-US" sz="1800" b="1" dirty="0">
                <a:solidFill>
                  <a:srgbClr val="1A1208"/>
                </a:solidFill>
                <a:latin typeface="Consolas" pitchFamily="34" charset="0"/>
                <a:ea typeface="Consolas" pitchFamily="34" charset="-122"/>
                <a:cs typeface="Consolas" pitchFamily="34" charset="-120"/>
              </a:rPr>
              <a:t>01</a:t>
            </a:r>
            <a:endParaRPr lang="en-US" sz="1800" dirty="0"/>
          </a:p>
        </p:txBody>
      </p:sp>
      <p:sp>
        <p:nvSpPr>
          <p:cNvPr id="6" name="Text 4"/>
          <p:cNvSpPr/>
          <p:nvPr/>
        </p:nvSpPr>
        <p:spPr>
          <a:xfrm>
            <a:off x="1554480" y="1691640"/>
            <a:ext cx="10058400" cy="36576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Acquire under-performing</a:t>
            </a:r>
            <a:endParaRPr lang="en-US" sz="1800" dirty="0"/>
          </a:p>
        </p:txBody>
      </p:sp>
      <p:sp>
        <p:nvSpPr>
          <p:cNvPr id="7" name="Text 5"/>
          <p:cNvSpPr/>
          <p:nvPr/>
        </p:nvSpPr>
        <p:spPr>
          <a:xfrm>
            <a:off x="1554480" y="2011680"/>
            <a:ext cx="10058400" cy="457200"/>
          </a:xfrm>
          <a:prstGeom prst="rect">
            <a:avLst/>
          </a:prstGeom>
          <a:noFill/>
          <a:ln/>
        </p:spPr>
        <p:txBody>
          <a:bodyPr wrap="square" rtlCol="0" anchor="ctr"/>
          <a:lstStyle/>
          <a:p>
            <a:pPr indent="0" marL="0">
              <a:buNone/>
            </a:pPr>
            <a:r>
              <a:rPr lang="en-US" sz="1300" dirty="0">
                <a:solidFill>
                  <a:srgbClr val="4A3825"/>
                </a:solidFill>
                <a:latin typeface="Calibri" pitchFamily="34" charset="0"/>
                <a:ea typeface="Calibri" pitchFamily="34" charset="-122"/>
                <a:cs typeface="Calibri" pitchFamily="34" charset="-120"/>
              </a:rPr>
              <a:t>Tired ownership, deferred maintenance, broken recipes. We target shops at 0.4-0.8× revenue — below market median.</a:t>
            </a:r>
            <a:endParaRPr lang="en-US" sz="1300" dirty="0"/>
          </a:p>
        </p:txBody>
      </p:sp>
      <p:sp>
        <p:nvSpPr>
          <p:cNvPr id="8" name="Shape 6"/>
          <p:cNvSpPr/>
          <p:nvPr/>
        </p:nvSpPr>
        <p:spPr>
          <a:xfrm>
            <a:off x="548640" y="2560320"/>
            <a:ext cx="731520" cy="731520"/>
          </a:xfrm>
          <a:prstGeom prst="ellipse">
            <a:avLst/>
          </a:prstGeom>
          <a:solidFill>
            <a:srgbClr val="D99C2B"/>
          </a:solidFill>
          <a:ln w="12700">
            <a:solidFill>
              <a:srgbClr val="D99C2B"/>
            </a:solidFill>
            <a:prstDash val="solid"/>
          </a:ln>
        </p:spPr>
      </p:sp>
      <p:sp>
        <p:nvSpPr>
          <p:cNvPr id="9" name="Text 7"/>
          <p:cNvSpPr/>
          <p:nvPr/>
        </p:nvSpPr>
        <p:spPr>
          <a:xfrm>
            <a:off x="548640" y="2697480"/>
            <a:ext cx="731520" cy="457200"/>
          </a:xfrm>
          <a:prstGeom prst="rect">
            <a:avLst/>
          </a:prstGeom>
          <a:noFill/>
          <a:ln/>
        </p:spPr>
        <p:txBody>
          <a:bodyPr wrap="square" rtlCol="0" anchor="ctr"/>
          <a:lstStyle/>
          <a:p>
            <a:pPr algn="ctr" indent="0" marL="0">
              <a:buNone/>
            </a:pPr>
            <a:r>
              <a:rPr lang="en-US" sz="1800" b="1" dirty="0">
                <a:solidFill>
                  <a:srgbClr val="1A1208"/>
                </a:solidFill>
                <a:latin typeface="Consolas" pitchFamily="34" charset="0"/>
                <a:ea typeface="Consolas" pitchFamily="34" charset="-122"/>
                <a:cs typeface="Consolas" pitchFamily="34" charset="-120"/>
              </a:rPr>
              <a:t>02</a:t>
            </a:r>
            <a:endParaRPr lang="en-US" sz="1800" dirty="0"/>
          </a:p>
        </p:txBody>
      </p:sp>
      <p:sp>
        <p:nvSpPr>
          <p:cNvPr id="10" name="Text 8"/>
          <p:cNvSpPr/>
          <p:nvPr/>
        </p:nvSpPr>
        <p:spPr>
          <a:xfrm>
            <a:off x="1554480" y="2606040"/>
            <a:ext cx="10058400" cy="36576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Recipe &amp; quality reset</a:t>
            </a:r>
            <a:endParaRPr lang="en-US" sz="1800" dirty="0"/>
          </a:p>
        </p:txBody>
      </p:sp>
      <p:sp>
        <p:nvSpPr>
          <p:cNvPr id="11" name="Text 9"/>
          <p:cNvSpPr/>
          <p:nvPr/>
        </p:nvSpPr>
        <p:spPr>
          <a:xfrm>
            <a:off x="1554480" y="2926080"/>
            <a:ext cx="10058400" cy="457200"/>
          </a:xfrm>
          <a:prstGeom prst="rect">
            <a:avLst/>
          </a:prstGeom>
          <a:noFill/>
          <a:ln/>
        </p:spPr>
        <p:txBody>
          <a:bodyPr wrap="square" rtlCol="0" anchor="ctr"/>
          <a:lstStyle/>
          <a:p>
            <a:pPr indent="0" marL="0">
              <a:buNone/>
            </a:pPr>
            <a:r>
              <a:rPr lang="en-US" sz="1300" dirty="0">
                <a:solidFill>
                  <a:srgbClr val="4A3825"/>
                </a:solidFill>
                <a:latin typeface="Calibri" pitchFamily="34" charset="0"/>
                <a:ea typeface="Calibri" pitchFamily="34" charset="-122"/>
                <a:cs typeface="Calibri" pitchFamily="34" charset="-120"/>
              </a:rPr>
              <a:t>Master baker walks in, retrains staff, locks in consistent product. Customer feedback turns within 2 weeks.</a:t>
            </a:r>
            <a:endParaRPr lang="en-US" sz="1300" dirty="0"/>
          </a:p>
        </p:txBody>
      </p:sp>
      <p:sp>
        <p:nvSpPr>
          <p:cNvPr id="12" name="Shape 10"/>
          <p:cNvSpPr/>
          <p:nvPr/>
        </p:nvSpPr>
        <p:spPr>
          <a:xfrm>
            <a:off x="548640" y="3474720"/>
            <a:ext cx="731520" cy="731520"/>
          </a:xfrm>
          <a:prstGeom prst="ellipse">
            <a:avLst/>
          </a:prstGeom>
          <a:solidFill>
            <a:srgbClr val="D99C2B"/>
          </a:solidFill>
          <a:ln w="12700">
            <a:solidFill>
              <a:srgbClr val="D99C2B"/>
            </a:solidFill>
            <a:prstDash val="solid"/>
          </a:ln>
        </p:spPr>
      </p:sp>
      <p:sp>
        <p:nvSpPr>
          <p:cNvPr id="13" name="Text 11"/>
          <p:cNvSpPr/>
          <p:nvPr/>
        </p:nvSpPr>
        <p:spPr>
          <a:xfrm>
            <a:off x="548640" y="3611880"/>
            <a:ext cx="731520" cy="457200"/>
          </a:xfrm>
          <a:prstGeom prst="rect">
            <a:avLst/>
          </a:prstGeom>
          <a:noFill/>
          <a:ln/>
        </p:spPr>
        <p:txBody>
          <a:bodyPr wrap="square" rtlCol="0" anchor="ctr"/>
          <a:lstStyle/>
          <a:p>
            <a:pPr algn="ctr" indent="0" marL="0">
              <a:buNone/>
            </a:pPr>
            <a:r>
              <a:rPr lang="en-US" sz="1800" b="1" dirty="0">
                <a:solidFill>
                  <a:srgbClr val="1A1208"/>
                </a:solidFill>
                <a:latin typeface="Consolas" pitchFamily="34" charset="0"/>
                <a:ea typeface="Consolas" pitchFamily="34" charset="-122"/>
                <a:cs typeface="Consolas" pitchFamily="34" charset="-120"/>
              </a:rPr>
              <a:t>03</a:t>
            </a:r>
            <a:endParaRPr lang="en-US" sz="1800" dirty="0"/>
          </a:p>
        </p:txBody>
      </p:sp>
      <p:sp>
        <p:nvSpPr>
          <p:cNvPr id="14" name="Text 12"/>
          <p:cNvSpPr/>
          <p:nvPr/>
        </p:nvSpPr>
        <p:spPr>
          <a:xfrm>
            <a:off x="1554480" y="3520440"/>
            <a:ext cx="10058400" cy="36576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Operations cleanup</a:t>
            </a:r>
            <a:endParaRPr lang="en-US" sz="1800" dirty="0"/>
          </a:p>
        </p:txBody>
      </p:sp>
      <p:sp>
        <p:nvSpPr>
          <p:cNvPr id="15" name="Text 13"/>
          <p:cNvSpPr/>
          <p:nvPr/>
        </p:nvSpPr>
        <p:spPr>
          <a:xfrm>
            <a:off x="1554480" y="3840480"/>
            <a:ext cx="10058400" cy="457200"/>
          </a:xfrm>
          <a:prstGeom prst="rect">
            <a:avLst/>
          </a:prstGeom>
          <a:noFill/>
          <a:ln/>
        </p:spPr>
        <p:txBody>
          <a:bodyPr wrap="square" rtlCol="0" anchor="ctr"/>
          <a:lstStyle/>
          <a:p>
            <a:pPr indent="0" marL="0">
              <a:buNone/>
            </a:pPr>
            <a:r>
              <a:rPr lang="en-US" sz="1300" dirty="0">
                <a:solidFill>
                  <a:srgbClr val="4A3825"/>
                </a:solidFill>
                <a:latin typeface="Calibri" pitchFamily="34" charset="0"/>
                <a:ea typeface="Calibri" pitchFamily="34" charset="-122"/>
                <a:cs typeface="Calibri" pitchFamily="34" charset="-120"/>
              </a:rPr>
              <a:t>Hours optimization, staff scheduling, POS upgrade, supplier consolidation. Margin recovery without revenue lift.</a:t>
            </a:r>
            <a:endParaRPr lang="en-US" sz="1300" dirty="0"/>
          </a:p>
        </p:txBody>
      </p:sp>
      <p:sp>
        <p:nvSpPr>
          <p:cNvPr id="16" name="Shape 14"/>
          <p:cNvSpPr/>
          <p:nvPr/>
        </p:nvSpPr>
        <p:spPr>
          <a:xfrm>
            <a:off x="548640" y="4389120"/>
            <a:ext cx="731520" cy="731520"/>
          </a:xfrm>
          <a:prstGeom prst="ellipse">
            <a:avLst/>
          </a:prstGeom>
          <a:solidFill>
            <a:srgbClr val="D99C2B"/>
          </a:solidFill>
          <a:ln w="12700">
            <a:solidFill>
              <a:srgbClr val="D99C2B"/>
            </a:solidFill>
            <a:prstDash val="solid"/>
          </a:ln>
        </p:spPr>
      </p:sp>
      <p:sp>
        <p:nvSpPr>
          <p:cNvPr id="17" name="Text 15"/>
          <p:cNvSpPr/>
          <p:nvPr/>
        </p:nvSpPr>
        <p:spPr>
          <a:xfrm>
            <a:off x="548640" y="4526280"/>
            <a:ext cx="731520" cy="457200"/>
          </a:xfrm>
          <a:prstGeom prst="rect">
            <a:avLst/>
          </a:prstGeom>
          <a:noFill/>
          <a:ln/>
        </p:spPr>
        <p:txBody>
          <a:bodyPr wrap="square" rtlCol="0" anchor="ctr"/>
          <a:lstStyle/>
          <a:p>
            <a:pPr algn="ctr" indent="0" marL="0">
              <a:buNone/>
            </a:pPr>
            <a:r>
              <a:rPr lang="en-US" sz="1800" b="1" dirty="0">
                <a:solidFill>
                  <a:srgbClr val="1A1208"/>
                </a:solidFill>
                <a:latin typeface="Consolas" pitchFamily="34" charset="0"/>
                <a:ea typeface="Consolas" pitchFamily="34" charset="-122"/>
                <a:cs typeface="Consolas" pitchFamily="34" charset="-120"/>
              </a:rPr>
              <a:t>04</a:t>
            </a:r>
            <a:endParaRPr lang="en-US" sz="1800" dirty="0"/>
          </a:p>
        </p:txBody>
      </p:sp>
      <p:sp>
        <p:nvSpPr>
          <p:cNvPr id="18" name="Text 16"/>
          <p:cNvSpPr/>
          <p:nvPr/>
        </p:nvSpPr>
        <p:spPr>
          <a:xfrm>
            <a:off x="1554480" y="4434840"/>
            <a:ext cx="10058400" cy="36576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Brand + customer pull</a:t>
            </a:r>
            <a:endParaRPr lang="en-US" sz="1800" dirty="0"/>
          </a:p>
        </p:txBody>
      </p:sp>
      <p:sp>
        <p:nvSpPr>
          <p:cNvPr id="19" name="Text 17"/>
          <p:cNvSpPr/>
          <p:nvPr/>
        </p:nvSpPr>
        <p:spPr>
          <a:xfrm>
            <a:off x="1554480" y="4754880"/>
            <a:ext cx="10058400" cy="457200"/>
          </a:xfrm>
          <a:prstGeom prst="rect">
            <a:avLst/>
          </a:prstGeom>
          <a:noFill/>
          <a:ln/>
        </p:spPr>
        <p:txBody>
          <a:bodyPr wrap="square" rtlCol="0" anchor="ctr"/>
          <a:lstStyle/>
          <a:p>
            <a:pPr indent="0" marL="0">
              <a:buNone/>
            </a:pPr>
            <a:r>
              <a:rPr lang="en-US" sz="1300" dirty="0">
                <a:solidFill>
                  <a:srgbClr val="4A3825"/>
                </a:solidFill>
                <a:latin typeface="Calibri" pitchFamily="34" charset="0"/>
                <a:ea typeface="Calibri" pitchFamily="34" charset="-122"/>
                <a:cs typeface="Calibri" pitchFamily="34" charset="-120"/>
              </a:rPr>
              <a:t>Light branding refresh, signage, social presence. Modest marketing spend amplifies the operational fixes.</a:t>
            </a:r>
            <a:endParaRPr lang="en-US" sz="1300" dirty="0"/>
          </a:p>
        </p:txBody>
      </p:sp>
      <p:sp>
        <p:nvSpPr>
          <p:cNvPr id="20" name="Shape 18"/>
          <p:cNvSpPr/>
          <p:nvPr/>
        </p:nvSpPr>
        <p:spPr>
          <a:xfrm>
            <a:off x="548640" y="5303520"/>
            <a:ext cx="731520" cy="731520"/>
          </a:xfrm>
          <a:prstGeom prst="ellipse">
            <a:avLst/>
          </a:prstGeom>
          <a:solidFill>
            <a:srgbClr val="D99C2B"/>
          </a:solidFill>
          <a:ln w="12700">
            <a:solidFill>
              <a:srgbClr val="D99C2B"/>
            </a:solidFill>
            <a:prstDash val="solid"/>
          </a:ln>
        </p:spPr>
      </p:sp>
      <p:sp>
        <p:nvSpPr>
          <p:cNvPr id="21" name="Text 19"/>
          <p:cNvSpPr/>
          <p:nvPr/>
        </p:nvSpPr>
        <p:spPr>
          <a:xfrm>
            <a:off x="548640" y="5440680"/>
            <a:ext cx="731520" cy="457200"/>
          </a:xfrm>
          <a:prstGeom prst="rect">
            <a:avLst/>
          </a:prstGeom>
          <a:noFill/>
          <a:ln/>
        </p:spPr>
        <p:txBody>
          <a:bodyPr wrap="square" rtlCol="0" anchor="ctr"/>
          <a:lstStyle/>
          <a:p>
            <a:pPr algn="ctr" indent="0" marL="0">
              <a:buNone/>
            </a:pPr>
            <a:r>
              <a:rPr lang="en-US" sz="1800" b="1" dirty="0">
                <a:solidFill>
                  <a:srgbClr val="1A1208"/>
                </a:solidFill>
                <a:latin typeface="Consolas" pitchFamily="34" charset="0"/>
                <a:ea typeface="Consolas" pitchFamily="34" charset="-122"/>
                <a:cs typeface="Consolas" pitchFamily="34" charset="-120"/>
              </a:rPr>
              <a:t>05</a:t>
            </a:r>
            <a:endParaRPr lang="en-US" sz="1800" dirty="0"/>
          </a:p>
        </p:txBody>
      </p:sp>
      <p:sp>
        <p:nvSpPr>
          <p:cNvPr id="22" name="Text 20"/>
          <p:cNvSpPr/>
          <p:nvPr/>
        </p:nvSpPr>
        <p:spPr>
          <a:xfrm>
            <a:off x="1554480" y="5349240"/>
            <a:ext cx="10058400" cy="36576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Stabilize + repeat</a:t>
            </a:r>
            <a:endParaRPr lang="en-US" sz="1800" dirty="0"/>
          </a:p>
        </p:txBody>
      </p:sp>
      <p:sp>
        <p:nvSpPr>
          <p:cNvPr id="23" name="Text 21"/>
          <p:cNvSpPr/>
          <p:nvPr/>
        </p:nvSpPr>
        <p:spPr>
          <a:xfrm>
            <a:off x="1554480" y="5669280"/>
            <a:ext cx="10058400" cy="457200"/>
          </a:xfrm>
          <a:prstGeom prst="rect">
            <a:avLst/>
          </a:prstGeom>
          <a:noFill/>
          <a:ln/>
        </p:spPr>
        <p:txBody>
          <a:bodyPr wrap="square" rtlCol="0" anchor="ctr"/>
          <a:lstStyle/>
          <a:p>
            <a:pPr indent="0" marL="0">
              <a:buNone/>
            </a:pPr>
            <a:r>
              <a:rPr lang="en-US" sz="1300" dirty="0">
                <a:solidFill>
                  <a:srgbClr val="4A3825"/>
                </a:solidFill>
                <a:latin typeface="Calibri" pitchFamily="34" charset="0"/>
                <a:ea typeface="Calibri" pitchFamily="34" charset="-122"/>
                <a:cs typeface="Calibri" pitchFamily="34" charset="-120"/>
              </a:rPr>
              <a:t>Once shop is steady at the new run-rate, redirect operator attention to next acquisition. The playbook compounds.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The team behind the playbook</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Three things most QSR roll-ups have one of. We have all three.</a:t>
            </a:r>
            <a:endParaRPr lang="en-US" sz="1400" dirty="0"/>
          </a:p>
        </p:txBody>
      </p:sp>
      <p:sp>
        <p:nvSpPr>
          <p:cNvPr id="4" name="Shape 2"/>
          <p:cNvSpPr/>
          <p:nvPr/>
        </p:nvSpPr>
        <p:spPr>
          <a:xfrm>
            <a:off x="548640" y="1554480"/>
            <a:ext cx="3566160" cy="4663440"/>
          </a:xfrm>
          <a:prstGeom prst="rect">
            <a:avLst/>
          </a:prstGeom>
          <a:solidFill>
            <a:srgbClr val="FAF6EA"/>
          </a:solidFill>
          <a:ln w="12700">
            <a:solidFill>
              <a:srgbClr val="F8EFD7"/>
            </a:solidFill>
            <a:prstDash val="solid"/>
          </a:ln>
        </p:spPr>
      </p:sp>
      <p:sp>
        <p:nvSpPr>
          <p:cNvPr id="5" name="Text 3"/>
          <p:cNvSpPr/>
          <p:nvPr/>
        </p:nvSpPr>
        <p:spPr>
          <a:xfrm>
            <a:off x="822960" y="1828800"/>
            <a:ext cx="3200400" cy="365760"/>
          </a:xfrm>
          <a:prstGeom prst="rect">
            <a:avLst/>
          </a:prstGeom>
          <a:noFill/>
          <a:ln/>
        </p:spPr>
        <p:txBody>
          <a:bodyPr wrap="square" rtlCol="0" anchor="ctr"/>
          <a:lstStyle/>
          <a:p>
            <a:pPr indent="0" marL="0">
              <a:buNone/>
            </a:pPr>
            <a:r>
              <a:rPr lang="en-US" sz="1200" b="1" dirty="0">
                <a:solidFill>
                  <a:srgbClr val="A87618"/>
                </a:solidFill>
                <a:latin typeface="Consolas" pitchFamily="34" charset="0"/>
                <a:ea typeface="Consolas" pitchFamily="34" charset="-122"/>
                <a:cs typeface="Consolas" pitchFamily="34" charset="-120"/>
              </a:rPr>
              <a:t>01</a:t>
            </a:r>
            <a:endParaRPr lang="en-US" sz="1200" dirty="0"/>
          </a:p>
        </p:txBody>
      </p:sp>
      <p:sp>
        <p:nvSpPr>
          <p:cNvPr id="6" name="Text 4"/>
          <p:cNvSpPr/>
          <p:nvPr/>
        </p:nvSpPr>
        <p:spPr>
          <a:xfrm>
            <a:off x="822960" y="2194560"/>
            <a:ext cx="3200400" cy="82296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Institutional pedigree</a:t>
            </a:r>
            <a:endParaRPr lang="en-US" sz="1800" dirty="0"/>
          </a:p>
        </p:txBody>
      </p:sp>
      <p:sp>
        <p:nvSpPr>
          <p:cNvPr id="7" name="Text 5"/>
          <p:cNvSpPr/>
          <p:nvPr/>
        </p:nvSpPr>
        <p:spPr>
          <a:xfrm>
            <a:off x="822960" y="3200400"/>
            <a:ext cx="3200400" cy="2743200"/>
          </a:xfrm>
          <a:prstGeom prst="rect">
            <a:avLst/>
          </a:prstGeom>
          <a:noFill/>
          <a:ln/>
        </p:spPr>
        <p:txBody>
          <a:bodyPr wrap="square" rtlCol="0" anchor="ctr"/>
          <a:lstStyle/>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Jack — VP, Asset &amp; Wealth Management at Goldman Sachs.</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UU — SVP, Data Analytics at top-tier consulting firm.</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Not career restaurant operators trying to find capital.</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Capital and data operators choosing to run restaurants.</a:t>
            </a:r>
            <a:endParaRPr lang="en-US" sz="1200" dirty="0"/>
          </a:p>
        </p:txBody>
      </p:sp>
      <p:sp>
        <p:nvSpPr>
          <p:cNvPr id="8" name="Shape 6"/>
          <p:cNvSpPr/>
          <p:nvPr/>
        </p:nvSpPr>
        <p:spPr>
          <a:xfrm>
            <a:off x="4297680" y="1554480"/>
            <a:ext cx="3566160" cy="4663440"/>
          </a:xfrm>
          <a:prstGeom prst="rect">
            <a:avLst/>
          </a:prstGeom>
          <a:solidFill>
            <a:srgbClr val="FAF6EA"/>
          </a:solidFill>
          <a:ln w="12700">
            <a:solidFill>
              <a:srgbClr val="F8EFD7"/>
            </a:solidFill>
            <a:prstDash val="solid"/>
          </a:ln>
        </p:spPr>
      </p:sp>
      <p:sp>
        <p:nvSpPr>
          <p:cNvPr id="9" name="Text 7"/>
          <p:cNvSpPr/>
          <p:nvPr/>
        </p:nvSpPr>
        <p:spPr>
          <a:xfrm>
            <a:off x="4572000" y="1828800"/>
            <a:ext cx="3200400" cy="365760"/>
          </a:xfrm>
          <a:prstGeom prst="rect">
            <a:avLst/>
          </a:prstGeom>
          <a:noFill/>
          <a:ln/>
        </p:spPr>
        <p:txBody>
          <a:bodyPr wrap="square" rtlCol="0" anchor="ctr"/>
          <a:lstStyle/>
          <a:p>
            <a:pPr indent="0" marL="0">
              <a:buNone/>
            </a:pPr>
            <a:r>
              <a:rPr lang="en-US" sz="1200" b="1" dirty="0">
                <a:solidFill>
                  <a:srgbClr val="A87618"/>
                </a:solidFill>
                <a:latin typeface="Consolas" pitchFamily="34" charset="0"/>
                <a:ea typeface="Consolas" pitchFamily="34" charset="-122"/>
                <a:cs typeface="Consolas" pitchFamily="34" charset="-120"/>
              </a:rPr>
              <a:t>02</a:t>
            </a:r>
            <a:endParaRPr lang="en-US" sz="1200" dirty="0"/>
          </a:p>
        </p:txBody>
      </p:sp>
      <p:sp>
        <p:nvSpPr>
          <p:cNvPr id="10" name="Text 8"/>
          <p:cNvSpPr/>
          <p:nvPr/>
        </p:nvSpPr>
        <p:spPr>
          <a:xfrm>
            <a:off x="4572000" y="2194560"/>
            <a:ext cx="3200400" cy="82296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Real engineering capability</a:t>
            </a:r>
            <a:endParaRPr lang="en-US" sz="1800" dirty="0"/>
          </a:p>
        </p:txBody>
      </p:sp>
      <p:sp>
        <p:nvSpPr>
          <p:cNvPr id="11" name="Text 9"/>
          <p:cNvSpPr/>
          <p:nvPr/>
        </p:nvSpPr>
        <p:spPr>
          <a:xfrm>
            <a:off x="4572000" y="3200400"/>
            <a:ext cx="3200400" cy="2743200"/>
          </a:xfrm>
          <a:prstGeom prst="rect">
            <a:avLst/>
          </a:prstGeom>
          <a:noFill/>
          <a:ln/>
        </p:spPr>
        <p:txBody>
          <a:bodyPr wrap="square" rtlCol="0" anchor="ctr"/>
          <a:lstStyle/>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Peiyun — co-founder, working software engineer.</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Building Golden POS in parallel with operations.</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Customer loyalty, demand forecasting, data infrastructure.</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Most QSR roll-ups outsource this and pay vendors forever.</a:t>
            </a:r>
            <a:endParaRPr lang="en-US" sz="1200" dirty="0"/>
          </a:p>
        </p:txBody>
      </p:sp>
      <p:sp>
        <p:nvSpPr>
          <p:cNvPr id="12" name="Shape 10"/>
          <p:cNvSpPr/>
          <p:nvPr/>
        </p:nvSpPr>
        <p:spPr>
          <a:xfrm>
            <a:off x="8046720" y="1554480"/>
            <a:ext cx="3566160" cy="4663440"/>
          </a:xfrm>
          <a:prstGeom prst="rect">
            <a:avLst/>
          </a:prstGeom>
          <a:solidFill>
            <a:srgbClr val="FAF6EA"/>
          </a:solidFill>
          <a:ln w="12700">
            <a:solidFill>
              <a:srgbClr val="F8EFD7"/>
            </a:solidFill>
            <a:prstDash val="solid"/>
          </a:ln>
        </p:spPr>
      </p:sp>
      <p:sp>
        <p:nvSpPr>
          <p:cNvPr id="13" name="Text 11"/>
          <p:cNvSpPr/>
          <p:nvPr/>
        </p:nvSpPr>
        <p:spPr>
          <a:xfrm>
            <a:off x="8321040" y="1828800"/>
            <a:ext cx="3200400" cy="365760"/>
          </a:xfrm>
          <a:prstGeom prst="rect">
            <a:avLst/>
          </a:prstGeom>
          <a:noFill/>
          <a:ln/>
        </p:spPr>
        <p:txBody>
          <a:bodyPr wrap="square" rtlCol="0" anchor="ctr"/>
          <a:lstStyle/>
          <a:p>
            <a:pPr indent="0" marL="0">
              <a:buNone/>
            </a:pPr>
            <a:r>
              <a:rPr lang="en-US" sz="1200" b="1" dirty="0">
                <a:solidFill>
                  <a:srgbClr val="A87618"/>
                </a:solidFill>
                <a:latin typeface="Consolas" pitchFamily="34" charset="0"/>
                <a:ea typeface="Consolas" pitchFamily="34" charset="-122"/>
                <a:cs typeface="Consolas" pitchFamily="34" charset="-120"/>
              </a:rPr>
              <a:t>03</a:t>
            </a:r>
            <a:endParaRPr lang="en-US" sz="1200" dirty="0"/>
          </a:p>
        </p:txBody>
      </p:sp>
      <p:sp>
        <p:nvSpPr>
          <p:cNvPr id="14" name="Text 12"/>
          <p:cNvSpPr/>
          <p:nvPr/>
        </p:nvSpPr>
        <p:spPr>
          <a:xfrm>
            <a:off x="8321040" y="2194560"/>
            <a:ext cx="3200400" cy="82296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Donut industry expertise</a:t>
            </a:r>
            <a:endParaRPr lang="en-US" sz="1800" dirty="0"/>
          </a:p>
        </p:txBody>
      </p:sp>
      <p:sp>
        <p:nvSpPr>
          <p:cNvPr id="15" name="Text 13"/>
          <p:cNvSpPr/>
          <p:nvPr/>
        </p:nvSpPr>
        <p:spPr>
          <a:xfrm>
            <a:off x="8321040" y="3200400"/>
            <a:ext cx="3200400" cy="2743200"/>
          </a:xfrm>
          <a:prstGeom prst="rect">
            <a:avLst/>
          </a:prstGeom>
          <a:noFill/>
          <a:ln/>
        </p:spPr>
        <p:txBody>
          <a:bodyPr wrap="square" rtlCol="0" anchor="ctr"/>
          <a:lstStyle/>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Muypin — existing shop owner, full-time on ops.</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Pheak — master baker, 10+ years.</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Chanda — master FOH operator with her own shop.</a:t>
            </a:r>
            <a:endParaRPr lang="en-US" sz="1200" dirty="0"/>
          </a:p>
          <a:p>
            <a:pPr indent="0" marL="0">
              <a:lnSpc>
                <a:spcPct val="150000"/>
              </a:lnSpc>
              <a:buNone/>
            </a:pPr>
            <a:r>
              <a:rPr lang="en-US" sz="1200" dirty="0">
                <a:solidFill>
                  <a:srgbClr val="4A3825"/>
                </a:solidFill>
                <a:latin typeface="Calibri" pitchFamily="34" charset="0"/>
                <a:ea typeface="Calibri" pitchFamily="34" charset="-122"/>
                <a:cs typeface="Calibri" pitchFamily="34" charset="-120"/>
              </a:rPr>
              <a:t>Jonathan — 15+ yrs multi-unit production floor leadership.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A"/>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The platform thesis</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Four revenue pillars stacked on the same operational footprint. Each at a different exit multiple.</a:t>
            </a:r>
            <a:endParaRPr lang="en-US" sz="1400" dirty="0"/>
          </a:p>
        </p:txBody>
      </p:sp>
      <p:sp>
        <p:nvSpPr>
          <p:cNvPr id="4" name="Shape 2"/>
          <p:cNvSpPr/>
          <p:nvPr/>
        </p:nvSpPr>
        <p:spPr>
          <a:xfrm>
            <a:off x="548640" y="1554480"/>
            <a:ext cx="5394960" cy="2286000"/>
          </a:xfrm>
          <a:prstGeom prst="rect">
            <a:avLst/>
          </a:prstGeom>
          <a:solidFill>
            <a:srgbClr val="FFFFFF"/>
          </a:solidFill>
          <a:ln w="12700">
            <a:solidFill>
              <a:srgbClr val="D99C2B"/>
            </a:solidFill>
            <a:prstDash val="solid"/>
          </a:ln>
        </p:spPr>
      </p:sp>
      <p:sp>
        <p:nvSpPr>
          <p:cNvPr id="5" name="Text 3"/>
          <p:cNvSpPr/>
          <p:nvPr/>
        </p:nvSpPr>
        <p:spPr>
          <a:xfrm>
            <a:off x="868680" y="1783080"/>
            <a:ext cx="1371600" cy="274320"/>
          </a:xfrm>
          <a:prstGeom prst="rect">
            <a:avLst/>
          </a:prstGeom>
          <a:noFill/>
          <a:ln/>
        </p:spPr>
        <p:txBody>
          <a:bodyPr wrap="square" rtlCol="0" anchor="ctr"/>
          <a:lstStyle/>
          <a:p>
            <a:pPr indent="0" marL="0">
              <a:buNone/>
            </a:pPr>
            <a:r>
              <a:rPr lang="en-US" sz="1100" b="1" dirty="0">
                <a:solidFill>
                  <a:srgbClr val="A87618"/>
                </a:solidFill>
                <a:latin typeface="Consolas" pitchFamily="34" charset="0"/>
                <a:ea typeface="Consolas" pitchFamily="34" charset="-122"/>
                <a:cs typeface="Consolas" pitchFamily="34" charset="-120"/>
              </a:rPr>
              <a:t>01</a:t>
            </a:r>
            <a:endParaRPr lang="en-US" sz="1100" dirty="0"/>
          </a:p>
        </p:txBody>
      </p:sp>
      <p:sp>
        <p:nvSpPr>
          <p:cNvPr id="6" name="Text 4"/>
          <p:cNvSpPr/>
          <p:nvPr/>
        </p:nvSpPr>
        <p:spPr>
          <a:xfrm>
            <a:off x="4206240" y="1783080"/>
            <a:ext cx="1554480" cy="274320"/>
          </a:xfrm>
          <a:prstGeom prst="rect">
            <a:avLst/>
          </a:prstGeom>
          <a:noFill/>
          <a:ln/>
        </p:spPr>
        <p:txBody>
          <a:bodyPr wrap="square" rtlCol="0" anchor="ctr"/>
          <a:lstStyle/>
          <a:p>
            <a:pPr algn="r" indent="0" marL="0">
              <a:buNone/>
            </a:pPr>
            <a:r>
              <a:rPr lang="en-US" sz="1100" b="1" dirty="0">
                <a:solidFill>
                  <a:srgbClr val="A87618"/>
                </a:solidFill>
                <a:latin typeface="Consolas" pitchFamily="34" charset="0"/>
                <a:ea typeface="Consolas" pitchFamily="34" charset="-122"/>
                <a:cs typeface="Consolas" pitchFamily="34" charset="-120"/>
              </a:rPr>
              <a:t>6-10× EBITDA</a:t>
            </a:r>
            <a:endParaRPr lang="en-US" sz="1100" dirty="0"/>
          </a:p>
        </p:txBody>
      </p:sp>
      <p:sp>
        <p:nvSpPr>
          <p:cNvPr id="7" name="Text 5"/>
          <p:cNvSpPr/>
          <p:nvPr/>
        </p:nvSpPr>
        <p:spPr>
          <a:xfrm>
            <a:off x="868680" y="2148840"/>
            <a:ext cx="4754880" cy="457200"/>
          </a:xfrm>
          <a:prstGeom prst="rect">
            <a:avLst/>
          </a:prstGeom>
          <a:noFill/>
          <a:ln/>
        </p:spPr>
        <p:txBody>
          <a:bodyPr wrap="square" rtlCol="0" anchor="ctr"/>
          <a:lstStyle/>
          <a:p>
            <a:pPr indent="0" marL="0">
              <a:buNone/>
            </a:pPr>
            <a:r>
              <a:rPr lang="en-US" sz="2000" b="1" dirty="0">
                <a:solidFill>
                  <a:srgbClr val="1A1208"/>
                </a:solidFill>
                <a:latin typeface="Georgia" pitchFamily="34" charset="0"/>
                <a:ea typeface="Georgia" pitchFamily="34" charset="-122"/>
                <a:cs typeface="Georgia" pitchFamily="34" charset="-120"/>
              </a:rPr>
              <a:t>Owned + Franchised Stores</a:t>
            </a:r>
            <a:endParaRPr lang="en-US" sz="2000" dirty="0"/>
          </a:p>
        </p:txBody>
      </p:sp>
      <p:sp>
        <p:nvSpPr>
          <p:cNvPr id="8" name="Text 6"/>
          <p:cNvSpPr/>
          <p:nvPr/>
        </p:nvSpPr>
        <p:spPr>
          <a:xfrm>
            <a:off x="868680" y="2651760"/>
            <a:ext cx="4754880" cy="1097280"/>
          </a:xfrm>
          <a:prstGeom prst="rect">
            <a:avLst/>
          </a:prstGeom>
          <a:noFill/>
          <a:ln/>
        </p:spPr>
        <p:txBody>
          <a:bodyPr wrap="square" rtlCol="0" anchor="ctr"/>
          <a:lstStyle/>
          <a:p>
            <a:pPr indent="0" marL="0">
              <a:lnSpc>
                <a:spcPct val="140000"/>
              </a:lnSpc>
              <a:buNone/>
            </a:pPr>
            <a:r>
              <a:rPr lang="en-US" sz="1200" dirty="0">
                <a:solidFill>
                  <a:srgbClr val="4A3825"/>
                </a:solidFill>
                <a:latin typeface="Calibri" pitchFamily="34" charset="0"/>
                <a:ea typeface="Calibri" pitchFamily="34" charset="-122"/>
                <a:cs typeface="Calibri" pitchFamily="34" charset="-120"/>
              </a:rPr>
              <a:t>15-20 owned flagships + 30-50 franchisees by Year 4. Royalty income at 80%+ margin. Franchisee capital funds growth.</a:t>
            </a:r>
            <a:endParaRPr lang="en-US" sz="1200" dirty="0"/>
          </a:p>
        </p:txBody>
      </p:sp>
      <p:sp>
        <p:nvSpPr>
          <p:cNvPr id="9" name="Shape 7"/>
          <p:cNvSpPr/>
          <p:nvPr/>
        </p:nvSpPr>
        <p:spPr>
          <a:xfrm>
            <a:off x="6126480" y="1554480"/>
            <a:ext cx="5394960" cy="2286000"/>
          </a:xfrm>
          <a:prstGeom prst="rect">
            <a:avLst/>
          </a:prstGeom>
          <a:solidFill>
            <a:srgbClr val="FFFFFF"/>
          </a:solidFill>
          <a:ln w="12700">
            <a:solidFill>
              <a:srgbClr val="D99C2B"/>
            </a:solidFill>
            <a:prstDash val="solid"/>
          </a:ln>
        </p:spPr>
      </p:sp>
      <p:sp>
        <p:nvSpPr>
          <p:cNvPr id="10" name="Text 8"/>
          <p:cNvSpPr/>
          <p:nvPr/>
        </p:nvSpPr>
        <p:spPr>
          <a:xfrm>
            <a:off x="6446520" y="1783080"/>
            <a:ext cx="1371600" cy="274320"/>
          </a:xfrm>
          <a:prstGeom prst="rect">
            <a:avLst/>
          </a:prstGeom>
          <a:noFill/>
          <a:ln/>
        </p:spPr>
        <p:txBody>
          <a:bodyPr wrap="square" rtlCol="0" anchor="ctr"/>
          <a:lstStyle/>
          <a:p>
            <a:pPr indent="0" marL="0">
              <a:buNone/>
            </a:pPr>
            <a:r>
              <a:rPr lang="en-US" sz="1100" b="1" dirty="0">
                <a:solidFill>
                  <a:srgbClr val="A87618"/>
                </a:solidFill>
                <a:latin typeface="Consolas" pitchFamily="34" charset="0"/>
                <a:ea typeface="Consolas" pitchFamily="34" charset="-122"/>
                <a:cs typeface="Consolas" pitchFamily="34" charset="-120"/>
              </a:rPr>
              <a:t>02</a:t>
            </a:r>
            <a:endParaRPr lang="en-US" sz="1100" dirty="0"/>
          </a:p>
        </p:txBody>
      </p:sp>
      <p:sp>
        <p:nvSpPr>
          <p:cNvPr id="11" name="Text 9"/>
          <p:cNvSpPr/>
          <p:nvPr/>
        </p:nvSpPr>
        <p:spPr>
          <a:xfrm>
            <a:off x="9784080" y="1783080"/>
            <a:ext cx="1554480" cy="274320"/>
          </a:xfrm>
          <a:prstGeom prst="rect">
            <a:avLst/>
          </a:prstGeom>
          <a:noFill/>
          <a:ln/>
        </p:spPr>
        <p:txBody>
          <a:bodyPr wrap="square" rtlCol="0" anchor="ctr"/>
          <a:lstStyle/>
          <a:p>
            <a:pPr algn="r" indent="0" marL="0">
              <a:buNone/>
            </a:pPr>
            <a:r>
              <a:rPr lang="en-US" sz="1100" b="1" dirty="0">
                <a:solidFill>
                  <a:srgbClr val="A87618"/>
                </a:solidFill>
                <a:latin typeface="Consolas" pitchFamily="34" charset="0"/>
                <a:ea typeface="Consolas" pitchFamily="34" charset="-122"/>
                <a:cs typeface="Consolas" pitchFamily="34" charset="-120"/>
              </a:rPr>
              <a:t>6-8× EBITDA</a:t>
            </a:r>
            <a:endParaRPr lang="en-US" sz="1100" dirty="0"/>
          </a:p>
        </p:txBody>
      </p:sp>
      <p:sp>
        <p:nvSpPr>
          <p:cNvPr id="12" name="Text 10"/>
          <p:cNvSpPr/>
          <p:nvPr/>
        </p:nvSpPr>
        <p:spPr>
          <a:xfrm>
            <a:off x="6446520" y="2148840"/>
            <a:ext cx="4754880" cy="457200"/>
          </a:xfrm>
          <a:prstGeom prst="rect">
            <a:avLst/>
          </a:prstGeom>
          <a:noFill/>
          <a:ln/>
        </p:spPr>
        <p:txBody>
          <a:bodyPr wrap="square" rtlCol="0" anchor="ctr"/>
          <a:lstStyle/>
          <a:p>
            <a:pPr indent="0" marL="0">
              <a:buNone/>
            </a:pPr>
            <a:r>
              <a:rPr lang="en-US" sz="2000" b="1" dirty="0">
                <a:solidFill>
                  <a:srgbClr val="1A1208"/>
                </a:solidFill>
                <a:latin typeface="Georgia" pitchFamily="34" charset="0"/>
                <a:ea typeface="Georgia" pitchFamily="34" charset="-122"/>
                <a:cs typeface="Georgia" pitchFamily="34" charset="-120"/>
              </a:rPr>
              <a:t>Centralized Kitchen + B2B</a:t>
            </a:r>
            <a:endParaRPr lang="en-US" sz="2000" dirty="0"/>
          </a:p>
        </p:txBody>
      </p:sp>
      <p:sp>
        <p:nvSpPr>
          <p:cNvPr id="13" name="Text 11"/>
          <p:cNvSpPr/>
          <p:nvPr/>
        </p:nvSpPr>
        <p:spPr>
          <a:xfrm>
            <a:off x="6446520" y="2651760"/>
            <a:ext cx="4754880" cy="1097280"/>
          </a:xfrm>
          <a:prstGeom prst="rect">
            <a:avLst/>
          </a:prstGeom>
          <a:noFill/>
          <a:ln/>
        </p:spPr>
        <p:txBody>
          <a:bodyPr wrap="square" rtlCol="0" anchor="ctr"/>
          <a:lstStyle/>
          <a:p>
            <a:pPr indent="0" marL="0">
              <a:lnSpc>
                <a:spcPct val="140000"/>
              </a:lnSpc>
              <a:buNone/>
            </a:pPr>
            <a:r>
              <a:rPr lang="en-US" sz="1200" dirty="0">
                <a:solidFill>
                  <a:srgbClr val="4A3825"/>
                </a:solidFill>
                <a:latin typeface="Calibri" pitchFamily="34" charset="0"/>
                <a:ea typeface="Calibri" pitchFamily="34" charset="-122"/>
                <a:cs typeface="Calibri" pitchFamily="34" charset="-120"/>
              </a:rPr>
              <a:t>Mandatory supply for all stores + wholesale to local coffee shops, hotels, schools, corporate accounts.</a:t>
            </a:r>
            <a:endParaRPr lang="en-US" sz="1200" dirty="0"/>
          </a:p>
        </p:txBody>
      </p:sp>
      <p:sp>
        <p:nvSpPr>
          <p:cNvPr id="14" name="Shape 12"/>
          <p:cNvSpPr/>
          <p:nvPr/>
        </p:nvSpPr>
        <p:spPr>
          <a:xfrm>
            <a:off x="548640" y="4023360"/>
            <a:ext cx="5394960" cy="2286000"/>
          </a:xfrm>
          <a:prstGeom prst="rect">
            <a:avLst/>
          </a:prstGeom>
          <a:solidFill>
            <a:srgbClr val="FFFFFF"/>
          </a:solidFill>
          <a:ln w="12700">
            <a:solidFill>
              <a:srgbClr val="D99C2B"/>
            </a:solidFill>
            <a:prstDash val="solid"/>
          </a:ln>
        </p:spPr>
      </p:sp>
      <p:sp>
        <p:nvSpPr>
          <p:cNvPr id="15" name="Text 13"/>
          <p:cNvSpPr/>
          <p:nvPr/>
        </p:nvSpPr>
        <p:spPr>
          <a:xfrm>
            <a:off x="868680" y="4251960"/>
            <a:ext cx="1371600" cy="274320"/>
          </a:xfrm>
          <a:prstGeom prst="rect">
            <a:avLst/>
          </a:prstGeom>
          <a:noFill/>
          <a:ln/>
        </p:spPr>
        <p:txBody>
          <a:bodyPr wrap="square" rtlCol="0" anchor="ctr"/>
          <a:lstStyle/>
          <a:p>
            <a:pPr indent="0" marL="0">
              <a:buNone/>
            </a:pPr>
            <a:r>
              <a:rPr lang="en-US" sz="1100" b="1" dirty="0">
                <a:solidFill>
                  <a:srgbClr val="A87618"/>
                </a:solidFill>
                <a:latin typeface="Consolas" pitchFamily="34" charset="0"/>
                <a:ea typeface="Consolas" pitchFamily="34" charset="-122"/>
                <a:cs typeface="Consolas" pitchFamily="34" charset="-120"/>
              </a:rPr>
              <a:t>03</a:t>
            </a:r>
            <a:endParaRPr lang="en-US" sz="1100" dirty="0"/>
          </a:p>
        </p:txBody>
      </p:sp>
      <p:sp>
        <p:nvSpPr>
          <p:cNvPr id="16" name="Text 14"/>
          <p:cNvSpPr/>
          <p:nvPr/>
        </p:nvSpPr>
        <p:spPr>
          <a:xfrm>
            <a:off x="4206240" y="4251960"/>
            <a:ext cx="1554480" cy="274320"/>
          </a:xfrm>
          <a:prstGeom prst="rect">
            <a:avLst/>
          </a:prstGeom>
          <a:noFill/>
          <a:ln/>
        </p:spPr>
        <p:txBody>
          <a:bodyPr wrap="square" rtlCol="0" anchor="ctr"/>
          <a:lstStyle/>
          <a:p>
            <a:pPr algn="r" indent="0" marL="0">
              <a:buNone/>
            </a:pPr>
            <a:r>
              <a:rPr lang="en-US" sz="1100" b="1" dirty="0">
                <a:solidFill>
                  <a:srgbClr val="A87618"/>
                </a:solidFill>
                <a:latin typeface="Consolas" pitchFamily="34" charset="0"/>
                <a:ea typeface="Consolas" pitchFamily="34" charset="-122"/>
                <a:cs typeface="Consolas" pitchFamily="34" charset="-120"/>
              </a:rPr>
              <a:t>8-12× EBITDA</a:t>
            </a:r>
            <a:endParaRPr lang="en-US" sz="1100" dirty="0"/>
          </a:p>
        </p:txBody>
      </p:sp>
      <p:sp>
        <p:nvSpPr>
          <p:cNvPr id="17" name="Text 15"/>
          <p:cNvSpPr/>
          <p:nvPr/>
        </p:nvSpPr>
        <p:spPr>
          <a:xfrm>
            <a:off x="868680" y="4617720"/>
            <a:ext cx="4754880" cy="457200"/>
          </a:xfrm>
          <a:prstGeom prst="rect">
            <a:avLst/>
          </a:prstGeom>
          <a:noFill/>
          <a:ln/>
        </p:spPr>
        <p:txBody>
          <a:bodyPr wrap="square" rtlCol="0" anchor="ctr"/>
          <a:lstStyle/>
          <a:p>
            <a:pPr indent="0" marL="0">
              <a:buNone/>
            </a:pPr>
            <a:r>
              <a:rPr lang="en-US" sz="2000" b="1" dirty="0">
                <a:solidFill>
                  <a:srgbClr val="1A1208"/>
                </a:solidFill>
                <a:latin typeface="Georgia" pitchFamily="34" charset="0"/>
                <a:ea typeface="Georgia" pitchFamily="34" charset="-122"/>
                <a:cs typeface="Georgia" pitchFamily="34" charset="-120"/>
              </a:rPr>
              <a:t>Specialty Supply / Mix IP</a:t>
            </a:r>
            <a:endParaRPr lang="en-US" sz="2000" dirty="0"/>
          </a:p>
        </p:txBody>
      </p:sp>
      <p:sp>
        <p:nvSpPr>
          <p:cNvPr id="18" name="Text 16"/>
          <p:cNvSpPr/>
          <p:nvPr/>
        </p:nvSpPr>
        <p:spPr>
          <a:xfrm>
            <a:off x="868680" y="5120640"/>
            <a:ext cx="4754880" cy="1097280"/>
          </a:xfrm>
          <a:prstGeom prst="rect">
            <a:avLst/>
          </a:prstGeom>
          <a:noFill/>
          <a:ln/>
        </p:spPr>
        <p:txBody>
          <a:bodyPr wrap="square" rtlCol="0" anchor="ctr"/>
          <a:lstStyle/>
          <a:p>
            <a:pPr indent="0" marL="0">
              <a:lnSpc>
                <a:spcPct val="140000"/>
              </a:lnSpc>
              <a:buNone/>
            </a:pPr>
            <a:r>
              <a:rPr lang="en-US" sz="1200" dirty="0">
                <a:solidFill>
                  <a:srgbClr val="4A3825"/>
                </a:solidFill>
                <a:latin typeface="Calibri" pitchFamily="34" charset="0"/>
                <a:ea typeface="Calibri" pitchFamily="34" charset="-122"/>
                <a:cs typeface="Calibri" pitchFamily="34" charset="-120"/>
              </a:rPr>
              <a:t>Year 5+ business. Proprietary mixes licensed to other bakeries. Adjacent to Dawn Foods, not competing.</a:t>
            </a:r>
            <a:endParaRPr lang="en-US" sz="1200" dirty="0"/>
          </a:p>
        </p:txBody>
      </p:sp>
      <p:sp>
        <p:nvSpPr>
          <p:cNvPr id="19" name="Shape 17"/>
          <p:cNvSpPr/>
          <p:nvPr/>
        </p:nvSpPr>
        <p:spPr>
          <a:xfrm>
            <a:off x="6126480" y="4023360"/>
            <a:ext cx="5394960" cy="2286000"/>
          </a:xfrm>
          <a:prstGeom prst="rect">
            <a:avLst/>
          </a:prstGeom>
          <a:solidFill>
            <a:srgbClr val="FFFFFF"/>
          </a:solidFill>
          <a:ln w="12700">
            <a:solidFill>
              <a:srgbClr val="D99C2B"/>
            </a:solidFill>
            <a:prstDash val="solid"/>
          </a:ln>
        </p:spPr>
      </p:sp>
      <p:sp>
        <p:nvSpPr>
          <p:cNvPr id="20" name="Text 18"/>
          <p:cNvSpPr/>
          <p:nvPr/>
        </p:nvSpPr>
        <p:spPr>
          <a:xfrm>
            <a:off x="6446520" y="4251960"/>
            <a:ext cx="1371600" cy="274320"/>
          </a:xfrm>
          <a:prstGeom prst="rect">
            <a:avLst/>
          </a:prstGeom>
          <a:noFill/>
          <a:ln/>
        </p:spPr>
        <p:txBody>
          <a:bodyPr wrap="square" rtlCol="0" anchor="ctr"/>
          <a:lstStyle/>
          <a:p>
            <a:pPr indent="0" marL="0">
              <a:buNone/>
            </a:pPr>
            <a:r>
              <a:rPr lang="en-US" sz="1100" b="1" dirty="0">
                <a:solidFill>
                  <a:srgbClr val="A87618"/>
                </a:solidFill>
                <a:latin typeface="Consolas" pitchFamily="34" charset="0"/>
                <a:ea typeface="Consolas" pitchFamily="34" charset="-122"/>
                <a:cs typeface="Consolas" pitchFamily="34" charset="-120"/>
              </a:rPr>
              <a:t>04</a:t>
            </a:r>
            <a:endParaRPr lang="en-US" sz="1100" dirty="0"/>
          </a:p>
        </p:txBody>
      </p:sp>
      <p:sp>
        <p:nvSpPr>
          <p:cNvPr id="21" name="Text 19"/>
          <p:cNvSpPr/>
          <p:nvPr/>
        </p:nvSpPr>
        <p:spPr>
          <a:xfrm>
            <a:off x="9784080" y="4251960"/>
            <a:ext cx="1554480" cy="274320"/>
          </a:xfrm>
          <a:prstGeom prst="rect">
            <a:avLst/>
          </a:prstGeom>
          <a:noFill/>
          <a:ln/>
        </p:spPr>
        <p:txBody>
          <a:bodyPr wrap="square" rtlCol="0" anchor="ctr"/>
          <a:lstStyle/>
          <a:p>
            <a:pPr algn="r" indent="0" marL="0">
              <a:buNone/>
            </a:pPr>
            <a:r>
              <a:rPr lang="en-US" sz="1100" b="1" dirty="0">
                <a:solidFill>
                  <a:srgbClr val="A87618"/>
                </a:solidFill>
                <a:latin typeface="Consolas" pitchFamily="34" charset="0"/>
                <a:ea typeface="Consolas" pitchFamily="34" charset="-122"/>
                <a:cs typeface="Consolas" pitchFamily="34" charset="-120"/>
              </a:rPr>
              <a:t>5-8× ARR</a:t>
            </a:r>
            <a:endParaRPr lang="en-US" sz="1100" dirty="0"/>
          </a:p>
        </p:txBody>
      </p:sp>
      <p:sp>
        <p:nvSpPr>
          <p:cNvPr id="22" name="Text 20"/>
          <p:cNvSpPr/>
          <p:nvPr/>
        </p:nvSpPr>
        <p:spPr>
          <a:xfrm>
            <a:off x="6446520" y="4617720"/>
            <a:ext cx="4754880" cy="457200"/>
          </a:xfrm>
          <a:prstGeom prst="rect">
            <a:avLst/>
          </a:prstGeom>
          <a:noFill/>
          <a:ln/>
        </p:spPr>
        <p:txBody>
          <a:bodyPr wrap="square" rtlCol="0" anchor="ctr"/>
          <a:lstStyle/>
          <a:p>
            <a:pPr indent="0" marL="0">
              <a:buNone/>
            </a:pPr>
            <a:r>
              <a:rPr lang="en-US" sz="2000" b="1" dirty="0">
                <a:solidFill>
                  <a:srgbClr val="1A1208"/>
                </a:solidFill>
                <a:latin typeface="Georgia" pitchFamily="34" charset="0"/>
                <a:ea typeface="Georgia" pitchFamily="34" charset="-122"/>
                <a:cs typeface="Georgia" pitchFamily="34" charset="-120"/>
              </a:rPr>
              <a:t>Tech Platform · Golden POS</a:t>
            </a:r>
            <a:endParaRPr lang="en-US" sz="2000" dirty="0"/>
          </a:p>
        </p:txBody>
      </p:sp>
      <p:sp>
        <p:nvSpPr>
          <p:cNvPr id="23" name="Text 21"/>
          <p:cNvSpPr/>
          <p:nvPr/>
        </p:nvSpPr>
        <p:spPr>
          <a:xfrm>
            <a:off x="6446520" y="5120640"/>
            <a:ext cx="4754880" cy="1097280"/>
          </a:xfrm>
          <a:prstGeom prst="rect">
            <a:avLst/>
          </a:prstGeom>
          <a:noFill/>
          <a:ln/>
        </p:spPr>
        <p:txBody>
          <a:bodyPr wrap="square" rtlCol="0" anchor="ctr"/>
          <a:lstStyle/>
          <a:p>
            <a:pPr indent="0" marL="0">
              <a:lnSpc>
                <a:spcPct val="140000"/>
              </a:lnSpc>
              <a:buNone/>
            </a:pPr>
            <a:r>
              <a:rPr lang="en-US" sz="1200" dirty="0">
                <a:solidFill>
                  <a:srgbClr val="4A3825"/>
                </a:solidFill>
                <a:latin typeface="Calibri" pitchFamily="34" charset="0"/>
                <a:ea typeface="Calibri" pitchFamily="34" charset="-122"/>
                <a:cs typeface="Calibri" pitchFamily="34" charset="-120"/>
              </a:rPr>
              <a:t>Internal POS + demand forecasting + customer data. Eventually licensed externally to other QSR operators.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208"/>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FAF6EA"/>
                </a:solidFill>
                <a:latin typeface="Georgia" pitchFamily="34" charset="0"/>
                <a:ea typeface="Georgia" pitchFamily="34" charset="-122"/>
                <a:cs typeface="Georgia" pitchFamily="34" charset="-120"/>
              </a:rPr>
              <a:t>The path to exit</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F5E2B8"/>
                </a:solidFill>
                <a:latin typeface="Calibri" pitchFamily="34" charset="0"/>
                <a:ea typeface="Calibri" pitchFamily="34" charset="-122"/>
                <a:cs typeface="Calibri" pitchFamily="34" charset="-120"/>
              </a:rPr>
              <a:t>Two exit windows modeled. Year 4 = PE / strategic. Year 7 = full Shipley scale.</a:t>
            </a:r>
            <a:endParaRPr lang="en-US" sz="1400" dirty="0"/>
          </a:p>
        </p:txBody>
      </p:sp>
      <p:sp>
        <p:nvSpPr>
          <p:cNvPr id="4" name="Shape 2"/>
          <p:cNvSpPr/>
          <p:nvPr/>
        </p:nvSpPr>
        <p:spPr>
          <a:xfrm>
            <a:off x="548640" y="1645920"/>
            <a:ext cx="5394960" cy="4114800"/>
          </a:xfrm>
          <a:prstGeom prst="rect">
            <a:avLst/>
          </a:prstGeom>
          <a:solidFill>
            <a:srgbClr val="4A3825"/>
          </a:solidFill>
          <a:ln w="12700">
            <a:solidFill>
              <a:srgbClr val="D99C2B"/>
            </a:solidFill>
            <a:prstDash val="solid"/>
          </a:ln>
        </p:spPr>
      </p:sp>
      <p:sp>
        <p:nvSpPr>
          <p:cNvPr id="5" name="Text 3"/>
          <p:cNvSpPr/>
          <p:nvPr/>
        </p:nvSpPr>
        <p:spPr>
          <a:xfrm>
            <a:off x="914400" y="1828800"/>
            <a:ext cx="4663440" cy="274320"/>
          </a:xfrm>
          <a:prstGeom prst="rect">
            <a:avLst/>
          </a:prstGeom>
          <a:noFill/>
          <a:ln/>
        </p:spPr>
        <p:txBody>
          <a:bodyPr wrap="square" rtlCol="0" anchor="ctr"/>
          <a:lstStyle/>
          <a:p>
            <a:pPr indent="0" marL="0">
              <a:buNone/>
            </a:pPr>
            <a:r>
              <a:rPr lang="en-US" sz="1100" b="1" spc="300" kern="0" dirty="0">
                <a:solidFill>
                  <a:srgbClr val="D99C2B"/>
                </a:solidFill>
                <a:latin typeface="Calibri" pitchFamily="34" charset="0"/>
                <a:ea typeface="Calibri" pitchFamily="34" charset="-122"/>
                <a:cs typeface="Calibri" pitchFamily="34" charset="-120"/>
              </a:rPr>
              <a:t>YEAR 4 EXIT WINDOW</a:t>
            </a:r>
            <a:endParaRPr lang="en-US" sz="1100" dirty="0"/>
          </a:p>
        </p:txBody>
      </p:sp>
      <p:sp>
        <p:nvSpPr>
          <p:cNvPr id="6" name="Text 4"/>
          <p:cNvSpPr/>
          <p:nvPr/>
        </p:nvSpPr>
        <p:spPr>
          <a:xfrm>
            <a:off x="914400" y="2286000"/>
            <a:ext cx="4663440" cy="1280160"/>
          </a:xfrm>
          <a:prstGeom prst="rect">
            <a:avLst/>
          </a:prstGeom>
          <a:noFill/>
          <a:ln/>
        </p:spPr>
        <p:txBody>
          <a:bodyPr wrap="square" rtlCol="0" anchor="ctr"/>
          <a:lstStyle/>
          <a:p>
            <a:pPr indent="0" marL="0">
              <a:buNone/>
            </a:pPr>
            <a:r>
              <a:rPr lang="en-US" sz="5600" b="1" dirty="0">
                <a:solidFill>
                  <a:srgbClr val="FAF6EA"/>
                </a:solidFill>
                <a:latin typeface="Georgia" pitchFamily="34" charset="0"/>
                <a:ea typeface="Georgia" pitchFamily="34" charset="-122"/>
                <a:cs typeface="Georgia" pitchFamily="34" charset="-120"/>
              </a:rPr>
              <a:t>$80-120M</a:t>
            </a:r>
            <a:endParaRPr lang="en-US" sz="5600" dirty="0"/>
          </a:p>
        </p:txBody>
      </p:sp>
      <p:sp>
        <p:nvSpPr>
          <p:cNvPr id="7" name="Text 5"/>
          <p:cNvSpPr/>
          <p:nvPr/>
        </p:nvSpPr>
        <p:spPr>
          <a:xfrm>
            <a:off x="914400" y="3749040"/>
            <a:ext cx="4663440" cy="457200"/>
          </a:xfrm>
          <a:prstGeom prst="rect">
            <a:avLst/>
          </a:prstGeom>
          <a:noFill/>
          <a:ln/>
        </p:spPr>
        <p:txBody>
          <a:bodyPr wrap="square" rtlCol="0" anchor="ctr"/>
          <a:lstStyle/>
          <a:p>
            <a:pPr indent="0" marL="0">
              <a:buNone/>
            </a:pPr>
            <a:r>
              <a:rPr lang="en-US" sz="1800" i="1" dirty="0">
                <a:solidFill>
                  <a:srgbClr val="F5E2B8"/>
                </a:solidFill>
                <a:latin typeface="Georgia" pitchFamily="34" charset="0"/>
                <a:ea typeface="Georgia" pitchFamily="34" charset="-122"/>
                <a:cs typeface="Georgia" pitchFamily="34" charset="-120"/>
              </a:rPr>
              <a:t>PE or strategic acquisition</a:t>
            </a:r>
            <a:endParaRPr lang="en-US" sz="1800" dirty="0"/>
          </a:p>
        </p:txBody>
      </p:sp>
      <p:sp>
        <p:nvSpPr>
          <p:cNvPr id="8" name="Text 6"/>
          <p:cNvSpPr/>
          <p:nvPr/>
        </p:nvSpPr>
        <p:spPr>
          <a:xfrm>
            <a:off x="914400" y="4389120"/>
            <a:ext cx="4663440" cy="1280160"/>
          </a:xfrm>
          <a:prstGeom prst="rect">
            <a:avLst/>
          </a:prstGeom>
          <a:noFill/>
          <a:ln/>
        </p:spPr>
        <p:txBody>
          <a:bodyPr wrap="square" rtlCol="0" anchor="ctr"/>
          <a:lstStyle/>
          <a:p>
            <a:pPr indent="0" marL="0">
              <a:lnSpc>
                <a:spcPct val="150000"/>
              </a:lnSpc>
              <a:buNone/>
            </a:pPr>
            <a:r>
              <a:rPr lang="en-US" sz="1300" dirty="0">
                <a:solidFill>
                  <a:srgbClr val="D4C09B"/>
                </a:solidFill>
                <a:latin typeface="Calibri" pitchFamily="34" charset="0"/>
                <a:ea typeface="Calibri" pitchFamily="34" charset="-122"/>
                <a:cs typeface="Calibri" pitchFamily="34" charset="-120"/>
              </a:rPr>
              <a:t>25-35 shops · $10-15M ARR · 6-10× multiple · Reach Krispy Kreme JAB-era trajectory or Dave's Hot Chicken Roark pace.</a:t>
            </a:r>
            <a:endParaRPr lang="en-US" sz="1300" dirty="0"/>
          </a:p>
        </p:txBody>
      </p:sp>
      <p:sp>
        <p:nvSpPr>
          <p:cNvPr id="9" name="Shape 7"/>
          <p:cNvSpPr/>
          <p:nvPr/>
        </p:nvSpPr>
        <p:spPr>
          <a:xfrm>
            <a:off x="6126480" y="1645920"/>
            <a:ext cx="5394960" cy="4114800"/>
          </a:xfrm>
          <a:prstGeom prst="rect">
            <a:avLst/>
          </a:prstGeom>
          <a:solidFill>
            <a:srgbClr val="4A3825"/>
          </a:solidFill>
          <a:ln w="12700">
            <a:solidFill>
              <a:srgbClr val="D99C2B"/>
            </a:solidFill>
            <a:prstDash val="solid"/>
          </a:ln>
        </p:spPr>
      </p:sp>
      <p:sp>
        <p:nvSpPr>
          <p:cNvPr id="10" name="Text 8"/>
          <p:cNvSpPr/>
          <p:nvPr/>
        </p:nvSpPr>
        <p:spPr>
          <a:xfrm>
            <a:off x="6492240" y="1828800"/>
            <a:ext cx="4663440" cy="274320"/>
          </a:xfrm>
          <a:prstGeom prst="rect">
            <a:avLst/>
          </a:prstGeom>
          <a:noFill/>
          <a:ln/>
        </p:spPr>
        <p:txBody>
          <a:bodyPr wrap="square" rtlCol="0" anchor="ctr"/>
          <a:lstStyle/>
          <a:p>
            <a:pPr indent="0" marL="0">
              <a:buNone/>
            </a:pPr>
            <a:r>
              <a:rPr lang="en-US" sz="1100" b="1" spc="300" kern="0" dirty="0">
                <a:solidFill>
                  <a:srgbClr val="D99C2B"/>
                </a:solidFill>
                <a:latin typeface="Calibri" pitchFamily="34" charset="0"/>
                <a:ea typeface="Calibri" pitchFamily="34" charset="-122"/>
                <a:cs typeface="Calibri" pitchFamily="34" charset="-120"/>
              </a:rPr>
              <a:t>YEAR 7 SHIPLEY SCALE</a:t>
            </a:r>
            <a:endParaRPr lang="en-US" sz="1100" dirty="0"/>
          </a:p>
        </p:txBody>
      </p:sp>
      <p:sp>
        <p:nvSpPr>
          <p:cNvPr id="11" name="Text 9"/>
          <p:cNvSpPr/>
          <p:nvPr/>
        </p:nvSpPr>
        <p:spPr>
          <a:xfrm>
            <a:off x="6492240" y="2286000"/>
            <a:ext cx="4663440" cy="1280160"/>
          </a:xfrm>
          <a:prstGeom prst="rect">
            <a:avLst/>
          </a:prstGeom>
          <a:noFill/>
          <a:ln/>
        </p:spPr>
        <p:txBody>
          <a:bodyPr wrap="square" rtlCol="0" anchor="ctr"/>
          <a:lstStyle/>
          <a:p>
            <a:pPr indent="0" marL="0">
              <a:buNone/>
            </a:pPr>
            <a:r>
              <a:rPr lang="en-US" sz="5600" b="1" dirty="0">
                <a:solidFill>
                  <a:srgbClr val="FAF6EA"/>
                </a:solidFill>
                <a:latin typeface="Georgia" pitchFamily="34" charset="0"/>
                <a:ea typeface="Georgia" pitchFamily="34" charset="-122"/>
                <a:cs typeface="Georgia" pitchFamily="34" charset="-120"/>
              </a:rPr>
              <a:t>$200-400M</a:t>
            </a:r>
            <a:endParaRPr lang="en-US" sz="5600" dirty="0"/>
          </a:p>
        </p:txBody>
      </p:sp>
      <p:sp>
        <p:nvSpPr>
          <p:cNvPr id="12" name="Text 10"/>
          <p:cNvSpPr/>
          <p:nvPr/>
        </p:nvSpPr>
        <p:spPr>
          <a:xfrm>
            <a:off x="6492240" y="3749040"/>
            <a:ext cx="4663440" cy="457200"/>
          </a:xfrm>
          <a:prstGeom prst="rect">
            <a:avLst/>
          </a:prstGeom>
          <a:noFill/>
          <a:ln/>
        </p:spPr>
        <p:txBody>
          <a:bodyPr wrap="square" rtlCol="0" anchor="ctr"/>
          <a:lstStyle/>
          <a:p>
            <a:pPr indent="0" marL="0">
              <a:buNone/>
            </a:pPr>
            <a:r>
              <a:rPr lang="en-US" sz="1800" i="1" dirty="0">
                <a:solidFill>
                  <a:srgbClr val="F5E2B8"/>
                </a:solidFill>
                <a:latin typeface="Georgia" pitchFamily="34" charset="0"/>
                <a:ea typeface="Georgia" pitchFamily="34" charset="-122"/>
                <a:cs typeface="Georgia" pitchFamily="34" charset="-120"/>
              </a:rPr>
              <a:t>Franchise platform + supply</a:t>
            </a:r>
            <a:endParaRPr lang="en-US" sz="1800" dirty="0"/>
          </a:p>
        </p:txBody>
      </p:sp>
      <p:sp>
        <p:nvSpPr>
          <p:cNvPr id="13" name="Text 11"/>
          <p:cNvSpPr/>
          <p:nvPr/>
        </p:nvSpPr>
        <p:spPr>
          <a:xfrm>
            <a:off x="6492240" y="4389120"/>
            <a:ext cx="4663440" cy="1280160"/>
          </a:xfrm>
          <a:prstGeom prst="rect">
            <a:avLst/>
          </a:prstGeom>
          <a:noFill/>
          <a:ln/>
        </p:spPr>
        <p:txBody>
          <a:bodyPr wrap="square" rtlCol="0" anchor="ctr"/>
          <a:lstStyle/>
          <a:p>
            <a:pPr indent="0" marL="0">
              <a:lnSpc>
                <a:spcPct val="150000"/>
              </a:lnSpc>
              <a:buNone/>
            </a:pPr>
            <a:r>
              <a:rPr lang="en-US" sz="1300" dirty="0">
                <a:solidFill>
                  <a:srgbClr val="D4C09B"/>
                </a:solidFill>
                <a:latin typeface="Calibri" pitchFamily="34" charset="0"/>
                <a:ea typeface="Calibri" pitchFamily="34" charset="-122"/>
                <a:cs typeface="Calibri" pitchFamily="34" charset="-120"/>
              </a:rPr>
              <a:t>100+ stores or meaningful wholesale. Shipley Do-Nuts sold to Levine Leichtman at this scale July 2025.</a:t>
            </a:r>
            <a:endParaRPr lang="en-US" sz="1300" dirty="0"/>
          </a:p>
        </p:txBody>
      </p:sp>
      <p:sp>
        <p:nvSpPr>
          <p:cNvPr id="14" name="Text 12"/>
          <p:cNvSpPr/>
          <p:nvPr/>
        </p:nvSpPr>
        <p:spPr>
          <a:xfrm>
            <a:off x="548640" y="5943600"/>
            <a:ext cx="11064240" cy="457200"/>
          </a:xfrm>
          <a:prstGeom prst="rect">
            <a:avLst/>
          </a:prstGeom>
          <a:noFill/>
          <a:ln/>
        </p:spPr>
        <p:txBody>
          <a:bodyPr wrap="square" rtlCol="0" anchor="ctr"/>
          <a:lstStyle/>
          <a:p>
            <a:pPr algn="ctr" indent="0" marL="0">
              <a:buNone/>
            </a:pPr>
            <a:r>
              <a:rPr lang="en-US" sz="1300" i="1" dirty="0">
                <a:solidFill>
                  <a:srgbClr val="F5E2B8"/>
                </a:solidFill>
                <a:latin typeface="Calibri" pitchFamily="34" charset="0"/>
                <a:ea typeface="Calibri" pitchFamily="34" charset="-122"/>
                <a:cs typeface="Calibri" pitchFamily="34" charset="-120"/>
              </a:rPr>
              <a:t>These are not unicorn fantasies. Every comp listed reached these valuations on real revenue, not pre-revenue hype.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The real comparables</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Six exits and IPOs over 4 years. None were pre-revenue unicorns. Every one built revenue first.</a:t>
            </a:r>
            <a:endParaRPr lang="en-US" sz="1400" dirty="0"/>
          </a:p>
        </p:txBody>
      </p:sp>
      <p:sp>
        <p:nvSpPr>
          <p:cNvPr id="4" name="Shape 2"/>
          <p:cNvSpPr/>
          <p:nvPr/>
        </p:nvSpPr>
        <p:spPr>
          <a:xfrm>
            <a:off x="548640" y="1554480"/>
            <a:ext cx="3566160" cy="2194560"/>
          </a:xfrm>
          <a:prstGeom prst="rect">
            <a:avLst/>
          </a:prstGeom>
          <a:solidFill>
            <a:srgbClr val="FAF6EA"/>
          </a:solidFill>
          <a:ln w="12700">
            <a:solidFill>
              <a:srgbClr val="F8EFD7"/>
            </a:solidFill>
            <a:prstDash val="solid"/>
          </a:ln>
        </p:spPr>
      </p:sp>
      <p:sp>
        <p:nvSpPr>
          <p:cNvPr id="5" name="Text 3"/>
          <p:cNvSpPr/>
          <p:nvPr/>
        </p:nvSpPr>
        <p:spPr>
          <a:xfrm>
            <a:off x="822960" y="1783080"/>
            <a:ext cx="3200400" cy="274320"/>
          </a:xfrm>
          <a:prstGeom prst="rect">
            <a:avLst/>
          </a:prstGeom>
          <a:noFill/>
          <a:ln/>
        </p:spPr>
        <p:txBody>
          <a:bodyPr wrap="square" rtlCol="0" anchor="ctr"/>
          <a:lstStyle/>
          <a:p>
            <a:pPr indent="0" marL="0">
              <a:buNone/>
            </a:pPr>
            <a:r>
              <a:rPr lang="en-US" sz="950" b="1" spc="300" kern="0" dirty="0">
                <a:solidFill>
                  <a:srgbClr val="A87618"/>
                </a:solidFill>
                <a:latin typeface="Calibri" pitchFamily="34" charset="0"/>
                <a:ea typeface="Calibri" pitchFamily="34" charset="-122"/>
                <a:cs typeface="Calibri" pitchFamily="34" charset="-120"/>
              </a:rPr>
              <a:t>DIRECT MODEL</a:t>
            </a:r>
            <a:endParaRPr lang="en-US" sz="950" dirty="0"/>
          </a:p>
        </p:txBody>
      </p:sp>
      <p:sp>
        <p:nvSpPr>
          <p:cNvPr id="6" name="Text 4"/>
          <p:cNvSpPr/>
          <p:nvPr/>
        </p:nvSpPr>
        <p:spPr>
          <a:xfrm>
            <a:off x="822960" y="2103120"/>
            <a:ext cx="3200400" cy="45720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Shipley Do-Nuts</a:t>
            </a:r>
            <a:endParaRPr lang="en-US" sz="1800" dirty="0"/>
          </a:p>
        </p:txBody>
      </p:sp>
      <p:sp>
        <p:nvSpPr>
          <p:cNvPr id="7" name="Text 5"/>
          <p:cNvSpPr/>
          <p:nvPr/>
        </p:nvSpPr>
        <p:spPr>
          <a:xfrm>
            <a:off x="822960" y="2651760"/>
            <a:ext cx="3200400" cy="640080"/>
          </a:xfrm>
          <a:prstGeom prst="rect">
            <a:avLst/>
          </a:prstGeom>
          <a:noFill/>
          <a:ln/>
        </p:spPr>
        <p:txBody>
          <a:bodyPr wrap="square" rtlCol="0" anchor="ctr"/>
          <a:lstStyle/>
          <a:p>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Houston · ~380 stores · 2× value in 4-yr PE hold</a:t>
            </a:r>
            <a:endParaRPr lang="en-US" sz="1100" dirty="0"/>
          </a:p>
        </p:txBody>
      </p:sp>
      <p:sp>
        <p:nvSpPr>
          <p:cNvPr id="8" name="Text 6"/>
          <p:cNvSpPr/>
          <p:nvPr/>
        </p:nvSpPr>
        <p:spPr>
          <a:xfrm>
            <a:off x="822960" y="3246120"/>
            <a:ext cx="3200400" cy="365760"/>
          </a:xfrm>
          <a:prstGeom prst="rect">
            <a:avLst/>
          </a:prstGeom>
          <a:noFill/>
          <a:ln/>
        </p:spPr>
        <p:txBody>
          <a:bodyPr wrap="square" rtlCol="0" anchor="ctr"/>
          <a:lstStyle/>
          <a:p>
            <a:pPr indent="0" marL="0">
              <a:lnSpc>
                <a:spcPct val="130000"/>
              </a:lnSpc>
              <a:buNone/>
            </a:pPr>
            <a:r>
              <a:rPr lang="en-US" sz="1000" i="1" dirty="0">
                <a:solidFill>
                  <a:srgbClr val="8B6E3D"/>
                </a:solidFill>
                <a:latin typeface="Calibri" pitchFamily="34" charset="0"/>
                <a:ea typeface="Calibri" pitchFamily="34" charset="-122"/>
                <a:cs typeface="Calibri" pitchFamily="34" charset="-120"/>
              </a:rPr>
              <a:t>Peak Rock 2021 → Levine Leichtman 2025</a:t>
            </a:r>
            <a:endParaRPr lang="en-US" sz="1000" dirty="0"/>
          </a:p>
        </p:txBody>
      </p:sp>
      <p:sp>
        <p:nvSpPr>
          <p:cNvPr id="9" name="Shape 7"/>
          <p:cNvSpPr/>
          <p:nvPr/>
        </p:nvSpPr>
        <p:spPr>
          <a:xfrm>
            <a:off x="4297680" y="1554480"/>
            <a:ext cx="3566160" cy="2194560"/>
          </a:xfrm>
          <a:prstGeom prst="rect">
            <a:avLst/>
          </a:prstGeom>
          <a:solidFill>
            <a:srgbClr val="FAF6EA"/>
          </a:solidFill>
          <a:ln w="12700">
            <a:solidFill>
              <a:srgbClr val="F8EFD7"/>
            </a:solidFill>
            <a:prstDash val="solid"/>
          </a:ln>
        </p:spPr>
      </p:sp>
      <p:sp>
        <p:nvSpPr>
          <p:cNvPr id="10" name="Text 8"/>
          <p:cNvSpPr/>
          <p:nvPr/>
        </p:nvSpPr>
        <p:spPr>
          <a:xfrm>
            <a:off x="4572000" y="1783080"/>
            <a:ext cx="3200400" cy="274320"/>
          </a:xfrm>
          <a:prstGeom prst="rect">
            <a:avLst/>
          </a:prstGeom>
          <a:noFill/>
          <a:ln/>
        </p:spPr>
        <p:txBody>
          <a:bodyPr wrap="square" rtlCol="0" anchor="ctr"/>
          <a:lstStyle/>
          <a:p>
            <a:pPr indent="0" marL="0">
              <a:buNone/>
            </a:pPr>
            <a:r>
              <a:rPr lang="en-US" sz="950" b="1" spc="300" kern="0" dirty="0">
                <a:solidFill>
                  <a:srgbClr val="A87618"/>
                </a:solidFill>
                <a:latin typeface="Calibri" pitchFamily="34" charset="0"/>
                <a:ea typeface="Calibri" pitchFamily="34" charset="-122"/>
                <a:cs typeface="Calibri" pitchFamily="34" charset="-120"/>
              </a:rPr>
              <a:t>CULTURAL MATCH</a:t>
            </a:r>
            <a:endParaRPr lang="en-US" sz="950" dirty="0"/>
          </a:p>
        </p:txBody>
      </p:sp>
      <p:sp>
        <p:nvSpPr>
          <p:cNvPr id="11" name="Text 9"/>
          <p:cNvSpPr/>
          <p:nvPr/>
        </p:nvSpPr>
        <p:spPr>
          <a:xfrm>
            <a:off x="4572000" y="2103120"/>
            <a:ext cx="3200400" cy="45720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Mochinut</a:t>
            </a:r>
            <a:endParaRPr lang="en-US" sz="1800" dirty="0"/>
          </a:p>
        </p:txBody>
      </p:sp>
      <p:sp>
        <p:nvSpPr>
          <p:cNvPr id="12" name="Text 10"/>
          <p:cNvSpPr/>
          <p:nvPr/>
        </p:nvSpPr>
        <p:spPr>
          <a:xfrm>
            <a:off x="4572000" y="2651760"/>
            <a:ext cx="3200400" cy="640080"/>
          </a:xfrm>
          <a:prstGeom prst="rect">
            <a:avLst/>
          </a:prstGeom>
          <a:noFill/>
          <a:ln/>
        </p:spPr>
        <p:txBody>
          <a:bodyPr wrap="square" rtlCol="0" anchor="ctr"/>
          <a:lstStyle/>
          <a:p>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148+ units · 2017-20 founded · $400K-$1M AUV</a:t>
            </a:r>
            <a:endParaRPr lang="en-US" sz="1100" dirty="0"/>
          </a:p>
        </p:txBody>
      </p:sp>
      <p:sp>
        <p:nvSpPr>
          <p:cNvPr id="13" name="Text 11"/>
          <p:cNvSpPr/>
          <p:nvPr/>
        </p:nvSpPr>
        <p:spPr>
          <a:xfrm>
            <a:off x="4572000" y="3246120"/>
            <a:ext cx="3200400" cy="365760"/>
          </a:xfrm>
          <a:prstGeom prst="rect">
            <a:avLst/>
          </a:prstGeom>
          <a:noFill/>
          <a:ln/>
        </p:spPr>
        <p:txBody>
          <a:bodyPr wrap="square" rtlCol="0" anchor="ctr"/>
          <a:lstStyle/>
          <a:p>
            <a:pPr indent="0" marL="0">
              <a:lnSpc>
                <a:spcPct val="130000"/>
              </a:lnSpc>
              <a:buNone/>
            </a:pPr>
            <a:r>
              <a:rPr lang="en-US" sz="1000" i="1" dirty="0">
                <a:solidFill>
                  <a:srgbClr val="8B6E3D"/>
                </a:solidFill>
                <a:latin typeface="Calibri" pitchFamily="34" charset="0"/>
                <a:ea typeface="Calibri" pitchFamily="34" charset="-122"/>
                <a:cs typeface="Calibri" pitchFamily="34" charset="-120"/>
              </a:rPr>
              <a:t>Mochi donuts + boba · Asian-American positioning</a:t>
            </a:r>
            <a:endParaRPr lang="en-US" sz="1000" dirty="0"/>
          </a:p>
        </p:txBody>
      </p:sp>
      <p:sp>
        <p:nvSpPr>
          <p:cNvPr id="14" name="Shape 12"/>
          <p:cNvSpPr/>
          <p:nvPr/>
        </p:nvSpPr>
        <p:spPr>
          <a:xfrm>
            <a:off x="8046720" y="1554480"/>
            <a:ext cx="3566160" cy="2194560"/>
          </a:xfrm>
          <a:prstGeom prst="rect">
            <a:avLst/>
          </a:prstGeom>
          <a:solidFill>
            <a:srgbClr val="FAF6EA"/>
          </a:solidFill>
          <a:ln w="12700">
            <a:solidFill>
              <a:srgbClr val="F8EFD7"/>
            </a:solidFill>
            <a:prstDash val="solid"/>
          </a:ln>
        </p:spPr>
      </p:sp>
      <p:sp>
        <p:nvSpPr>
          <p:cNvPr id="15" name="Text 13"/>
          <p:cNvSpPr/>
          <p:nvPr/>
        </p:nvSpPr>
        <p:spPr>
          <a:xfrm>
            <a:off x="8321040" y="1783080"/>
            <a:ext cx="3200400" cy="274320"/>
          </a:xfrm>
          <a:prstGeom prst="rect">
            <a:avLst/>
          </a:prstGeom>
          <a:noFill/>
          <a:ln/>
        </p:spPr>
        <p:txBody>
          <a:bodyPr wrap="square" rtlCol="0" anchor="ctr"/>
          <a:lstStyle/>
          <a:p>
            <a:pPr indent="0" marL="0">
              <a:buNone/>
            </a:pPr>
            <a:r>
              <a:rPr lang="en-US" sz="950" b="1" spc="300" kern="0" dirty="0">
                <a:solidFill>
                  <a:srgbClr val="A87618"/>
                </a:solidFill>
                <a:latin typeface="Calibri" pitchFamily="34" charset="0"/>
                <a:ea typeface="Calibri" pitchFamily="34" charset="-122"/>
                <a:cs typeface="Calibri" pitchFamily="34" charset="-120"/>
              </a:rPr>
              <a:t>PACE BENCHMARK</a:t>
            </a:r>
            <a:endParaRPr lang="en-US" sz="950" dirty="0"/>
          </a:p>
        </p:txBody>
      </p:sp>
      <p:sp>
        <p:nvSpPr>
          <p:cNvPr id="16" name="Text 14"/>
          <p:cNvSpPr/>
          <p:nvPr/>
        </p:nvSpPr>
        <p:spPr>
          <a:xfrm>
            <a:off x="8321040" y="2103120"/>
            <a:ext cx="3200400" cy="45720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Dave's Hot Chicken</a:t>
            </a:r>
            <a:endParaRPr lang="en-US" sz="1800" dirty="0"/>
          </a:p>
        </p:txBody>
      </p:sp>
      <p:sp>
        <p:nvSpPr>
          <p:cNvPr id="17" name="Text 15"/>
          <p:cNvSpPr/>
          <p:nvPr/>
        </p:nvSpPr>
        <p:spPr>
          <a:xfrm>
            <a:off x="8321040" y="2651760"/>
            <a:ext cx="3200400" cy="640080"/>
          </a:xfrm>
          <a:prstGeom prst="rect">
            <a:avLst/>
          </a:prstGeom>
          <a:noFill/>
          <a:ln/>
        </p:spPr>
        <p:txBody>
          <a:bodyPr wrap="square" rtlCol="0" anchor="ctr"/>
          <a:lstStyle/>
          <a:p>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$22M (2020) → $617M (2024) → $1B exit</a:t>
            </a:r>
            <a:endParaRPr lang="en-US" sz="1100" dirty="0"/>
          </a:p>
        </p:txBody>
      </p:sp>
      <p:sp>
        <p:nvSpPr>
          <p:cNvPr id="18" name="Text 16"/>
          <p:cNvSpPr/>
          <p:nvPr/>
        </p:nvSpPr>
        <p:spPr>
          <a:xfrm>
            <a:off x="8321040" y="3246120"/>
            <a:ext cx="3200400" cy="365760"/>
          </a:xfrm>
          <a:prstGeom prst="rect">
            <a:avLst/>
          </a:prstGeom>
          <a:noFill/>
          <a:ln/>
        </p:spPr>
        <p:txBody>
          <a:bodyPr wrap="square" rtlCol="0" anchor="ctr"/>
          <a:lstStyle/>
          <a:p>
            <a:pPr indent="0" marL="0">
              <a:lnSpc>
                <a:spcPct val="130000"/>
              </a:lnSpc>
              <a:buNone/>
            </a:pPr>
            <a:r>
              <a:rPr lang="en-US" sz="1000" i="1" dirty="0">
                <a:solidFill>
                  <a:srgbClr val="8B6E3D"/>
                </a:solidFill>
                <a:latin typeface="Calibri" pitchFamily="34" charset="0"/>
                <a:ea typeface="Calibri" pitchFamily="34" charset="-122"/>
                <a:cs typeface="Calibri" pitchFamily="34" charset="-120"/>
              </a:rPr>
              <a:t>Roark Capital June 2025 · 8× revenue multiple</a:t>
            </a:r>
            <a:endParaRPr lang="en-US" sz="1000" dirty="0"/>
          </a:p>
        </p:txBody>
      </p:sp>
      <p:sp>
        <p:nvSpPr>
          <p:cNvPr id="19" name="Shape 17"/>
          <p:cNvSpPr/>
          <p:nvPr/>
        </p:nvSpPr>
        <p:spPr>
          <a:xfrm>
            <a:off x="548640" y="3931920"/>
            <a:ext cx="3566160" cy="2194560"/>
          </a:xfrm>
          <a:prstGeom prst="rect">
            <a:avLst/>
          </a:prstGeom>
          <a:solidFill>
            <a:srgbClr val="FAF6EA"/>
          </a:solidFill>
          <a:ln w="12700">
            <a:solidFill>
              <a:srgbClr val="F8EFD7"/>
            </a:solidFill>
            <a:prstDash val="solid"/>
          </a:ln>
        </p:spPr>
      </p:sp>
      <p:sp>
        <p:nvSpPr>
          <p:cNvPr id="20" name="Text 18"/>
          <p:cNvSpPr/>
          <p:nvPr/>
        </p:nvSpPr>
        <p:spPr>
          <a:xfrm>
            <a:off x="822960" y="4160520"/>
            <a:ext cx="3200400" cy="274320"/>
          </a:xfrm>
          <a:prstGeom prst="rect">
            <a:avLst/>
          </a:prstGeom>
          <a:noFill/>
          <a:ln/>
        </p:spPr>
        <p:txBody>
          <a:bodyPr wrap="square" rtlCol="0" anchor="ctr"/>
          <a:lstStyle/>
          <a:p>
            <a:pPr indent="0" marL="0">
              <a:buNone/>
            </a:pPr>
            <a:r>
              <a:rPr lang="en-US" sz="950" b="1" spc="300" kern="0" dirty="0">
                <a:solidFill>
                  <a:srgbClr val="A87618"/>
                </a:solidFill>
                <a:latin typeface="Calibri" pitchFamily="34" charset="0"/>
                <a:ea typeface="Calibri" pitchFamily="34" charset="-122"/>
                <a:cs typeface="Calibri" pitchFamily="34" charset="-120"/>
              </a:rPr>
              <a:t>DIRECT CATEGORY</a:t>
            </a:r>
            <a:endParaRPr lang="en-US" sz="950" dirty="0"/>
          </a:p>
        </p:txBody>
      </p:sp>
      <p:sp>
        <p:nvSpPr>
          <p:cNvPr id="21" name="Text 19"/>
          <p:cNvSpPr/>
          <p:nvPr/>
        </p:nvSpPr>
        <p:spPr>
          <a:xfrm>
            <a:off x="822960" y="4480560"/>
            <a:ext cx="3200400" cy="45720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Krispy Kreme</a:t>
            </a:r>
            <a:endParaRPr lang="en-US" sz="1800" dirty="0"/>
          </a:p>
        </p:txBody>
      </p:sp>
      <p:sp>
        <p:nvSpPr>
          <p:cNvPr id="22" name="Text 20"/>
          <p:cNvSpPr/>
          <p:nvPr/>
        </p:nvSpPr>
        <p:spPr>
          <a:xfrm>
            <a:off x="822960" y="5029200"/>
            <a:ext cx="3200400" cy="640080"/>
          </a:xfrm>
          <a:prstGeom prst="rect">
            <a:avLst/>
          </a:prstGeom>
          <a:noFill/>
          <a:ln/>
        </p:spPr>
        <p:txBody>
          <a:bodyPr wrap="square" rtlCol="0" anchor="ctr"/>
          <a:lstStyle/>
          <a:p>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$1.35B (JAB 2016) → $3.8B IPO (2021)</a:t>
            </a:r>
            <a:endParaRPr lang="en-US" sz="1100" dirty="0"/>
          </a:p>
        </p:txBody>
      </p:sp>
      <p:sp>
        <p:nvSpPr>
          <p:cNvPr id="23" name="Text 21"/>
          <p:cNvSpPr/>
          <p:nvPr/>
        </p:nvSpPr>
        <p:spPr>
          <a:xfrm>
            <a:off x="822960" y="5623560"/>
            <a:ext cx="3200400" cy="365760"/>
          </a:xfrm>
          <a:prstGeom prst="rect">
            <a:avLst/>
          </a:prstGeom>
          <a:noFill/>
          <a:ln/>
        </p:spPr>
        <p:txBody>
          <a:bodyPr wrap="square" rtlCol="0" anchor="ctr"/>
          <a:lstStyle/>
          <a:p>
            <a:pPr indent="0" marL="0">
              <a:lnSpc>
                <a:spcPct val="130000"/>
              </a:lnSpc>
              <a:buNone/>
            </a:pPr>
            <a:r>
              <a:rPr lang="en-US" sz="1000" i="1" dirty="0">
                <a:solidFill>
                  <a:srgbClr val="8B6E3D"/>
                </a:solidFill>
                <a:latin typeface="Calibri" pitchFamily="34" charset="0"/>
                <a:ea typeface="Calibri" pitchFamily="34" charset="-122"/>
                <a:cs typeface="Calibri" pitchFamily="34" charset="-120"/>
              </a:rPr>
              <a:t>Hub-and-spoke supply model · 5-yr PE hold</a:t>
            </a:r>
            <a:endParaRPr lang="en-US" sz="1000" dirty="0"/>
          </a:p>
        </p:txBody>
      </p:sp>
      <p:sp>
        <p:nvSpPr>
          <p:cNvPr id="24" name="Shape 22"/>
          <p:cNvSpPr/>
          <p:nvPr/>
        </p:nvSpPr>
        <p:spPr>
          <a:xfrm>
            <a:off x="4297680" y="3931920"/>
            <a:ext cx="3566160" cy="2194560"/>
          </a:xfrm>
          <a:prstGeom prst="rect">
            <a:avLst/>
          </a:prstGeom>
          <a:solidFill>
            <a:srgbClr val="FAF6EA"/>
          </a:solidFill>
          <a:ln w="12700">
            <a:solidFill>
              <a:srgbClr val="F8EFD7"/>
            </a:solidFill>
            <a:prstDash val="solid"/>
          </a:ln>
        </p:spPr>
      </p:sp>
      <p:sp>
        <p:nvSpPr>
          <p:cNvPr id="25" name="Text 23"/>
          <p:cNvSpPr/>
          <p:nvPr/>
        </p:nvSpPr>
        <p:spPr>
          <a:xfrm>
            <a:off x="4572000" y="4160520"/>
            <a:ext cx="3200400" cy="274320"/>
          </a:xfrm>
          <a:prstGeom prst="rect">
            <a:avLst/>
          </a:prstGeom>
          <a:noFill/>
          <a:ln/>
        </p:spPr>
        <p:txBody>
          <a:bodyPr wrap="square" rtlCol="0" anchor="ctr"/>
          <a:lstStyle/>
          <a:p>
            <a:pPr indent="0" marL="0">
              <a:buNone/>
            </a:pPr>
            <a:r>
              <a:rPr lang="en-US" sz="950" b="1" spc="300" kern="0" dirty="0">
                <a:solidFill>
                  <a:srgbClr val="A87618"/>
                </a:solidFill>
                <a:latin typeface="Calibri" pitchFamily="34" charset="0"/>
                <a:ea typeface="Calibri" pitchFamily="34" charset="-122"/>
                <a:cs typeface="Calibri" pitchFamily="34" charset="-120"/>
              </a:rPr>
              <a:t>PUBLIC MULTIPLE</a:t>
            </a:r>
            <a:endParaRPr lang="en-US" sz="950" dirty="0"/>
          </a:p>
        </p:txBody>
      </p:sp>
      <p:sp>
        <p:nvSpPr>
          <p:cNvPr id="26" name="Text 24"/>
          <p:cNvSpPr/>
          <p:nvPr/>
        </p:nvSpPr>
        <p:spPr>
          <a:xfrm>
            <a:off x="4572000" y="4480560"/>
            <a:ext cx="3200400" cy="45720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Cava</a:t>
            </a:r>
            <a:endParaRPr lang="en-US" sz="1800" dirty="0"/>
          </a:p>
        </p:txBody>
      </p:sp>
      <p:sp>
        <p:nvSpPr>
          <p:cNvPr id="27" name="Text 25"/>
          <p:cNvSpPr/>
          <p:nvPr/>
        </p:nvSpPr>
        <p:spPr>
          <a:xfrm>
            <a:off x="4572000" y="5029200"/>
            <a:ext cx="3200400" cy="640080"/>
          </a:xfrm>
          <a:prstGeom prst="rect">
            <a:avLst/>
          </a:prstGeom>
          <a:noFill/>
          <a:ln/>
        </p:spPr>
        <p:txBody>
          <a:bodyPr wrap="square" rtlCol="0" anchor="ctr"/>
          <a:lstStyle/>
          <a:p>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$2.4B IPO on $700M rev · 3.5× revenue</a:t>
            </a:r>
            <a:endParaRPr lang="en-US" sz="1100" dirty="0"/>
          </a:p>
        </p:txBody>
      </p:sp>
      <p:sp>
        <p:nvSpPr>
          <p:cNvPr id="28" name="Text 26"/>
          <p:cNvSpPr/>
          <p:nvPr/>
        </p:nvSpPr>
        <p:spPr>
          <a:xfrm>
            <a:off x="4572000" y="5623560"/>
            <a:ext cx="3200400" cy="365760"/>
          </a:xfrm>
          <a:prstGeom prst="rect">
            <a:avLst/>
          </a:prstGeom>
          <a:noFill/>
          <a:ln/>
        </p:spPr>
        <p:txBody>
          <a:bodyPr wrap="square" rtlCol="0" anchor="ctr"/>
          <a:lstStyle/>
          <a:p>
            <a:pPr indent="0" marL="0">
              <a:lnSpc>
                <a:spcPct val="130000"/>
              </a:lnSpc>
              <a:buNone/>
            </a:pPr>
            <a:r>
              <a:rPr lang="en-US" sz="1000" i="1" dirty="0">
                <a:solidFill>
                  <a:srgbClr val="8B6E3D"/>
                </a:solidFill>
                <a:latin typeface="Calibri" pitchFamily="34" charset="0"/>
                <a:ea typeface="Calibri" pitchFamily="34" charset="-122"/>
                <a:cs typeface="Calibri" pitchFamily="34" charset="-120"/>
              </a:rPr>
              <a:t>The sustainable post-bubble fast-casual comp</a:t>
            </a:r>
            <a:endParaRPr lang="en-US" sz="1000" dirty="0"/>
          </a:p>
        </p:txBody>
      </p:sp>
      <p:sp>
        <p:nvSpPr>
          <p:cNvPr id="29" name="Shape 27"/>
          <p:cNvSpPr/>
          <p:nvPr/>
        </p:nvSpPr>
        <p:spPr>
          <a:xfrm>
            <a:off x="8046720" y="3931920"/>
            <a:ext cx="3566160" cy="2194560"/>
          </a:xfrm>
          <a:prstGeom prst="rect">
            <a:avLst/>
          </a:prstGeom>
          <a:solidFill>
            <a:srgbClr val="FAF6EA"/>
          </a:solidFill>
          <a:ln w="12700">
            <a:solidFill>
              <a:srgbClr val="F8EFD7"/>
            </a:solidFill>
            <a:prstDash val="solid"/>
          </a:ln>
        </p:spPr>
      </p:sp>
      <p:sp>
        <p:nvSpPr>
          <p:cNvPr id="30" name="Text 28"/>
          <p:cNvSpPr/>
          <p:nvPr/>
        </p:nvSpPr>
        <p:spPr>
          <a:xfrm>
            <a:off x="8321040" y="4160520"/>
            <a:ext cx="3200400" cy="274320"/>
          </a:xfrm>
          <a:prstGeom prst="rect">
            <a:avLst/>
          </a:prstGeom>
          <a:noFill/>
          <a:ln/>
        </p:spPr>
        <p:txBody>
          <a:bodyPr wrap="square" rtlCol="0" anchor="ctr"/>
          <a:lstStyle/>
          <a:p>
            <a:pPr indent="0" marL="0">
              <a:buNone/>
            </a:pPr>
            <a:r>
              <a:rPr lang="en-US" sz="950" b="1" spc="300" kern="0" dirty="0">
                <a:solidFill>
                  <a:srgbClr val="A87618"/>
                </a:solidFill>
                <a:latin typeface="Calibri" pitchFamily="34" charset="0"/>
                <a:ea typeface="Calibri" pitchFamily="34" charset="-122"/>
                <a:cs typeface="Calibri" pitchFamily="34" charset="-120"/>
              </a:rPr>
              <a:t>CAUTIONARY TALE</a:t>
            </a:r>
            <a:endParaRPr lang="en-US" sz="950" dirty="0"/>
          </a:p>
        </p:txBody>
      </p:sp>
      <p:sp>
        <p:nvSpPr>
          <p:cNvPr id="31" name="Text 29"/>
          <p:cNvSpPr/>
          <p:nvPr/>
        </p:nvSpPr>
        <p:spPr>
          <a:xfrm>
            <a:off x="8321040" y="4480560"/>
            <a:ext cx="3200400" cy="457200"/>
          </a:xfrm>
          <a:prstGeom prst="rect">
            <a:avLst/>
          </a:prstGeom>
          <a:noFill/>
          <a:ln/>
        </p:spPr>
        <p:txBody>
          <a:bodyPr wrap="square" rtlCol="0" anchor="ctr"/>
          <a:lstStyle/>
          <a:p>
            <a:pPr indent="0" marL="0">
              <a:buNone/>
            </a:pPr>
            <a:r>
              <a:rPr lang="en-US" sz="1800" b="1" dirty="0">
                <a:solidFill>
                  <a:srgbClr val="1A1208"/>
                </a:solidFill>
                <a:latin typeface="Georgia" pitchFamily="34" charset="0"/>
                <a:ea typeface="Georgia" pitchFamily="34" charset="-122"/>
                <a:cs typeface="Georgia" pitchFamily="34" charset="-120"/>
              </a:rPr>
              <a:t>Sweetgreen</a:t>
            </a:r>
            <a:endParaRPr lang="en-US" sz="1800" dirty="0"/>
          </a:p>
        </p:txBody>
      </p:sp>
      <p:sp>
        <p:nvSpPr>
          <p:cNvPr id="32" name="Text 30"/>
          <p:cNvSpPr/>
          <p:nvPr/>
        </p:nvSpPr>
        <p:spPr>
          <a:xfrm>
            <a:off x="8321040" y="5029200"/>
            <a:ext cx="3200400" cy="640080"/>
          </a:xfrm>
          <a:prstGeom prst="rect">
            <a:avLst/>
          </a:prstGeom>
          <a:noFill/>
          <a:ln/>
        </p:spPr>
        <p:txBody>
          <a:bodyPr wrap="square" rtlCol="0" anchor="ctr"/>
          <a:lstStyle/>
          <a:p>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$3B IPO (2021) → $1.08B today · -66%</a:t>
            </a:r>
            <a:endParaRPr lang="en-US" sz="1100" dirty="0"/>
          </a:p>
        </p:txBody>
      </p:sp>
      <p:sp>
        <p:nvSpPr>
          <p:cNvPr id="33" name="Text 31"/>
          <p:cNvSpPr/>
          <p:nvPr/>
        </p:nvSpPr>
        <p:spPr>
          <a:xfrm>
            <a:off x="8321040" y="5623560"/>
            <a:ext cx="3200400" cy="365760"/>
          </a:xfrm>
          <a:prstGeom prst="rect">
            <a:avLst/>
          </a:prstGeom>
          <a:noFill/>
          <a:ln/>
        </p:spPr>
        <p:txBody>
          <a:bodyPr wrap="square" rtlCol="0" anchor="ctr"/>
          <a:lstStyle/>
          <a:p>
            <a:pPr indent="0" marL="0">
              <a:lnSpc>
                <a:spcPct val="130000"/>
              </a:lnSpc>
              <a:buNone/>
            </a:pPr>
            <a:r>
              <a:rPr lang="en-US" sz="1000" i="1" dirty="0">
                <a:solidFill>
                  <a:srgbClr val="8B6E3D"/>
                </a:solidFill>
                <a:latin typeface="Calibri" pitchFamily="34" charset="0"/>
                <a:ea typeface="Calibri" pitchFamily="34" charset="-122"/>
                <a:cs typeface="Calibri" pitchFamily="34" charset="-120"/>
              </a:rPr>
              <a:t>We model on sane multiples, not 2021 peaks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A"/>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The roll-up structure</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One HoldCo, three cap-table lines. Tax-free contributions via §721. Clean.</a:t>
            </a:r>
            <a:endParaRPr lang="en-US" sz="1400" dirty="0"/>
          </a:p>
        </p:txBody>
      </p:sp>
      <p:sp>
        <p:nvSpPr>
          <p:cNvPr id="4" name="Shape 2"/>
          <p:cNvSpPr/>
          <p:nvPr/>
        </p:nvSpPr>
        <p:spPr>
          <a:xfrm>
            <a:off x="2377440" y="1645920"/>
            <a:ext cx="7406640" cy="914400"/>
          </a:xfrm>
          <a:prstGeom prst="rect">
            <a:avLst/>
          </a:prstGeom>
          <a:solidFill>
            <a:srgbClr val="1A1208"/>
          </a:solidFill>
          <a:ln w="25400">
            <a:solidFill>
              <a:srgbClr val="D99C2B"/>
            </a:solidFill>
            <a:prstDash val="solid"/>
          </a:ln>
        </p:spPr>
      </p:sp>
      <p:sp>
        <p:nvSpPr>
          <p:cNvPr id="5" name="Text 3"/>
          <p:cNvSpPr/>
          <p:nvPr/>
        </p:nvSpPr>
        <p:spPr>
          <a:xfrm>
            <a:off x="2651760" y="1783080"/>
            <a:ext cx="6858000" cy="228600"/>
          </a:xfrm>
          <a:prstGeom prst="rect">
            <a:avLst/>
          </a:prstGeom>
          <a:noFill/>
          <a:ln/>
        </p:spPr>
        <p:txBody>
          <a:bodyPr wrap="square" rtlCol="0" anchor="ctr"/>
          <a:lstStyle/>
          <a:p>
            <a:pPr indent="0" marL="0">
              <a:buNone/>
            </a:pPr>
            <a:r>
              <a:rPr lang="en-US" sz="900" b="1" spc="300" kern="0" dirty="0">
                <a:solidFill>
                  <a:srgbClr val="D99C2B"/>
                </a:solidFill>
                <a:latin typeface="Calibri" pitchFamily="34" charset="0"/>
                <a:ea typeface="Calibri" pitchFamily="34" charset="-122"/>
                <a:cs typeface="Calibri" pitchFamily="34" charset="-120"/>
              </a:rPr>
              <a:t>TOP-LEVEL · DELAWARE LLC</a:t>
            </a:r>
            <a:endParaRPr lang="en-US" sz="900" dirty="0"/>
          </a:p>
        </p:txBody>
      </p:sp>
      <p:sp>
        <p:nvSpPr>
          <p:cNvPr id="6" name="Text 4"/>
          <p:cNvSpPr/>
          <p:nvPr/>
        </p:nvSpPr>
        <p:spPr>
          <a:xfrm>
            <a:off x="2651760" y="2011680"/>
            <a:ext cx="6858000" cy="502920"/>
          </a:xfrm>
          <a:prstGeom prst="rect">
            <a:avLst/>
          </a:prstGeom>
          <a:noFill/>
          <a:ln/>
        </p:spPr>
        <p:txBody>
          <a:bodyPr wrap="square" rtlCol="0" anchor="ctr"/>
          <a:lstStyle/>
          <a:p>
            <a:pPr indent="0" marL="0">
              <a:buNone/>
            </a:pPr>
            <a:r>
              <a:rPr lang="en-US" sz="2400" b="1" dirty="0">
                <a:solidFill>
                  <a:srgbClr val="FAF6EA"/>
                </a:solidFill>
                <a:latin typeface="Georgia" pitchFamily="34" charset="0"/>
                <a:ea typeface="Georgia" pitchFamily="34" charset="-122"/>
                <a:cs typeface="Georgia" pitchFamily="34" charset="-120"/>
              </a:rPr>
              <a:t>Golden Glaze Holdings LLC</a:t>
            </a:r>
            <a:endParaRPr lang="en-US" sz="2400" dirty="0"/>
          </a:p>
        </p:txBody>
      </p:sp>
      <p:sp>
        <p:nvSpPr>
          <p:cNvPr id="7" name="Shape 5"/>
          <p:cNvSpPr/>
          <p:nvPr/>
        </p:nvSpPr>
        <p:spPr>
          <a:xfrm>
            <a:off x="640080" y="2926080"/>
            <a:ext cx="3566160" cy="1280160"/>
          </a:xfrm>
          <a:prstGeom prst="rect">
            <a:avLst/>
          </a:prstGeom>
          <a:solidFill>
            <a:srgbClr val="FFFFFF"/>
          </a:solidFill>
          <a:ln w="12700">
            <a:solidFill>
              <a:srgbClr val="D99C2B"/>
            </a:solidFill>
            <a:prstDash val="solid"/>
          </a:ln>
        </p:spPr>
      </p:sp>
      <p:sp>
        <p:nvSpPr>
          <p:cNvPr id="8" name="Text 6"/>
          <p:cNvSpPr/>
          <p:nvPr/>
        </p:nvSpPr>
        <p:spPr>
          <a:xfrm>
            <a:off x="822960" y="3063240"/>
            <a:ext cx="3200400" cy="274320"/>
          </a:xfrm>
          <a:prstGeom prst="rect">
            <a:avLst/>
          </a:prstGeom>
          <a:noFill/>
          <a:ln/>
        </p:spPr>
        <p:txBody>
          <a:bodyPr wrap="square" rtlCol="0" anchor="ctr"/>
          <a:lstStyle/>
          <a:p>
            <a:pPr algn="ctr" indent="0" marL="0">
              <a:buNone/>
            </a:pPr>
            <a:r>
              <a:rPr lang="en-US" sz="1000" b="1" spc="300" kern="0" dirty="0">
                <a:solidFill>
                  <a:srgbClr val="8B6E3D"/>
                </a:solidFill>
                <a:latin typeface="Calibri" pitchFamily="34" charset="0"/>
                <a:ea typeface="Calibri" pitchFamily="34" charset="-122"/>
                <a:cs typeface="Calibri" pitchFamily="34" charset="-120"/>
              </a:rPr>
              <a:t>GGP (OPERATORS)</a:t>
            </a:r>
            <a:endParaRPr lang="en-US" sz="1000" dirty="0"/>
          </a:p>
        </p:txBody>
      </p:sp>
      <p:sp>
        <p:nvSpPr>
          <p:cNvPr id="9" name="Text 7"/>
          <p:cNvSpPr/>
          <p:nvPr/>
        </p:nvSpPr>
        <p:spPr>
          <a:xfrm>
            <a:off x="822960" y="3383280"/>
            <a:ext cx="3200400" cy="502920"/>
          </a:xfrm>
          <a:prstGeom prst="rect">
            <a:avLst/>
          </a:prstGeom>
          <a:noFill/>
          <a:ln/>
        </p:spPr>
        <p:txBody>
          <a:bodyPr wrap="square" rtlCol="0" anchor="ctr"/>
          <a:lstStyle/>
          <a:p>
            <a:pPr algn="ctr" indent="0" marL="0">
              <a:buNone/>
            </a:pPr>
            <a:r>
              <a:rPr lang="en-US" sz="2800" b="1" dirty="0">
                <a:solidFill>
                  <a:srgbClr val="A87618"/>
                </a:solidFill>
                <a:latin typeface="Consolas" pitchFamily="34" charset="0"/>
                <a:ea typeface="Consolas" pitchFamily="34" charset="-122"/>
                <a:cs typeface="Consolas" pitchFamily="34" charset="-120"/>
              </a:rPr>
              <a:t>~50%</a:t>
            </a:r>
            <a:endParaRPr lang="en-US" sz="2800" dirty="0"/>
          </a:p>
        </p:txBody>
      </p:sp>
      <p:sp>
        <p:nvSpPr>
          <p:cNvPr id="10" name="Text 8"/>
          <p:cNvSpPr/>
          <p:nvPr/>
        </p:nvSpPr>
        <p:spPr>
          <a:xfrm>
            <a:off x="822960" y="3886200"/>
            <a:ext cx="3200400" cy="320040"/>
          </a:xfrm>
          <a:prstGeom prst="rect">
            <a:avLst/>
          </a:prstGeom>
          <a:noFill/>
          <a:ln/>
        </p:spPr>
        <p:txBody>
          <a:bodyPr wrap="square" rtlCol="0" anchor="ctr"/>
          <a:lstStyle/>
          <a:p>
            <a:pPr algn="ctr" indent="0" marL="0">
              <a:buNone/>
            </a:pPr>
            <a:r>
              <a:rPr lang="en-US" sz="1050" dirty="0">
                <a:solidFill>
                  <a:srgbClr val="4A3825"/>
                </a:solidFill>
                <a:latin typeface="Calibri" pitchFamily="34" charset="0"/>
                <a:ea typeface="Calibri" pitchFamily="34" charset="-122"/>
                <a:cs typeface="Calibri" pitchFamily="34" charset="-120"/>
              </a:rPr>
              <a:t>6 partners · founders + active + advisors</a:t>
            </a:r>
            <a:endParaRPr lang="en-US" sz="1050" dirty="0"/>
          </a:p>
        </p:txBody>
      </p:sp>
      <p:sp>
        <p:nvSpPr>
          <p:cNvPr id="11" name="Shape 9"/>
          <p:cNvSpPr/>
          <p:nvPr/>
        </p:nvSpPr>
        <p:spPr>
          <a:xfrm>
            <a:off x="4343400" y="2926080"/>
            <a:ext cx="3566160" cy="1280160"/>
          </a:xfrm>
          <a:prstGeom prst="rect">
            <a:avLst/>
          </a:prstGeom>
          <a:solidFill>
            <a:srgbClr val="FFFFFF"/>
          </a:solidFill>
          <a:ln w="12700">
            <a:solidFill>
              <a:srgbClr val="D99C2B"/>
            </a:solidFill>
            <a:prstDash val="solid"/>
          </a:ln>
        </p:spPr>
      </p:sp>
      <p:sp>
        <p:nvSpPr>
          <p:cNvPr id="12" name="Text 10"/>
          <p:cNvSpPr/>
          <p:nvPr/>
        </p:nvSpPr>
        <p:spPr>
          <a:xfrm>
            <a:off x="4526280" y="3063240"/>
            <a:ext cx="3200400" cy="274320"/>
          </a:xfrm>
          <a:prstGeom prst="rect">
            <a:avLst/>
          </a:prstGeom>
          <a:noFill/>
          <a:ln/>
        </p:spPr>
        <p:txBody>
          <a:bodyPr wrap="square" rtlCol="0" anchor="ctr"/>
          <a:lstStyle/>
          <a:p>
            <a:pPr algn="ctr" indent="0" marL="0">
              <a:buNone/>
            </a:pPr>
            <a:r>
              <a:rPr lang="en-US" sz="1000" b="1" spc="300" kern="0" dirty="0">
                <a:solidFill>
                  <a:srgbClr val="8B6E3D"/>
                </a:solidFill>
                <a:latin typeface="Calibri" pitchFamily="34" charset="0"/>
                <a:ea typeface="Calibri" pitchFamily="34" charset="-122"/>
                <a:cs typeface="Calibri" pitchFamily="34" charset="-120"/>
              </a:rPr>
              <a:t>PASSIVE SPV (LPs)</a:t>
            </a:r>
            <a:endParaRPr lang="en-US" sz="1000" dirty="0"/>
          </a:p>
        </p:txBody>
      </p:sp>
      <p:sp>
        <p:nvSpPr>
          <p:cNvPr id="13" name="Text 11"/>
          <p:cNvSpPr/>
          <p:nvPr/>
        </p:nvSpPr>
        <p:spPr>
          <a:xfrm>
            <a:off x="4526280" y="3383280"/>
            <a:ext cx="3200400" cy="502920"/>
          </a:xfrm>
          <a:prstGeom prst="rect">
            <a:avLst/>
          </a:prstGeom>
          <a:noFill/>
          <a:ln/>
        </p:spPr>
        <p:txBody>
          <a:bodyPr wrap="square" rtlCol="0" anchor="ctr"/>
          <a:lstStyle/>
          <a:p>
            <a:pPr algn="ctr" indent="0" marL="0">
              <a:buNone/>
            </a:pPr>
            <a:r>
              <a:rPr lang="en-US" sz="2800" b="1" dirty="0">
                <a:solidFill>
                  <a:srgbClr val="A87618"/>
                </a:solidFill>
                <a:latin typeface="Consolas" pitchFamily="34" charset="0"/>
                <a:ea typeface="Consolas" pitchFamily="34" charset="-122"/>
                <a:cs typeface="Consolas" pitchFamily="34" charset="-120"/>
              </a:rPr>
              <a:t>~36%</a:t>
            </a:r>
            <a:endParaRPr lang="en-US" sz="2800" dirty="0"/>
          </a:p>
        </p:txBody>
      </p:sp>
      <p:sp>
        <p:nvSpPr>
          <p:cNvPr id="14" name="Text 12"/>
          <p:cNvSpPr/>
          <p:nvPr/>
        </p:nvSpPr>
        <p:spPr>
          <a:xfrm>
            <a:off x="4526280" y="3886200"/>
            <a:ext cx="3200400" cy="320040"/>
          </a:xfrm>
          <a:prstGeom prst="rect">
            <a:avLst/>
          </a:prstGeom>
          <a:noFill/>
          <a:ln/>
        </p:spPr>
        <p:txBody>
          <a:bodyPr wrap="square" rtlCol="0" anchor="ctr"/>
          <a:lstStyle/>
          <a:p>
            <a:pPr algn="ctr" indent="0" marL="0">
              <a:buNone/>
            </a:pPr>
            <a:r>
              <a:rPr lang="en-US" sz="1050" dirty="0">
                <a:solidFill>
                  <a:srgbClr val="4A3825"/>
                </a:solidFill>
                <a:latin typeface="Calibri" pitchFamily="34" charset="0"/>
                <a:ea typeface="Calibri" pitchFamily="34" charset="-122"/>
                <a:cs typeface="Calibri" pitchFamily="34" charset="-120"/>
              </a:rPr>
              <a:t>14 LPs pooled · UU+Jack as LP of founder shops</a:t>
            </a:r>
            <a:endParaRPr lang="en-US" sz="1050" dirty="0"/>
          </a:p>
        </p:txBody>
      </p:sp>
      <p:sp>
        <p:nvSpPr>
          <p:cNvPr id="15" name="Shape 13"/>
          <p:cNvSpPr/>
          <p:nvPr/>
        </p:nvSpPr>
        <p:spPr>
          <a:xfrm>
            <a:off x="8046720" y="2926080"/>
            <a:ext cx="3566160" cy="1280160"/>
          </a:xfrm>
          <a:prstGeom prst="rect">
            <a:avLst/>
          </a:prstGeom>
          <a:solidFill>
            <a:srgbClr val="FFFFFF"/>
          </a:solidFill>
          <a:ln w="12700">
            <a:solidFill>
              <a:srgbClr val="D99C2B"/>
            </a:solidFill>
            <a:prstDash val="solid"/>
          </a:ln>
        </p:spPr>
      </p:sp>
      <p:sp>
        <p:nvSpPr>
          <p:cNvPr id="16" name="Text 14"/>
          <p:cNvSpPr/>
          <p:nvPr/>
        </p:nvSpPr>
        <p:spPr>
          <a:xfrm>
            <a:off x="8229600" y="3063240"/>
            <a:ext cx="3200400" cy="274320"/>
          </a:xfrm>
          <a:prstGeom prst="rect">
            <a:avLst/>
          </a:prstGeom>
          <a:noFill/>
          <a:ln/>
        </p:spPr>
        <p:txBody>
          <a:bodyPr wrap="square" rtlCol="0" anchor="ctr"/>
          <a:lstStyle/>
          <a:p>
            <a:pPr algn="ctr" indent="0" marL="0">
              <a:buNone/>
            </a:pPr>
            <a:r>
              <a:rPr lang="en-US" sz="1000" b="1" spc="300" kern="0" dirty="0">
                <a:solidFill>
                  <a:srgbClr val="8B6E3D"/>
                </a:solidFill>
                <a:latin typeface="Calibri" pitchFamily="34" charset="0"/>
                <a:ea typeface="Calibri" pitchFamily="34" charset="-122"/>
                <a:cs typeface="Calibri" pitchFamily="34" charset="-120"/>
              </a:rPr>
              <a:t>MIP POOL</a:t>
            </a:r>
            <a:endParaRPr lang="en-US" sz="1000" dirty="0"/>
          </a:p>
        </p:txBody>
      </p:sp>
      <p:sp>
        <p:nvSpPr>
          <p:cNvPr id="17" name="Text 15"/>
          <p:cNvSpPr/>
          <p:nvPr/>
        </p:nvSpPr>
        <p:spPr>
          <a:xfrm>
            <a:off x="8229600" y="3383280"/>
            <a:ext cx="3200400" cy="502920"/>
          </a:xfrm>
          <a:prstGeom prst="rect">
            <a:avLst/>
          </a:prstGeom>
          <a:noFill/>
          <a:ln/>
        </p:spPr>
        <p:txBody>
          <a:bodyPr wrap="square" rtlCol="0" anchor="ctr"/>
          <a:lstStyle/>
          <a:p>
            <a:pPr algn="ctr" indent="0" marL="0">
              <a:buNone/>
            </a:pPr>
            <a:r>
              <a:rPr lang="en-US" sz="2800" b="1" dirty="0">
                <a:solidFill>
                  <a:srgbClr val="A87618"/>
                </a:solidFill>
                <a:latin typeface="Consolas" pitchFamily="34" charset="0"/>
                <a:ea typeface="Consolas" pitchFamily="34" charset="-122"/>
                <a:cs typeface="Consolas" pitchFamily="34" charset="-120"/>
              </a:rPr>
              <a:t>10% reserve</a:t>
            </a:r>
            <a:endParaRPr lang="en-US" sz="2800" dirty="0"/>
          </a:p>
        </p:txBody>
      </p:sp>
      <p:sp>
        <p:nvSpPr>
          <p:cNvPr id="18" name="Text 16"/>
          <p:cNvSpPr/>
          <p:nvPr/>
        </p:nvSpPr>
        <p:spPr>
          <a:xfrm>
            <a:off x="8229600" y="3886200"/>
            <a:ext cx="3200400" cy="320040"/>
          </a:xfrm>
          <a:prstGeom prst="rect">
            <a:avLst/>
          </a:prstGeom>
          <a:noFill/>
          <a:ln/>
        </p:spPr>
        <p:txBody>
          <a:bodyPr wrap="square" rtlCol="0" anchor="ctr"/>
          <a:lstStyle/>
          <a:p>
            <a:pPr algn="ctr" indent="0" marL="0">
              <a:buNone/>
            </a:pPr>
            <a:r>
              <a:rPr lang="en-US" sz="1050" dirty="0">
                <a:solidFill>
                  <a:srgbClr val="4A3825"/>
                </a:solidFill>
                <a:latin typeface="Calibri" pitchFamily="34" charset="0"/>
                <a:ea typeface="Calibri" pitchFamily="34" charset="-122"/>
                <a:cs typeface="Calibri" pitchFamily="34" charset="-120"/>
              </a:rPr>
              <a:t>Pheak + executive hires through Series A</a:t>
            </a:r>
            <a:endParaRPr lang="en-US" sz="1050" dirty="0"/>
          </a:p>
        </p:txBody>
      </p:sp>
      <p:sp>
        <p:nvSpPr>
          <p:cNvPr id="19" name="Text 17"/>
          <p:cNvSpPr/>
          <p:nvPr/>
        </p:nvSpPr>
        <p:spPr>
          <a:xfrm>
            <a:off x="548640" y="4663440"/>
            <a:ext cx="11064240" cy="274320"/>
          </a:xfrm>
          <a:prstGeom prst="rect">
            <a:avLst/>
          </a:prstGeom>
          <a:noFill/>
          <a:ln/>
        </p:spPr>
        <p:txBody>
          <a:bodyPr wrap="square" rtlCol="0" anchor="ctr"/>
          <a:lstStyle/>
          <a:p>
            <a:pPr algn="ctr" indent="0" marL="0">
              <a:buNone/>
            </a:pPr>
            <a:r>
              <a:rPr lang="en-US" sz="1000" b="1" spc="300" kern="0" dirty="0">
                <a:solidFill>
                  <a:srgbClr val="8B6E3D"/>
                </a:solidFill>
                <a:latin typeface="Calibri" pitchFamily="34" charset="0"/>
                <a:ea typeface="Calibri" pitchFamily="34" charset="-122"/>
                <a:cs typeface="Calibri" pitchFamily="34" charset="-120"/>
              </a:rPr>
              <a:t>WHOLLY-OWNED SUBSIDIARIES</a:t>
            </a:r>
            <a:endParaRPr lang="en-US" sz="1000" dirty="0"/>
          </a:p>
        </p:txBody>
      </p:sp>
      <p:sp>
        <p:nvSpPr>
          <p:cNvPr id="20" name="Shape 18"/>
          <p:cNvSpPr/>
          <p:nvPr/>
        </p:nvSpPr>
        <p:spPr>
          <a:xfrm>
            <a:off x="548640" y="5029200"/>
            <a:ext cx="2697480" cy="640080"/>
          </a:xfrm>
          <a:prstGeom prst="rect">
            <a:avLst/>
          </a:prstGeom>
          <a:solidFill>
            <a:srgbClr val="F8EFD7"/>
          </a:solidFill>
          <a:ln w="12700">
            <a:solidFill>
              <a:srgbClr val="8B6E3D"/>
            </a:solidFill>
            <a:prstDash val="solid"/>
          </a:ln>
        </p:spPr>
      </p:sp>
      <p:sp>
        <p:nvSpPr>
          <p:cNvPr id="21" name="Text 19"/>
          <p:cNvSpPr/>
          <p:nvPr/>
        </p:nvSpPr>
        <p:spPr>
          <a:xfrm>
            <a:off x="548640" y="5029200"/>
            <a:ext cx="2697480" cy="640080"/>
          </a:xfrm>
          <a:prstGeom prst="rect">
            <a:avLst/>
          </a:prstGeom>
          <a:noFill/>
          <a:ln/>
        </p:spPr>
        <p:txBody>
          <a:bodyPr wrap="square" rtlCol="0" anchor="ctr"/>
          <a:lstStyle/>
          <a:p>
            <a:pPr algn="ctr" indent="0" marL="0">
              <a:buNone/>
            </a:pPr>
            <a:r>
              <a:rPr lang="en-US" sz="1300" b="1" dirty="0">
                <a:solidFill>
                  <a:srgbClr val="1A1208"/>
                </a:solidFill>
                <a:latin typeface="Calibri" pitchFamily="34" charset="0"/>
                <a:ea typeface="Calibri" pitchFamily="34" charset="-122"/>
                <a:cs typeface="Calibri" pitchFamily="34" charset="-120"/>
              </a:rPr>
              <a:t>Shop LLCs (×7)</a:t>
            </a:r>
            <a:endParaRPr lang="en-US" sz="1300" dirty="0"/>
          </a:p>
        </p:txBody>
      </p:sp>
      <p:sp>
        <p:nvSpPr>
          <p:cNvPr id="22" name="Shape 20"/>
          <p:cNvSpPr/>
          <p:nvPr/>
        </p:nvSpPr>
        <p:spPr>
          <a:xfrm>
            <a:off x="3337560" y="5029200"/>
            <a:ext cx="2697480" cy="640080"/>
          </a:xfrm>
          <a:prstGeom prst="rect">
            <a:avLst/>
          </a:prstGeom>
          <a:solidFill>
            <a:srgbClr val="F8EFD7"/>
          </a:solidFill>
          <a:ln w="12700">
            <a:solidFill>
              <a:srgbClr val="8B6E3D"/>
            </a:solidFill>
            <a:prstDash val="solid"/>
          </a:ln>
        </p:spPr>
      </p:sp>
      <p:sp>
        <p:nvSpPr>
          <p:cNvPr id="23" name="Text 21"/>
          <p:cNvSpPr/>
          <p:nvPr/>
        </p:nvSpPr>
        <p:spPr>
          <a:xfrm>
            <a:off x="3337560" y="5029200"/>
            <a:ext cx="2697480" cy="640080"/>
          </a:xfrm>
          <a:prstGeom prst="rect">
            <a:avLst/>
          </a:prstGeom>
          <a:noFill/>
          <a:ln/>
        </p:spPr>
        <p:txBody>
          <a:bodyPr wrap="square" rtlCol="0" anchor="ctr"/>
          <a:lstStyle/>
          <a:p>
            <a:pPr algn="ctr" indent="0" marL="0">
              <a:buNone/>
            </a:pPr>
            <a:r>
              <a:rPr lang="en-US" sz="1300" b="1" dirty="0">
                <a:solidFill>
                  <a:srgbClr val="1A1208"/>
                </a:solidFill>
                <a:latin typeface="Calibri" pitchFamily="34" charset="0"/>
                <a:ea typeface="Calibri" pitchFamily="34" charset="-122"/>
                <a:cs typeface="Calibri" pitchFamily="34" charset="-120"/>
              </a:rPr>
              <a:t>Kitchen LLC</a:t>
            </a:r>
            <a:endParaRPr lang="en-US" sz="1300" dirty="0"/>
          </a:p>
        </p:txBody>
      </p:sp>
      <p:sp>
        <p:nvSpPr>
          <p:cNvPr id="24" name="Shape 22"/>
          <p:cNvSpPr/>
          <p:nvPr/>
        </p:nvSpPr>
        <p:spPr>
          <a:xfrm>
            <a:off x="6126480" y="5029200"/>
            <a:ext cx="2697480" cy="640080"/>
          </a:xfrm>
          <a:prstGeom prst="rect">
            <a:avLst/>
          </a:prstGeom>
          <a:solidFill>
            <a:srgbClr val="F8EFD7"/>
          </a:solidFill>
          <a:ln w="12700">
            <a:solidFill>
              <a:srgbClr val="8B6E3D"/>
            </a:solidFill>
            <a:prstDash val="solid"/>
          </a:ln>
        </p:spPr>
      </p:sp>
      <p:sp>
        <p:nvSpPr>
          <p:cNvPr id="25" name="Text 23"/>
          <p:cNvSpPr/>
          <p:nvPr/>
        </p:nvSpPr>
        <p:spPr>
          <a:xfrm>
            <a:off x="6126480" y="5029200"/>
            <a:ext cx="2697480" cy="640080"/>
          </a:xfrm>
          <a:prstGeom prst="rect">
            <a:avLst/>
          </a:prstGeom>
          <a:noFill/>
          <a:ln/>
        </p:spPr>
        <p:txBody>
          <a:bodyPr wrap="square" rtlCol="0" anchor="ctr"/>
          <a:lstStyle/>
          <a:p>
            <a:pPr algn="ctr" indent="0" marL="0">
              <a:buNone/>
            </a:pPr>
            <a:r>
              <a:rPr lang="en-US" sz="1300" b="1" dirty="0">
                <a:solidFill>
                  <a:srgbClr val="1A1208"/>
                </a:solidFill>
                <a:latin typeface="Calibri" pitchFamily="34" charset="0"/>
                <a:ea typeface="Calibri" pitchFamily="34" charset="-122"/>
                <a:cs typeface="Calibri" pitchFamily="34" charset="-120"/>
              </a:rPr>
              <a:t>Golden POS LLC</a:t>
            </a:r>
            <a:endParaRPr lang="en-US" sz="1300" dirty="0"/>
          </a:p>
        </p:txBody>
      </p:sp>
      <p:sp>
        <p:nvSpPr>
          <p:cNvPr id="26" name="Shape 24"/>
          <p:cNvSpPr/>
          <p:nvPr/>
        </p:nvSpPr>
        <p:spPr>
          <a:xfrm>
            <a:off x="8915400" y="5029200"/>
            <a:ext cx="2697480" cy="640080"/>
          </a:xfrm>
          <a:prstGeom prst="rect">
            <a:avLst/>
          </a:prstGeom>
          <a:solidFill>
            <a:srgbClr val="F8EFD7"/>
          </a:solidFill>
          <a:ln w="12700">
            <a:solidFill>
              <a:srgbClr val="8B6E3D"/>
            </a:solidFill>
            <a:prstDash val="solid"/>
          </a:ln>
        </p:spPr>
      </p:sp>
      <p:sp>
        <p:nvSpPr>
          <p:cNvPr id="27" name="Text 25"/>
          <p:cNvSpPr/>
          <p:nvPr/>
        </p:nvSpPr>
        <p:spPr>
          <a:xfrm>
            <a:off x="8915400" y="5029200"/>
            <a:ext cx="2697480" cy="640080"/>
          </a:xfrm>
          <a:prstGeom prst="rect">
            <a:avLst/>
          </a:prstGeom>
          <a:noFill/>
          <a:ln/>
        </p:spPr>
        <p:txBody>
          <a:bodyPr wrap="square" rtlCol="0" anchor="ctr"/>
          <a:lstStyle/>
          <a:p>
            <a:pPr algn="ctr" indent="0" marL="0">
              <a:buNone/>
            </a:pPr>
            <a:r>
              <a:rPr lang="en-US" sz="1300" b="1" dirty="0">
                <a:solidFill>
                  <a:srgbClr val="1A1208"/>
                </a:solidFill>
                <a:latin typeface="Calibri" pitchFamily="34" charset="0"/>
                <a:ea typeface="Calibri" pitchFamily="34" charset="-122"/>
                <a:cs typeface="Calibri" pitchFamily="34" charset="-120"/>
              </a:rPr>
              <a:t>Real Estate LLC</a:t>
            </a:r>
            <a:endParaRPr lang="en-US" sz="1300" dirty="0"/>
          </a:p>
        </p:txBody>
      </p:sp>
      <p:sp>
        <p:nvSpPr>
          <p:cNvPr id="28" name="Text 26"/>
          <p:cNvSpPr/>
          <p:nvPr/>
        </p:nvSpPr>
        <p:spPr>
          <a:xfrm>
            <a:off x="548640" y="5943600"/>
            <a:ext cx="11064240" cy="548640"/>
          </a:xfrm>
          <a:prstGeom prst="rect">
            <a:avLst/>
          </a:prstGeom>
          <a:noFill/>
          <a:ln/>
        </p:spPr>
        <p:txBody>
          <a:bodyPr wrap="square" rtlCol="0" anchor="ctr"/>
          <a:lstStyle/>
          <a:p>
            <a:pPr algn="ctr" indent="0" marL="0">
              <a:lnSpc>
                <a:spcPct val="140000"/>
              </a:lnSpc>
              <a:buNone/>
            </a:pPr>
            <a:r>
              <a:rPr lang="en-US" sz="1300" i="1" dirty="0">
                <a:solidFill>
                  <a:srgbClr val="4A3825"/>
                </a:solidFill>
                <a:latin typeface="Calibri" pitchFamily="34" charset="0"/>
                <a:ea typeface="Calibri" pitchFamily="34" charset="-122"/>
                <a:cs typeface="Calibri" pitchFamily="34" charset="-120"/>
              </a:rPr>
              <a:t>Shell HoldCo formed Month 1. SAFE closes immediately. Subsidiaries roll in over 6-12 months as consents complete.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Unit economics that work</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Two example shops, one each from the LP cohort and the founder-funded cohort.</a:t>
            </a:r>
            <a:endParaRPr lang="en-US" sz="1400" dirty="0"/>
          </a:p>
        </p:txBody>
      </p:sp>
      <p:sp>
        <p:nvSpPr>
          <p:cNvPr id="4" name="Text 2"/>
          <p:cNvSpPr/>
          <p:nvPr/>
        </p:nvSpPr>
        <p:spPr>
          <a:xfrm>
            <a:off x="548640" y="1554480"/>
            <a:ext cx="5394960" cy="365760"/>
          </a:xfrm>
          <a:prstGeom prst="rect">
            <a:avLst/>
          </a:prstGeom>
          <a:noFill/>
          <a:ln/>
        </p:spPr>
        <p:txBody>
          <a:bodyPr wrap="square" rtlCol="0" anchor="ctr"/>
          <a:lstStyle/>
          <a:p>
            <a:pPr indent="0" marL="0">
              <a:buNone/>
            </a:pPr>
            <a:r>
              <a:rPr lang="en-US" sz="1200" b="1" spc="300" kern="0" dirty="0">
                <a:solidFill>
                  <a:srgbClr val="A87618"/>
                </a:solidFill>
                <a:latin typeface="Calibri" pitchFamily="34" charset="0"/>
                <a:ea typeface="Calibri" pitchFamily="34" charset="-122"/>
                <a:cs typeface="Calibri" pitchFamily="34" charset="-120"/>
              </a:rPr>
              <a:t>ARLINGTON · LP-FUNDED</a:t>
            </a:r>
            <a:endParaRPr lang="en-US" sz="1200" dirty="0"/>
          </a:p>
        </p:txBody>
      </p:sp>
      <p:sp>
        <p:nvSpPr>
          <p:cNvPr id="5" name="Shape 3"/>
          <p:cNvSpPr/>
          <p:nvPr/>
        </p:nvSpPr>
        <p:spPr>
          <a:xfrm>
            <a:off x="548640" y="2011680"/>
            <a:ext cx="5394960" cy="411480"/>
          </a:xfrm>
          <a:prstGeom prst="rect">
            <a:avLst/>
          </a:prstGeom>
          <a:solidFill>
            <a:srgbClr val="FFFFFF"/>
          </a:solidFill>
          <a:ln w="6350">
            <a:solidFill>
              <a:srgbClr val="F8EFD7"/>
            </a:solidFill>
            <a:prstDash val="solid"/>
          </a:ln>
        </p:spPr>
      </p:sp>
      <p:sp>
        <p:nvSpPr>
          <p:cNvPr id="6" name="Text 4"/>
          <p:cNvSpPr/>
          <p:nvPr/>
        </p:nvSpPr>
        <p:spPr>
          <a:xfrm>
            <a:off x="731520" y="20116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Acquisition price</a:t>
            </a:r>
            <a:endParaRPr lang="en-US" sz="1200" dirty="0"/>
          </a:p>
        </p:txBody>
      </p:sp>
      <p:sp>
        <p:nvSpPr>
          <p:cNvPr id="7" name="Text 5"/>
          <p:cNvSpPr/>
          <p:nvPr/>
        </p:nvSpPr>
        <p:spPr>
          <a:xfrm>
            <a:off x="3474720" y="20116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~$130-180K</a:t>
            </a:r>
            <a:endParaRPr lang="en-US" sz="1200" dirty="0"/>
          </a:p>
        </p:txBody>
      </p:sp>
      <p:sp>
        <p:nvSpPr>
          <p:cNvPr id="8" name="Shape 6"/>
          <p:cNvSpPr/>
          <p:nvPr/>
        </p:nvSpPr>
        <p:spPr>
          <a:xfrm>
            <a:off x="548640" y="2468880"/>
            <a:ext cx="5394960" cy="411480"/>
          </a:xfrm>
          <a:prstGeom prst="rect">
            <a:avLst/>
          </a:prstGeom>
          <a:solidFill>
            <a:srgbClr val="FAF6EA"/>
          </a:solidFill>
          <a:ln w="6350">
            <a:solidFill>
              <a:srgbClr val="F8EFD7"/>
            </a:solidFill>
            <a:prstDash val="solid"/>
          </a:ln>
        </p:spPr>
      </p:sp>
      <p:sp>
        <p:nvSpPr>
          <p:cNvPr id="9" name="Text 7"/>
          <p:cNvSpPr/>
          <p:nvPr/>
        </p:nvSpPr>
        <p:spPr>
          <a:xfrm>
            <a:off x="731520" y="24688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LP capital (8 × $25K)</a:t>
            </a:r>
            <a:endParaRPr lang="en-US" sz="1200" dirty="0"/>
          </a:p>
        </p:txBody>
      </p:sp>
      <p:sp>
        <p:nvSpPr>
          <p:cNvPr id="10" name="Text 8"/>
          <p:cNvSpPr/>
          <p:nvPr/>
        </p:nvSpPr>
        <p:spPr>
          <a:xfrm>
            <a:off x="3474720" y="24688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$200K</a:t>
            </a:r>
            <a:endParaRPr lang="en-US" sz="1200" dirty="0"/>
          </a:p>
        </p:txBody>
      </p:sp>
      <p:sp>
        <p:nvSpPr>
          <p:cNvPr id="11" name="Shape 9"/>
          <p:cNvSpPr/>
          <p:nvPr/>
        </p:nvSpPr>
        <p:spPr>
          <a:xfrm>
            <a:off x="548640" y="2926080"/>
            <a:ext cx="5394960" cy="411480"/>
          </a:xfrm>
          <a:prstGeom prst="rect">
            <a:avLst/>
          </a:prstGeom>
          <a:solidFill>
            <a:srgbClr val="FFFFFF"/>
          </a:solidFill>
          <a:ln w="6350">
            <a:solidFill>
              <a:srgbClr val="F8EFD7"/>
            </a:solidFill>
            <a:prstDash val="solid"/>
          </a:ln>
        </p:spPr>
      </p:sp>
      <p:sp>
        <p:nvSpPr>
          <p:cNvPr id="12" name="Text 10"/>
          <p:cNvSpPr/>
          <p:nvPr/>
        </p:nvSpPr>
        <p:spPr>
          <a:xfrm>
            <a:off x="731520" y="29260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MRR at acquisition</a:t>
            </a:r>
            <a:endParaRPr lang="en-US" sz="1200" dirty="0"/>
          </a:p>
        </p:txBody>
      </p:sp>
      <p:sp>
        <p:nvSpPr>
          <p:cNvPr id="13" name="Text 11"/>
          <p:cNvSpPr/>
          <p:nvPr/>
        </p:nvSpPr>
        <p:spPr>
          <a:xfrm>
            <a:off x="3474720" y="29260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$18K</a:t>
            </a:r>
            <a:endParaRPr lang="en-US" sz="1200" dirty="0"/>
          </a:p>
        </p:txBody>
      </p:sp>
      <p:sp>
        <p:nvSpPr>
          <p:cNvPr id="14" name="Shape 12"/>
          <p:cNvSpPr/>
          <p:nvPr/>
        </p:nvSpPr>
        <p:spPr>
          <a:xfrm>
            <a:off x="548640" y="3383280"/>
            <a:ext cx="5394960" cy="411480"/>
          </a:xfrm>
          <a:prstGeom prst="rect">
            <a:avLst/>
          </a:prstGeom>
          <a:solidFill>
            <a:srgbClr val="FAF6EA"/>
          </a:solidFill>
          <a:ln w="6350">
            <a:solidFill>
              <a:srgbClr val="F8EFD7"/>
            </a:solidFill>
            <a:prstDash val="solid"/>
          </a:ln>
        </p:spPr>
      </p:sp>
      <p:sp>
        <p:nvSpPr>
          <p:cNvPr id="15" name="Text 13"/>
          <p:cNvSpPr/>
          <p:nvPr/>
        </p:nvSpPr>
        <p:spPr>
          <a:xfrm>
            <a:off x="731520" y="33832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MRR today (8 months)</a:t>
            </a:r>
            <a:endParaRPr lang="en-US" sz="1200" dirty="0"/>
          </a:p>
        </p:txBody>
      </p:sp>
      <p:sp>
        <p:nvSpPr>
          <p:cNvPr id="16" name="Text 14"/>
          <p:cNvSpPr/>
          <p:nvPr/>
        </p:nvSpPr>
        <p:spPr>
          <a:xfrm>
            <a:off x="3474720" y="33832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$30K (+67%)</a:t>
            </a:r>
            <a:endParaRPr lang="en-US" sz="1200" dirty="0"/>
          </a:p>
        </p:txBody>
      </p:sp>
      <p:sp>
        <p:nvSpPr>
          <p:cNvPr id="17" name="Shape 15"/>
          <p:cNvSpPr/>
          <p:nvPr/>
        </p:nvSpPr>
        <p:spPr>
          <a:xfrm>
            <a:off x="548640" y="3840480"/>
            <a:ext cx="5394960" cy="411480"/>
          </a:xfrm>
          <a:prstGeom prst="rect">
            <a:avLst/>
          </a:prstGeom>
          <a:solidFill>
            <a:srgbClr val="FFFFFF"/>
          </a:solidFill>
          <a:ln w="6350">
            <a:solidFill>
              <a:srgbClr val="F8EFD7"/>
            </a:solidFill>
            <a:prstDash val="solid"/>
          </a:ln>
        </p:spPr>
      </p:sp>
      <p:sp>
        <p:nvSpPr>
          <p:cNvPr id="18" name="Text 16"/>
          <p:cNvSpPr/>
          <p:nvPr/>
        </p:nvSpPr>
        <p:spPr>
          <a:xfrm>
            <a:off x="731520" y="38404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Annualized</a:t>
            </a:r>
            <a:endParaRPr lang="en-US" sz="1200" dirty="0"/>
          </a:p>
        </p:txBody>
      </p:sp>
      <p:sp>
        <p:nvSpPr>
          <p:cNvPr id="19" name="Text 17"/>
          <p:cNvSpPr/>
          <p:nvPr/>
        </p:nvSpPr>
        <p:spPr>
          <a:xfrm>
            <a:off x="3474720" y="38404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$360K</a:t>
            </a:r>
            <a:endParaRPr lang="en-US" sz="1200" dirty="0"/>
          </a:p>
        </p:txBody>
      </p:sp>
      <p:sp>
        <p:nvSpPr>
          <p:cNvPr id="20" name="Shape 18"/>
          <p:cNvSpPr/>
          <p:nvPr/>
        </p:nvSpPr>
        <p:spPr>
          <a:xfrm>
            <a:off x="548640" y="4297680"/>
            <a:ext cx="5394960" cy="411480"/>
          </a:xfrm>
          <a:prstGeom prst="rect">
            <a:avLst/>
          </a:prstGeom>
          <a:solidFill>
            <a:srgbClr val="FAF6EA"/>
          </a:solidFill>
          <a:ln w="6350">
            <a:solidFill>
              <a:srgbClr val="F8EFD7"/>
            </a:solidFill>
            <a:prstDash val="solid"/>
          </a:ln>
        </p:spPr>
      </p:sp>
      <p:sp>
        <p:nvSpPr>
          <p:cNvPr id="21" name="Text 19"/>
          <p:cNvSpPr/>
          <p:nvPr/>
        </p:nvSpPr>
        <p:spPr>
          <a:xfrm>
            <a:off x="731520" y="42976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Current valuation</a:t>
            </a:r>
            <a:endParaRPr lang="en-US" sz="1200" dirty="0"/>
          </a:p>
        </p:txBody>
      </p:sp>
      <p:sp>
        <p:nvSpPr>
          <p:cNvPr id="22" name="Text 20"/>
          <p:cNvSpPr/>
          <p:nvPr/>
        </p:nvSpPr>
        <p:spPr>
          <a:xfrm>
            <a:off x="3474720" y="42976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$330K (0.92× rev)</a:t>
            </a:r>
            <a:endParaRPr lang="en-US" sz="1200" dirty="0"/>
          </a:p>
        </p:txBody>
      </p:sp>
      <p:sp>
        <p:nvSpPr>
          <p:cNvPr id="23" name="Shape 21"/>
          <p:cNvSpPr/>
          <p:nvPr/>
        </p:nvSpPr>
        <p:spPr>
          <a:xfrm>
            <a:off x="548640" y="4754880"/>
            <a:ext cx="5394960" cy="411480"/>
          </a:xfrm>
          <a:prstGeom prst="rect">
            <a:avLst/>
          </a:prstGeom>
          <a:solidFill>
            <a:srgbClr val="FFFFFF"/>
          </a:solidFill>
          <a:ln w="6350">
            <a:solidFill>
              <a:srgbClr val="F8EFD7"/>
            </a:solidFill>
            <a:prstDash val="solid"/>
          </a:ln>
        </p:spPr>
      </p:sp>
      <p:sp>
        <p:nvSpPr>
          <p:cNvPr id="24" name="Text 22"/>
          <p:cNvSpPr/>
          <p:nvPr/>
        </p:nvSpPr>
        <p:spPr>
          <a:xfrm>
            <a:off x="731520" y="47548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Payback path</a:t>
            </a:r>
            <a:endParaRPr lang="en-US" sz="1200" dirty="0"/>
          </a:p>
        </p:txBody>
      </p:sp>
      <p:sp>
        <p:nvSpPr>
          <p:cNvPr id="25" name="Text 23"/>
          <p:cNvSpPr/>
          <p:nvPr/>
        </p:nvSpPr>
        <p:spPr>
          <a:xfrm>
            <a:off x="3474720" y="47548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&lt;3 yrs at current margins</a:t>
            </a:r>
            <a:endParaRPr lang="en-US" sz="1200" dirty="0"/>
          </a:p>
        </p:txBody>
      </p:sp>
      <p:sp>
        <p:nvSpPr>
          <p:cNvPr id="26" name="Text 24"/>
          <p:cNvSpPr/>
          <p:nvPr/>
        </p:nvSpPr>
        <p:spPr>
          <a:xfrm>
            <a:off x="6126480" y="1554480"/>
            <a:ext cx="5394960" cy="365760"/>
          </a:xfrm>
          <a:prstGeom prst="rect">
            <a:avLst/>
          </a:prstGeom>
          <a:noFill/>
          <a:ln/>
        </p:spPr>
        <p:txBody>
          <a:bodyPr wrap="square" rtlCol="0" anchor="ctr"/>
          <a:lstStyle/>
          <a:p>
            <a:pPr indent="0" marL="0">
              <a:buNone/>
            </a:pPr>
            <a:r>
              <a:rPr lang="en-US" sz="1200" b="1" spc="300" kern="0" dirty="0">
                <a:solidFill>
                  <a:srgbClr val="A87618"/>
                </a:solidFill>
                <a:latin typeface="Calibri" pitchFamily="34" charset="0"/>
                <a:ea typeface="Calibri" pitchFamily="34" charset="-122"/>
                <a:cs typeface="Calibri" pitchFamily="34" charset="-120"/>
              </a:rPr>
              <a:t>BLUEMOUND · FOUNDER-FUNDED</a:t>
            </a:r>
            <a:endParaRPr lang="en-US" sz="1200" dirty="0"/>
          </a:p>
        </p:txBody>
      </p:sp>
      <p:sp>
        <p:nvSpPr>
          <p:cNvPr id="27" name="Shape 25"/>
          <p:cNvSpPr/>
          <p:nvPr/>
        </p:nvSpPr>
        <p:spPr>
          <a:xfrm>
            <a:off x="6126480" y="2011680"/>
            <a:ext cx="5394960" cy="411480"/>
          </a:xfrm>
          <a:prstGeom prst="rect">
            <a:avLst/>
          </a:prstGeom>
          <a:solidFill>
            <a:srgbClr val="FFFFFF"/>
          </a:solidFill>
          <a:ln w="6350">
            <a:solidFill>
              <a:srgbClr val="F8EFD7"/>
            </a:solidFill>
            <a:prstDash val="solid"/>
          </a:ln>
        </p:spPr>
      </p:sp>
      <p:sp>
        <p:nvSpPr>
          <p:cNvPr id="28" name="Text 26"/>
          <p:cNvSpPr/>
          <p:nvPr/>
        </p:nvSpPr>
        <p:spPr>
          <a:xfrm>
            <a:off x="6309360" y="20116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Acquisition price</a:t>
            </a:r>
            <a:endParaRPr lang="en-US" sz="1200" dirty="0"/>
          </a:p>
        </p:txBody>
      </p:sp>
      <p:sp>
        <p:nvSpPr>
          <p:cNvPr id="29" name="Text 27"/>
          <p:cNvSpPr/>
          <p:nvPr/>
        </p:nvSpPr>
        <p:spPr>
          <a:xfrm>
            <a:off x="9052560" y="20116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~$30-50K</a:t>
            </a:r>
            <a:endParaRPr lang="en-US" sz="1200" dirty="0"/>
          </a:p>
        </p:txBody>
      </p:sp>
      <p:sp>
        <p:nvSpPr>
          <p:cNvPr id="30" name="Shape 28"/>
          <p:cNvSpPr/>
          <p:nvPr/>
        </p:nvSpPr>
        <p:spPr>
          <a:xfrm>
            <a:off x="6126480" y="2468880"/>
            <a:ext cx="5394960" cy="411480"/>
          </a:xfrm>
          <a:prstGeom prst="rect">
            <a:avLst/>
          </a:prstGeom>
          <a:solidFill>
            <a:srgbClr val="FAF6EA"/>
          </a:solidFill>
          <a:ln w="6350">
            <a:solidFill>
              <a:srgbClr val="F8EFD7"/>
            </a:solidFill>
            <a:prstDash val="solid"/>
          </a:ln>
        </p:spPr>
      </p:sp>
      <p:sp>
        <p:nvSpPr>
          <p:cNvPr id="31" name="Text 29"/>
          <p:cNvSpPr/>
          <p:nvPr/>
        </p:nvSpPr>
        <p:spPr>
          <a:xfrm>
            <a:off x="6309360" y="24688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Founder capital</a:t>
            </a:r>
            <a:endParaRPr lang="en-US" sz="1200" dirty="0"/>
          </a:p>
        </p:txBody>
      </p:sp>
      <p:sp>
        <p:nvSpPr>
          <p:cNvPr id="32" name="Text 30"/>
          <p:cNvSpPr/>
          <p:nvPr/>
        </p:nvSpPr>
        <p:spPr>
          <a:xfrm>
            <a:off x="9052560" y="24688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UU + Jack</a:t>
            </a:r>
            <a:endParaRPr lang="en-US" sz="1200" dirty="0"/>
          </a:p>
        </p:txBody>
      </p:sp>
      <p:sp>
        <p:nvSpPr>
          <p:cNvPr id="33" name="Shape 31"/>
          <p:cNvSpPr/>
          <p:nvPr/>
        </p:nvSpPr>
        <p:spPr>
          <a:xfrm>
            <a:off x="6126480" y="2926080"/>
            <a:ext cx="5394960" cy="411480"/>
          </a:xfrm>
          <a:prstGeom prst="rect">
            <a:avLst/>
          </a:prstGeom>
          <a:solidFill>
            <a:srgbClr val="FFFFFF"/>
          </a:solidFill>
          <a:ln w="6350">
            <a:solidFill>
              <a:srgbClr val="F8EFD7"/>
            </a:solidFill>
            <a:prstDash val="solid"/>
          </a:ln>
        </p:spPr>
      </p:sp>
      <p:sp>
        <p:nvSpPr>
          <p:cNvPr id="34" name="Text 32"/>
          <p:cNvSpPr/>
          <p:nvPr/>
        </p:nvSpPr>
        <p:spPr>
          <a:xfrm>
            <a:off x="6309360" y="29260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MRR at acquisition</a:t>
            </a:r>
            <a:endParaRPr lang="en-US" sz="1200" dirty="0"/>
          </a:p>
        </p:txBody>
      </p:sp>
      <p:sp>
        <p:nvSpPr>
          <p:cNvPr id="35" name="Text 33"/>
          <p:cNvSpPr/>
          <p:nvPr/>
        </p:nvSpPr>
        <p:spPr>
          <a:xfrm>
            <a:off x="9052560" y="29260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$0 (closed shop)</a:t>
            </a:r>
            <a:endParaRPr lang="en-US" sz="1200" dirty="0"/>
          </a:p>
        </p:txBody>
      </p:sp>
      <p:sp>
        <p:nvSpPr>
          <p:cNvPr id="36" name="Shape 34"/>
          <p:cNvSpPr/>
          <p:nvPr/>
        </p:nvSpPr>
        <p:spPr>
          <a:xfrm>
            <a:off x="6126480" y="3383280"/>
            <a:ext cx="5394960" cy="411480"/>
          </a:xfrm>
          <a:prstGeom prst="rect">
            <a:avLst/>
          </a:prstGeom>
          <a:solidFill>
            <a:srgbClr val="FAF6EA"/>
          </a:solidFill>
          <a:ln w="6350">
            <a:solidFill>
              <a:srgbClr val="F8EFD7"/>
            </a:solidFill>
            <a:prstDash val="solid"/>
          </a:ln>
        </p:spPr>
      </p:sp>
      <p:sp>
        <p:nvSpPr>
          <p:cNvPr id="37" name="Text 35"/>
          <p:cNvSpPr/>
          <p:nvPr/>
        </p:nvSpPr>
        <p:spPr>
          <a:xfrm>
            <a:off x="6309360" y="33832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MRR today (1 month)</a:t>
            </a:r>
            <a:endParaRPr lang="en-US" sz="1200" dirty="0"/>
          </a:p>
        </p:txBody>
      </p:sp>
      <p:sp>
        <p:nvSpPr>
          <p:cNvPr id="38" name="Text 36"/>
          <p:cNvSpPr/>
          <p:nvPr/>
        </p:nvSpPr>
        <p:spPr>
          <a:xfrm>
            <a:off x="9052560" y="33832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$8K (NEW)</a:t>
            </a:r>
            <a:endParaRPr lang="en-US" sz="1200" dirty="0"/>
          </a:p>
        </p:txBody>
      </p:sp>
      <p:sp>
        <p:nvSpPr>
          <p:cNvPr id="39" name="Shape 37"/>
          <p:cNvSpPr/>
          <p:nvPr/>
        </p:nvSpPr>
        <p:spPr>
          <a:xfrm>
            <a:off x="6126480" y="3840480"/>
            <a:ext cx="5394960" cy="411480"/>
          </a:xfrm>
          <a:prstGeom prst="rect">
            <a:avLst/>
          </a:prstGeom>
          <a:solidFill>
            <a:srgbClr val="FFFFFF"/>
          </a:solidFill>
          <a:ln w="6350">
            <a:solidFill>
              <a:srgbClr val="F8EFD7"/>
            </a:solidFill>
            <a:prstDash val="solid"/>
          </a:ln>
        </p:spPr>
      </p:sp>
      <p:sp>
        <p:nvSpPr>
          <p:cNvPr id="40" name="Text 38"/>
          <p:cNvSpPr/>
          <p:nvPr/>
        </p:nvSpPr>
        <p:spPr>
          <a:xfrm>
            <a:off x="6309360" y="38404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Annualized</a:t>
            </a:r>
            <a:endParaRPr lang="en-US" sz="1200" dirty="0"/>
          </a:p>
        </p:txBody>
      </p:sp>
      <p:sp>
        <p:nvSpPr>
          <p:cNvPr id="41" name="Text 39"/>
          <p:cNvSpPr/>
          <p:nvPr/>
        </p:nvSpPr>
        <p:spPr>
          <a:xfrm>
            <a:off x="9052560" y="38404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$96K</a:t>
            </a:r>
            <a:endParaRPr lang="en-US" sz="1200" dirty="0"/>
          </a:p>
        </p:txBody>
      </p:sp>
      <p:sp>
        <p:nvSpPr>
          <p:cNvPr id="42" name="Shape 40"/>
          <p:cNvSpPr/>
          <p:nvPr/>
        </p:nvSpPr>
        <p:spPr>
          <a:xfrm>
            <a:off x="6126480" y="4297680"/>
            <a:ext cx="5394960" cy="411480"/>
          </a:xfrm>
          <a:prstGeom prst="rect">
            <a:avLst/>
          </a:prstGeom>
          <a:solidFill>
            <a:srgbClr val="FAF6EA"/>
          </a:solidFill>
          <a:ln w="6350">
            <a:solidFill>
              <a:srgbClr val="F8EFD7"/>
            </a:solidFill>
            <a:prstDash val="solid"/>
          </a:ln>
        </p:spPr>
      </p:sp>
      <p:sp>
        <p:nvSpPr>
          <p:cNvPr id="43" name="Text 41"/>
          <p:cNvSpPr/>
          <p:nvPr/>
        </p:nvSpPr>
        <p:spPr>
          <a:xfrm>
            <a:off x="6309360" y="42976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Current valuation</a:t>
            </a:r>
            <a:endParaRPr lang="en-US" sz="1200" dirty="0"/>
          </a:p>
        </p:txBody>
      </p:sp>
      <p:sp>
        <p:nvSpPr>
          <p:cNvPr id="44" name="Text 42"/>
          <p:cNvSpPr/>
          <p:nvPr/>
        </p:nvSpPr>
        <p:spPr>
          <a:xfrm>
            <a:off x="9052560" y="42976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$80K (0.83× rev)</a:t>
            </a:r>
            <a:endParaRPr lang="en-US" sz="1200" dirty="0"/>
          </a:p>
        </p:txBody>
      </p:sp>
      <p:sp>
        <p:nvSpPr>
          <p:cNvPr id="45" name="Shape 43"/>
          <p:cNvSpPr/>
          <p:nvPr/>
        </p:nvSpPr>
        <p:spPr>
          <a:xfrm>
            <a:off x="6126480" y="4754880"/>
            <a:ext cx="5394960" cy="411480"/>
          </a:xfrm>
          <a:prstGeom prst="rect">
            <a:avLst/>
          </a:prstGeom>
          <a:solidFill>
            <a:srgbClr val="FFFFFF"/>
          </a:solidFill>
          <a:ln w="6350">
            <a:solidFill>
              <a:srgbClr val="F8EFD7"/>
            </a:solidFill>
            <a:prstDash val="solid"/>
          </a:ln>
        </p:spPr>
      </p:sp>
      <p:sp>
        <p:nvSpPr>
          <p:cNvPr id="46" name="Text 44"/>
          <p:cNvSpPr/>
          <p:nvPr/>
        </p:nvSpPr>
        <p:spPr>
          <a:xfrm>
            <a:off x="6309360" y="4754880"/>
            <a:ext cx="2743200" cy="411480"/>
          </a:xfrm>
          <a:prstGeom prst="rect">
            <a:avLst/>
          </a:prstGeom>
          <a:noFill/>
          <a:ln/>
        </p:spPr>
        <p:txBody>
          <a:bodyPr wrap="square" rtlCol="0" anchor="ctr"/>
          <a:lstStyle/>
          <a:p>
            <a:pPr indent="0" marL="0">
              <a:buNone/>
            </a:pPr>
            <a:r>
              <a:rPr lang="en-US" sz="1200" dirty="0">
                <a:solidFill>
                  <a:srgbClr val="4A3825"/>
                </a:solidFill>
                <a:latin typeface="Calibri" pitchFamily="34" charset="0"/>
                <a:ea typeface="Calibri" pitchFamily="34" charset="-122"/>
                <a:cs typeface="Calibri" pitchFamily="34" charset="-120"/>
              </a:rPr>
              <a:t>Payback path</a:t>
            </a:r>
            <a:endParaRPr lang="en-US" sz="1200" dirty="0"/>
          </a:p>
        </p:txBody>
      </p:sp>
      <p:sp>
        <p:nvSpPr>
          <p:cNvPr id="47" name="Text 45"/>
          <p:cNvSpPr/>
          <p:nvPr/>
        </p:nvSpPr>
        <p:spPr>
          <a:xfrm>
            <a:off x="9052560" y="4754880"/>
            <a:ext cx="2286000" cy="411480"/>
          </a:xfrm>
          <a:prstGeom prst="rect">
            <a:avLst/>
          </a:prstGeom>
          <a:noFill/>
          <a:ln/>
        </p:spPr>
        <p:txBody>
          <a:bodyPr wrap="square" rtlCol="0" anchor="ctr"/>
          <a:lstStyle/>
          <a:p>
            <a:pPr algn="r" indent="0" marL="0">
              <a:buNone/>
            </a:pPr>
            <a:r>
              <a:rPr lang="en-US" sz="1200" b="1" dirty="0">
                <a:solidFill>
                  <a:srgbClr val="1A1208"/>
                </a:solidFill>
                <a:latin typeface="Consolas" pitchFamily="34" charset="0"/>
                <a:ea typeface="Consolas" pitchFamily="34" charset="-122"/>
                <a:cs typeface="Consolas" pitchFamily="34" charset="-120"/>
              </a:rPr>
              <a:t>&lt;2 yrs · still ramping</a:t>
            </a:r>
            <a:endParaRPr lang="en-US" sz="1200" dirty="0"/>
          </a:p>
        </p:txBody>
      </p:sp>
      <p:sp>
        <p:nvSpPr>
          <p:cNvPr id="48" name="Text 46"/>
          <p:cNvSpPr/>
          <p:nvPr/>
        </p:nvSpPr>
        <p:spPr>
          <a:xfrm>
            <a:off x="548640" y="6035040"/>
            <a:ext cx="11064240" cy="457200"/>
          </a:xfrm>
          <a:prstGeom prst="rect">
            <a:avLst/>
          </a:prstGeom>
          <a:noFill/>
          <a:ln/>
        </p:spPr>
        <p:txBody>
          <a:bodyPr wrap="square" rtlCol="0" anchor="ctr"/>
          <a:lstStyle/>
          <a:p>
            <a:pPr algn="ctr" indent="0" marL="0">
              <a:buNone/>
            </a:pPr>
            <a:r>
              <a:rPr lang="en-US" sz="1300" i="1" dirty="0">
                <a:solidFill>
                  <a:srgbClr val="8B6E3D"/>
                </a:solidFill>
                <a:latin typeface="Calibri" pitchFamily="34" charset="0"/>
                <a:ea typeface="Calibri" pitchFamily="34" charset="-122"/>
                <a:cs typeface="Calibri" pitchFamily="34" charset="-120"/>
              </a:rPr>
              <a:t>The model works at both ends of the funding spectrum. LP-funded scales capital; founder-funded scales velocity.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A"/>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What we are asking for</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$1M total round · $300K SAFE first to fund HoldCo formation · $700K follow-on as warranted</a:t>
            </a:r>
            <a:endParaRPr lang="en-US" sz="1400" dirty="0"/>
          </a:p>
        </p:txBody>
      </p:sp>
      <p:sp>
        <p:nvSpPr>
          <p:cNvPr id="4" name="Shape 2"/>
          <p:cNvSpPr/>
          <p:nvPr/>
        </p:nvSpPr>
        <p:spPr>
          <a:xfrm>
            <a:off x="548640" y="1554480"/>
            <a:ext cx="11064240" cy="2560320"/>
          </a:xfrm>
          <a:prstGeom prst="rect">
            <a:avLst/>
          </a:prstGeom>
          <a:solidFill>
            <a:srgbClr val="FFFFFF"/>
          </a:solidFill>
          <a:ln w="25400">
            <a:solidFill>
              <a:srgbClr val="D99C2B"/>
            </a:solidFill>
            <a:prstDash val="solid"/>
          </a:ln>
        </p:spPr>
      </p:sp>
      <p:sp>
        <p:nvSpPr>
          <p:cNvPr id="5" name="Text 3"/>
          <p:cNvSpPr/>
          <p:nvPr/>
        </p:nvSpPr>
        <p:spPr>
          <a:xfrm>
            <a:off x="822960" y="1737360"/>
            <a:ext cx="10515600" cy="274320"/>
          </a:xfrm>
          <a:prstGeom prst="rect">
            <a:avLst/>
          </a:prstGeom>
          <a:noFill/>
          <a:ln/>
        </p:spPr>
        <p:txBody>
          <a:bodyPr wrap="square" rtlCol="0" anchor="ctr"/>
          <a:lstStyle/>
          <a:p>
            <a:pPr indent="0" marL="0">
              <a:buNone/>
            </a:pPr>
            <a:r>
              <a:rPr lang="en-US" sz="1100" b="1" spc="300" kern="0" dirty="0">
                <a:solidFill>
                  <a:srgbClr val="A87618"/>
                </a:solidFill>
                <a:latin typeface="Calibri" pitchFamily="34" charset="0"/>
                <a:ea typeface="Calibri" pitchFamily="34" charset="-122"/>
                <a:cs typeface="Calibri" pitchFamily="34" charset="-120"/>
              </a:rPr>
              <a:t>SAFE TERMS</a:t>
            </a:r>
            <a:endParaRPr lang="en-US" sz="1100" dirty="0"/>
          </a:p>
        </p:txBody>
      </p:sp>
      <p:sp>
        <p:nvSpPr>
          <p:cNvPr id="6" name="Text 4"/>
          <p:cNvSpPr/>
          <p:nvPr/>
        </p:nvSpPr>
        <p:spPr>
          <a:xfrm>
            <a:off x="822960" y="2011680"/>
            <a:ext cx="10515600" cy="548640"/>
          </a:xfrm>
          <a:prstGeom prst="rect">
            <a:avLst/>
          </a:prstGeom>
          <a:noFill/>
          <a:ln/>
        </p:spPr>
        <p:txBody>
          <a:bodyPr wrap="square" rtlCol="0" anchor="ctr"/>
          <a:lstStyle/>
          <a:p>
            <a:pPr indent="0" marL="0">
              <a:buNone/>
            </a:pPr>
            <a:r>
              <a:rPr lang="en-US" sz="2600" b="1" dirty="0">
                <a:solidFill>
                  <a:srgbClr val="1A1208"/>
                </a:solidFill>
                <a:latin typeface="Georgia" pitchFamily="34" charset="0"/>
                <a:ea typeface="Georgia" pitchFamily="34" charset="-122"/>
                <a:cs typeface="Georgia" pitchFamily="34" charset="-120"/>
              </a:rPr>
              <a:t>$300K · $2M post-money cap · 20% discount · MFN</a:t>
            </a:r>
            <a:endParaRPr lang="en-US" sz="2600" dirty="0"/>
          </a:p>
        </p:txBody>
      </p:sp>
      <p:sp>
        <p:nvSpPr>
          <p:cNvPr id="7" name="Text 5"/>
          <p:cNvSpPr/>
          <p:nvPr/>
        </p:nvSpPr>
        <p:spPr>
          <a:xfrm>
            <a:off x="822960" y="2743200"/>
            <a:ext cx="2560320" cy="237744"/>
          </a:xfrm>
          <a:prstGeom prst="rect">
            <a:avLst/>
          </a:prstGeom>
          <a:noFill/>
          <a:ln/>
        </p:spPr>
        <p:txBody>
          <a:bodyPr wrap="square" rtlCol="0" anchor="ctr"/>
          <a:lstStyle/>
          <a:p>
            <a:pPr indent="0" marL="0">
              <a:buNone/>
            </a:pPr>
            <a:r>
              <a:rPr lang="en-US" sz="1150" b="1" dirty="0">
                <a:solidFill>
                  <a:srgbClr val="8B6E3D"/>
                </a:solidFill>
                <a:latin typeface="Calibri" pitchFamily="34" charset="0"/>
                <a:ea typeface="Calibri" pitchFamily="34" charset="-122"/>
                <a:cs typeface="Calibri" pitchFamily="34" charset="-120"/>
              </a:rPr>
              <a:t>Instrument</a:t>
            </a:r>
            <a:endParaRPr lang="en-US" sz="1150" dirty="0"/>
          </a:p>
        </p:txBody>
      </p:sp>
      <p:sp>
        <p:nvSpPr>
          <p:cNvPr id="8" name="Text 6"/>
          <p:cNvSpPr/>
          <p:nvPr/>
        </p:nvSpPr>
        <p:spPr>
          <a:xfrm>
            <a:off x="3383280" y="2743200"/>
            <a:ext cx="7955280" cy="237744"/>
          </a:xfrm>
          <a:prstGeom prst="rect">
            <a:avLst/>
          </a:prstGeom>
          <a:noFill/>
          <a:ln/>
        </p:spPr>
        <p:txBody>
          <a:bodyPr wrap="square" rtlCol="0" anchor="ctr"/>
          <a:lstStyle/>
          <a:p>
            <a:pPr indent="0" marL="0">
              <a:buNone/>
            </a:pPr>
            <a:r>
              <a:rPr lang="en-US" sz="1150" dirty="0">
                <a:solidFill>
                  <a:srgbClr val="4A3825"/>
                </a:solidFill>
                <a:latin typeface="Calibri" pitchFamily="34" charset="0"/>
                <a:ea typeface="Calibri" pitchFamily="34" charset="-122"/>
                <a:cs typeface="Calibri" pitchFamily="34" charset="-120"/>
              </a:rPr>
              <a:t>SAFE (Simple Agreement for Future Equity) · Y Combinator post-money template</a:t>
            </a:r>
            <a:endParaRPr lang="en-US" sz="1150" dirty="0"/>
          </a:p>
        </p:txBody>
      </p:sp>
      <p:sp>
        <p:nvSpPr>
          <p:cNvPr id="9" name="Text 7"/>
          <p:cNvSpPr/>
          <p:nvPr/>
        </p:nvSpPr>
        <p:spPr>
          <a:xfrm>
            <a:off x="822960" y="2999232"/>
            <a:ext cx="2560320" cy="237744"/>
          </a:xfrm>
          <a:prstGeom prst="rect">
            <a:avLst/>
          </a:prstGeom>
          <a:noFill/>
          <a:ln/>
        </p:spPr>
        <p:txBody>
          <a:bodyPr wrap="square" rtlCol="0" anchor="ctr"/>
          <a:lstStyle/>
          <a:p>
            <a:pPr indent="0" marL="0">
              <a:buNone/>
            </a:pPr>
            <a:r>
              <a:rPr lang="en-US" sz="1150" b="1" dirty="0">
                <a:solidFill>
                  <a:srgbClr val="8B6E3D"/>
                </a:solidFill>
                <a:latin typeface="Calibri" pitchFamily="34" charset="0"/>
                <a:ea typeface="Calibri" pitchFamily="34" charset="-122"/>
                <a:cs typeface="Calibri" pitchFamily="34" charset="-120"/>
              </a:rPr>
              <a:t>Valuation cap</a:t>
            </a:r>
            <a:endParaRPr lang="en-US" sz="1150" dirty="0"/>
          </a:p>
        </p:txBody>
      </p:sp>
      <p:sp>
        <p:nvSpPr>
          <p:cNvPr id="10" name="Text 8"/>
          <p:cNvSpPr/>
          <p:nvPr/>
        </p:nvSpPr>
        <p:spPr>
          <a:xfrm>
            <a:off x="3383280" y="2999232"/>
            <a:ext cx="7955280" cy="237744"/>
          </a:xfrm>
          <a:prstGeom prst="rect">
            <a:avLst/>
          </a:prstGeom>
          <a:noFill/>
          <a:ln/>
        </p:spPr>
        <p:txBody>
          <a:bodyPr wrap="square" rtlCol="0" anchor="ctr"/>
          <a:lstStyle/>
          <a:p>
            <a:pPr indent="0" marL="0">
              <a:buNone/>
            </a:pPr>
            <a:r>
              <a:rPr lang="en-US" sz="1150" dirty="0">
                <a:solidFill>
                  <a:srgbClr val="4A3825"/>
                </a:solidFill>
                <a:latin typeface="Calibri" pitchFamily="34" charset="0"/>
                <a:ea typeface="Calibri" pitchFamily="34" charset="-122"/>
                <a:cs typeface="Calibri" pitchFamily="34" charset="-120"/>
              </a:rPr>
              <a:t>$2M post-money · approximately 1.5× current aggregate shop value</a:t>
            </a:r>
            <a:endParaRPr lang="en-US" sz="1150" dirty="0"/>
          </a:p>
        </p:txBody>
      </p:sp>
      <p:sp>
        <p:nvSpPr>
          <p:cNvPr id="11" name="Text 9"/>
          <p:cNvSpPr/>
          <p:nvPr/>
        </p:nvSpPr>
        <p:spPr>
          <a:xfrm>
            <a:off x="822960" y="3255264"/>
            <a:ext cx="2560320" cy="237744"/>
          </a:xfrm>
          <a:prstGeom prst="rect">
            <a:avLst/>
          </a:prstGeom>
          <a:noFill/>
          <a:ln/>
        </p:spPr>
        <p:txBody>
          <a:bodyPr wrap="square" rtlCol="0" anchor="ctr"/>
          <a:lstStyle/>
          <a:p>
            <a:pPr indent="0" marL="0">
              <a:buNone/>
            </a:pPr>
            <a:r>
              <a:rPr lang="en-US" sz="1150" b="1" dirty="0">
                <a:solidFill>
                  <a:srgbClr val="8B6E3D"/>
                </a:solidFill>
                <a:latin typeface="Calibri" pitchFamily="34" charset="0"/>
                <a:ea typeface="Calibri" pitchFamily="34" charset="-122"/>
                <a:cs typeface="Calibri" pitchFamily="34" charset="-120"/>
              </a:rPr>
              <a:t>Discount</a:t>
            </a:r>
            <a:endParaRPr lang="en-US" sz="1150" dirty="0"/>
          </a:p>
        </p:txBody>
      </p:sp>
      <p:sp>
        <p:nvSpPr>
          <p:cNvPr id="12" name="Text 10"/>
          <p:cNvSpPr/>
          <p:nvPr/>
        </p:nvSpPr>
        <p:spPr>
          <a:xfrm>
            <a:off x="3383280" y="3255264"/>
            <a:ext cx="7955280" cy="237744"/>
          </a:xfrm>
          <a:prstGeom prst="rect">
            <a:avLst/>
          </a:prstGeom>
          <a:noFill/>
          <a:ln/>
        </p:spPr>
        <p:txBody>
          <a:bodyPr wrap="square" rtlCol="0" anchor="ctr"/>
          <a:lstStyle/>
          <a:p>
            <a:pPr indent="0" marL="0">
              <a:buNone/>
            </a:pPr>
            <a:r>
              <a:rPr lang="en-US" sz="1150" dirty="0">
                <a:solidFill>
                  <a:srgbClr val="4A3825"/>
                </a:solidFill>
                <a:latin typeface="Calibri" pitchFamily="34" charset="0"/>
                <a:ea typeface="Calibri" pitchFamily="34" charset="-122"/>
                <a:cs typeface="Calibri" pitchFamily="34" charset="-120"/>
              </a:rPr>
              <a:t>20% on next priced round · the greater-of mechanic favors investor at conversion</a:t>
            </a:r>
            <a:endParaRPr lang="en-US" sz="1150" dirty="0"/>
          </a:p>
        </p:txBody>
      </p:sp>
      <p:sp>
        <p:nvSpPr>
          <p:cNvPr id="13" name="Text 11"/>
          <p:cNvSpPr/>
          <p:nvPr/>
        </p:nvSpPr>
        <p:spPr>
          <a:xfrm>
            <a:off x="822960" y="3511296"/>
            <a:ext cx="2560320" cy="237744"/>
          </a:xfrm>
          <a:prstGeom prst="rect">
            <a:avLst/>
          </a:prstGeom>
          <a:noFill/>
          <a:ln/>
        </p:spPr>
        <p:txBody>
          <a:bodyPr wrap="square" rtlCol="0" anchor="ctr"/>
          <a:lstStyle/>
          <a:p>
            <a:pPr indent="0" marL="0">
              <a:buNone/>
            </a:pPr>
            <a:r>
              <a:rPr lang="en-US" sz="1150" b="1" dirty="0">
                <a:solidFill>
                  <a:srgbClr val="8B6E3D"/>
                </a:solidFill>
                <a:latin typeface="Calibri" pitchFamily="34" charset="0"/>
                <a:ea typeface="Calibri" pitchFamily="34" charset="-122"/>
                <a:cs typeface="Calibri" pitchFamily="34" charset="-120"/>
              </a:rPr>
              <a:t>MFN clause</a:t>
            </a:r>
            <a:endParaRPr lang="en-US" sz="1150" dirty="0"/>
          </a:p>
        </p:txBody>
      </p:sp>
      <p:sp>
        <p:nvSpPr>
          <p:cNvPr id="14" name="Text 12"/>
          <p:cNvSpPr/>
          <p:nvPr/>
        </p:nvSpPr>
        <p:spPr>
          <a:xfrm>
            <a:off x="3383280" y="3511296"/>
            <a:ext cx="7955280" cy="237744"/>
          </a:xfrm>
          <a:prstGeom prst="rect">
            <a:avLst/>
          </a:prstGeom>
          <a:noFill/>
          <a:ln/>
        </p:spPr>
        <p:txBody>
          <a:bodyPr wrap="square" rtlCol="0" anchor="ctr"/>
          <a:lstStyle/>
          <a:p>
            <a:pPr indent="0" marL="0">
              <a:buNone/>
            </a:pPr>
            <a:r>
              <a:rPr lang="en-US" sz="1150" dirty="0">
                <a:solidFill>
                  <a:srgbClr val="4A3825"/>
                </a:solidFill>
                <a:latin typeface="Calibri" pitchFamily="34" charset="0"/>
                <a:ea typeface="Calibri" pitchFamily="34" charset="-122"/>
                <a:cs typeface="Calibri" pitchFamily="34" charset="-120"/>
              </a:rPr>
              <a:t>Any later SAFE on better terms triggers automatic upgrade for early participants</a:t>
            </a:r>
            <a:endParaRPr lang="en-US" sz="1150" dirty="0"/>
          </a:p>
        </p:txBody>
      </p:sp>
      <p:sp>
        <p:nvSpPr>
          <p:cNvPr id="15" name="Text 13"/>
          <p:cNvSpPr/>
          <p:nvPr/>
        </p:nvSpPr>
        <p:spPr>
          <a:xfrm>
            <a:off x="822960" y="3767328"/>
            <a:ext cx="2560320" cy="237744"/>
          </a:xfrm>
          <a:prstGeom prst="rect">
            <a:avLst/>
          </a:prstGeom>
          <a:noFill/>
          <a:ln/>
        </p:spPr>
        <p:txBody>
          <a:bodyPr wrap="square" rtlCol="0" anchor="ctr"/>
          <a:lstStyle/>
          <a:p>
            <a:pPr indent="0" marL="0">
              <a:buNone/>
            </a:pPr>
            <a:r>
              <a:rPr lang="en-US" sz="1150" b="1" dirty="0">
                <a:solidFill>
                  <a:srgbClr val="8B6E3D"/>
                </a:solidFill>
                <a:latin typeface="Calibri" pitchFamily="34" charset="0"/>
                <a:ea typeface="Calibri" pitchFamily="34" charset="-122"/>
                <a:cs typeface="Calibri" pitchFamily="34" charset="-120"/>
              </a:rPr>
              <a:t>Conversion</a:t>
            </a:r>
            <a:endParaRPr lang="en-US" sz="1150" dirty="0"/>
          </a:p>
        </p:txBody>
      </p:sp>
      <p:sp>
        <p:nvSpPr>
          <p:cNvPr id="16" name="Text 14"/>
          <p:cNvSpPr/>
          <p:nvPr/>
        </p:nvSpPr>
        <p:spPr>
          <a:xfrm>
            <a:off x="3383280" y="3767328"/>
            <a:ext cx="7955280" cy="237744"/>
          </a:xfrm>
          <a:prstGeom prst="rect">
            <a:avLst/>
          </a:prstGeom>
          <a:noFill/>
          <a:ln/>
        </p:spPr>
        <p:txBody>
          <a:bodyPr wrap="square" rtlCol="0" anchor="ctr"/>
          <a:lstStyle/>
          <a:p>
            <a:pPr indent="0" marL="0">
              <a:buNone/>
            </a:pPr>
            <a:r>
              <a:rPr lang="en-US" sz="1150" dirty="0">
                <a:solidFill>
                  <a:srgbClr val="4A3825"/>
                </a:solidFill>
                <a:latin typeface="Calibri" pitchFamily="34" charset="0"/>
                <a:ea typeface="Calibri" pitchFamily="34" charset="-122"/>
                <a:cs typeface="Calibri" pitchFamily="34" charset="-120"/>
              </a:rPr>
              <a:t>Series A within 6-12 months at $4-5M pre-money · $1M raise · SAFE converts at cap</a:t>
            </a:r>
            <a:endParaRPr lang="en-US" sz="1150" dirty="0"/>
          </a:p>
        </p:txBody>
      </p:sp>
      <p:sp>
        <p:nvSpPr>
          <p:cNvPr id="17" name="Text 15"/>
          <p:cNvSpPr/>
          <p:nvPr/>
        </p:nvSpPr>
        <p:spPr>
          <a:xfrm>
            <a:off x="548640" y="4389120"/>
            <a:ext cx="11064240" cy="274320"/>
          </a:xfrm>
          <a:prstGeom prst="rect">
            <a:avLst/>
          </a:prstGeom>
          <a:noFill/>
          <a:ln/>
        </p:spPr>
        <p:txBody>
          <a:bodyPr wrap="square" rtlCol="0" anchor="ctr"/>
          <a:lstStyle/>
          <a:p>
            <a:pPr indent="0" marL="0">
              <a:buNone/>
            </a:pPr>
            <a:r>
              <a:rPr lang="en-US" sz="1100" b="1" spc="300" kern="0" dirty="0">
                <a:solidFill>
                  <a:srgbClr val="A87618"/>
                </a:solidFill>
                <a:latin typeface="Calibri" pitchFamily="34" charset="0"/>
                <a:ea typeface="Calibri" pitchFamily="34" charset="-122"/>
                <a:cs typeface="Calibri" pitchFamily="34" charset="-120"/>
              </a:rPr>
              <a:t>USE OF $300K SAFE PROCEEDS</a:t>
            </a:r>
            <a:endParaRPr lang="en-US" sz="1100" dirty="0"/>
          </a:p>
        </p:txBody>
      </p:sp>
      <p:sp>
        <p:nvSpPr>
          <p:cNvPr id="18" name="Shape 16"/>
          <p:cNvSpPr/>
          <p:nvPr/>
        </p:nvSpPr>
        <p:spPr>
          <a:xfrm>
            <a:off x="548640" y="4754880"/>
            <a:ext cx="3566160" cy="777240"/>
          </a:xfrm>
          <a:prstGeom prst="rect">
            <a:avLst/>
          </a:prstGeom>
          <a:solidFill>
            <a:srgbClr val="FFFFFF"/>
          </a:solidFill>
          <a:ln w="12700">
            <a:solidFill>
              <a:srgbClr val="F8EFD7"/>
            </a:solidFill>
            <a:prstDash val="solid"/>
          </a:ln>
        </p:spPr>
      </p:sp>
      <p:sp>
        <p:nvSpPr>
          <p:cNvPr id="19" name="Text 17"/>
          <p:cNvSpPr/>
          <p:nvPr/>
        </p:nvSpPr>
        <p:spPr>
          <a:xfrm>
            <a:off x="731520" y="4800600"/>
            <a:ext cx="3200400" cy="32004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$55-90K</a:t>
            </a:r>
            <a:endParaRPr lang="en-US" sz="1600" dirty="0"/>
          </a:p>
        </p:txBody>
      </p:sp>
      <p:sp>
        <p:nvSpPr>
          <p:cNvPr id="20" name="Text 18"/>
          <p:cNvSpPr/>
          <p:nvPr/>
        </p:nvSpPr>
        <p:spPr>
          <a:xfrm>
            <a:off x="731520" y="5120640"/>
            <a:ext cx="3200400" cy="411480"/>
          </a:xfrm>
          <a:prstGeom prst="rect">
            <a:avLst/>
          </a:prstGeom>
          <a:noFill/>
          <a:ln/>
        </p:spPr>
        <p:txBody>
          <a:bodyPr wrap="square" rtlCol="0" anchor="ctr"/>
          <a:lstStyle/>
          <a:p>
            <a:pPr indent="0" marL="0">
              <a:buNone/>
            </a:pPr>
            <a:r>
              <a:rPr lang="en-US" sz="1050" dirty="0">
                <a:solidFill>
                  <a:srgbClr val="4A3825"/>
                </a:solidFill>
                <a:latin typeface="Calibri" pitchFamily="34" charset="0"/>
                <a:ea typeface="Calibri" pitchFamily="34" charset="-122"/>
                <a:cs typeface="Calibri" pitchFamily="34" charset="-120"/>
              </a:rPr>
              <a:t>Legal · §721 rollup, HoldCo formation, OA, securities counsel</a:t>
            </a:r>
            <a:endParaRPr lang="en-US" sz="1050" dirty="0"/>
          </a:p>
        </p:txBody>
      </p:sp>
      <p:sp>
        <p:nvSpPr>
          <p:cNvPr id="21" name="Shape 19"/>
          <p:cNvSpPr/>
          <p:nvPr/>
        </p:nvSpPr>
        <p:spPr>
          <a:xfrm>
            <a:off x="4297680" y="4754880"/>
            <a:ext cx="3566160" cy="777240"/>
          </a:xfrm>
          <a:prstGeom prst="rect">
            <a:avLst/>
          </a:prstGeom>
          <a:solidFill>
            <a:srgbClr val="FFFFFF"/>
          </a:solidFill>
          <a:ln w="12700">
            <a:solidFill>
              <a:srgbClr val="F8EFD7"/>
            </a:solidFill>
            <a:prstDash val="solid"/>
          </a:ln>
        </p:spPr>
      </p:sp>
      <p:sp>
        <p:nvSpPr>
          <p:cNvPr id="22" name="Text 20"/>
          <p:cNvSpPr/>
          <p:nvPr/>
        </p:nvSpPr>
        <p:spPr>
          <a:xfrm>
            <a:off x="4480560" y="4800600"/>
            <a:ext cx="3200400" cy="32004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$60K</a:t>
            </a:r>
            <a:endParaRPr lang="en-US" sz="1600" dirty="0"/>
          </a:p>
        </p:txBody>
      </p:sp>
      <p:sp>
        <p:nvSpPr>
          <p:cNvPr id="23" name="Text 21"/>
          <p:cNvSpPr/>
          <p:nvPr/>
        </p:nvSpPr>
        <p:spPr>
          <a:xfrm>
            <a:off x="4480560" y="5120640"/>
            <a:ext cx="3200400" cy="411480"/>
          </a:xfrm>
          <a:prstGeom prst="rect">
            <a:avLst/>
          </a:prstGeom>
          <a:noFill/>
          <a:ln/>
        </p:spPr>
        <p:txBody>
          <a:bodyPr wrap="square" rtlCol="0" anchor="ctr"/>
          <a:lstStyle/>
          <a:p>
            <a:pPr indent="0" marL="0">
              <a:buNone/>
            </a:pPr>
            <a:r>
              <a:rPr lang="en-US" sz="1050" dirty="0">
                <a:solidFill>
                  <a:srgbClr val="4A3825"/>
                </a:solidFill>
                <a:latin typeface="Calibri" pitchFamily="34" charset="0"/>
                <a:ea typeface="Calibri" pitchFamily="34" charset="-122"/>
                <a:cs typeface="Calibri" pitchFamily="34" charset="-120"/>
              </a:rPr>
              <a:t>Operations · Jonathan ops manager hire (first 6-9 months)</a:t>
            </a:r>
            <a:endParaRPr lang="en-US" sz="1050" dirty="0"/>
          </a:p>
        </p:txBody>
      </p:sp>
      <p:sp>
        <p:nvSpPr>
          <p:cNvPr id="24" name="Shape 22"/>
          <p:cNvSpPr/>
          <p:nvPr/>
        </p:nvSpPr>
        <p:spPr>
          <a:xfrm>
            <a:off x="8046720" y="4754880"/>
            <a:ext cx="3566160" cy="777240"/>
          </a:xfrm>
          <a:prstGeom prst="rect">
            <a:avLst/>
          </a:prstGeom>
          <a:solidFill>
            <a:srgbClr val="FFFFFF"/>
          </a:solidFill>
          <a:ln w="12700">
            <a:solidFill>
              <a:srgbClr val="F8EFD7"/>
            </a:solidFill>
            <a:prstDash val="solid"/>
          </a:ln>
        </p:spPr>
      </p:sp>
      <p:sp>
        <p:nvSpPr>
          <p:cNvPr id="25" name="Text 23"/>
          <p:cNvSpPr/>
          <p:nvPr/>
        </p:nvSpPr>
        <p:spPr>
          <a:xfrm>
            <a:off x="8229600" y="4800600"/>
            <a:ext cx="3200400" cy="32004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$50K</a:t>
            </a:r>
            <a:endParaRPr lang="en-US" sz="1600" dirty="0"/>
          </a:p>
        </p:txBody>
      </p:sp>
      <p:sp>
        <p:nvSpPr>
          <p:cNvPr id="26" name="Text 24"/>
          <p:cNvSpPr/>
          <p:nvPr/>
        </p:nvSpPr>
        <p:spPr>
          <a:xfrm>
            <a:off x="8229600" y="5120640"/>
            <a:ext cx="3200400" cy="411480"/>
          </a:xfrm>
          <a:prstGeom prst="rect">
            <a:avLst/>
          </a:prstGeom>
          <a:noFill/>
          <a:ln/>
        </p:spPr>
        <p:txBody>
          <a:bodyPr wrap="square" rtlCol="0" anchor="ctr"/>
          <a:lstStyle/>
          <a:p>
            <a:pPr indent="0" marL="0">
              <a:buNone/>
            </a:pPr>
            <a:r>
              <a:rPr lang="en-US" sz="1050" dirty="0">
                <a:solidFill>
                  <a:srgbClr val="4A3825"/>
                </a:solidFill>
                <a:latin typeface="Calibri" pitchFamily="34" charset="0"/>
                <a:ea typeface="Calibri" pitchFamily="34" charset="-122"/>
                <a:cs typeface="Calibri" pitchFamily="34" charset="-120"/>
              </a:rPr>
              <a:t>Kitchen build · centralized production for shop network</a:t>
            </a:r>
            <a:endParaRPr lang="en-US" sz="1050" dirty="0"/>
          </a:p>
        </p:txBody>
      </p:sp>
      <p:sp>
        <p:nvSpPr>
          <p:cNvPr id="27" name="Shape 25"/>
          <p:cNvSpPr/>
          <p:nvPr/>
        </p:nvSpPr>
        <p:spPr>
          <a:xfrm>
            <a:off x="548640" y="5623560"/>
            <a:ext cx="3566160" cy="777240"/>
          </a:xfrm>
          <a:prstGeom prst="rect">
            <a:avLst/>
          </a:prstGeom>
          <a:solidFill>
            <a:srgbClr val="FFFFFF"/>
          </a:solidFill>
          <a:ln w="12700">
            <a:solidFill>
              <a:srgbClr val="F8EFD7"/>
            </a:solidFill>
            <a:prstDash val="solid"/>
          </a:ln>
        </p:spPr>
      </p:sp>
      <p:sp>
        <p:nvSpPr>
          <p:cNvPr id="28" name="Text 26"/>
          <p:cNvSpPr/>
          <p:nvPr/>
        </p:nvSpPr>
        <p:spPr>
          <a:xfrm>
            <a:off x="731520" y="5669280"/>
            <a:ext cx="3200400" cy="32004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$45K</a:t>
            </a:r>
            <a:endParaRPr lang="en-US" sz="1600" dirty="0"/>
          </a:p>
        </p:txBody>
      </p:sp>
      <p:sp>
        <p:nvSpPr>
          <p:cNvPr id="29" name="Text 27"/>
          <p:cNvSpPr/>
          <p:nvPr/>
        </p:nvSpPr>
        <p:spPr>
          <a:xfrm>
            <a:off x="731520" y="5989320"/>
            <a:ext cx="3200400" cy="411480"/>
          </a:xfrm>
          <a:prstGeom prst="rect">
            <a:avLst/>
          </a:prstGeom>
          <a:noFill/>
          <a:ln/>
        </p:spPr>
        <p:txBody>
          <a:bodyPr wrap="square" rtlCol="0" anchor="ctr"/>
          <a:lstStyle/>
          <a:p>
            <a:pPr indent="0" marL="0">
              <a:buNone/>
            </a:pPr>
            <a:r>
              <a:rPr lang="en-US" sz="1050" dirty="0">
                <a:solidFill>
                  <a:srgbClr val="4A3825"/>
                </a:solidFill>
                <a:latin typeface="Calibri" pitchFamily="34" charset="0"/>
                <a:ea typeface="Calibri" pitchFamily="34" charset="-122"/>
                <a:cs typeface="Calibri" pitchFamily="34" charset="-120"/>
              </a:rPr>
              <a:t>FDD work · franchise disclosure document preparation</a:t>
            </a:r>
            <a:endParaRPr lang="en-US" sz="1050" dirty="0"/>
          </a:p>
        </p:txBody>
      </p:sp>
      <p:sp>
        <p:nvSpPr>
          <p:cNvPr id="30" name="Shape 28"/>
          <p:cNvSpPr/>
          <p:nvPr/>
        </p:nvSpPr>
        <p:spPr>
          <a:xfrm>
            <a:off x="4297680" y="5623560"/>
            <a:ext cx="3566160" cy="777240"/>
          </a:xfrm>
          <a:prstGeom prst="rect">
            <a:avLst/>
          </a:prstGeom>
          <a:solidFill>
            <a:srgbClr val="FFFFFF"/>
          </a:solidFill>
          <a:ln w="12700">
            <a:solidFill>
              <a:srgbClr val="F8EFD7"/>
            </a:solidFill>
            <a:prstDash val="solid"/>
          </a:ln>
        </p:spPr>
      </p:sp>
      <p:sp>
        <p:nvSpPr>
          <p:cNvPr id="31" name="Text 29"/>
          <p:cNvSpPr/>
          <p:nvPr/>
        </p:nvSpPr>
        <p:spPr>
          <a:xfrm>
            <a:off x="4480560" y="5669280"/>
            <a:ext cx="3200400" cy="32004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$30K</a:t>
            </a:r>
            <a:endParaRPr lang="en-US" sz="1600" dirty="0"/>
          </a:p>
        </p:txBody>
      </p:sp>
      <p:sp>
        <p:nvSpPr>
          <p:cNvPr id="32" name="Text 30"/>
          <p:cNvSpPr/>
          <p:nvPr/>
        </p:nvSpPr>
        <p:spPr>
          <a:xfrm>
            <a:off x="4480560" y="5989320"/>
            <a:ext cx="3200400" cy="411480"/>
          </a:xfrm>
          <a:prstGeom prst="rect">
            <a:avLst/>
          </a:prstGeom>
          <a:noFill/>
          <a:ln/>
        </p:spPr>
        <p:txBody>
          <a:bodyPr wrap="square" rtlCol="0" anchor="ctr"/>
          <a:lstStyle/>
          <a:p>
            <a:pPr indent="0" marL="0">
              <a:buNone/>
            </a:pPr>
            <a:r>
              <a:rPr lang="en-US" sz="1050" dirty="0">
                <a:solidFill>
                  <a:srgbClr val="4A3825"/>
                </a:solidFill>
                <a:latin typeface="Calibri" pitchFamily="34" charset="0"/>
                <a:ea typeface="Calibri" pitchFamily="34" charset="-122"/>
                <a:cs typeface="Calibri" pitchFamily="34" charset="-120"/>
              </a:rPr>
              <a:t>Brand · signage, packaging, web, light marketing</a:t>
            </a:r>
            <a:endParaRPr lang="en-US" sz="1050" dirty="0"/>
          </a:p>
        </p:txBody>
      </p:sp>
      <p:sp>
        <p:nvSpPr>
          <p:cNvPr id="33" name="Shape 31"/>
          <p:cNvSpPr/>
          <p:nvPr/>
        </p:nvSpPr>
        <p:spPr>
          <a:xfrm>
            <a:off x="8046720" y="5623560"/>
            <a:ext cx="3566160" cy="777240"/>
          </a:xfrm>
          <a:prstGeom prst="rect">
            <a:avLst/>
          </a:prstGeom>
          <a:solidFill>
            <a:srgbClr val="FFFFFF"/>
          </a:solidFill>
          <a:ln w="12700">
            <a:solidFill>
              <a:srgbClr val="F8EFD7"/>
            </a:solidFill>
            <a:prstDash val="solid"/>
          </a:ln>
        </p:spPr>
      </p:sp>
      <p:sp>
        <p:nvSpPr>
          <p:cNvPr id="34" name="Text 32"/>
          <p:cNvSpPr/>
          <p:nvPr/>
        </p:nvSpPr>
        <p:spPr>
          <a:xfrm>
            <a:off x="8229600" y="5669280"/>
            <a:ext cx="3200400" cy="32004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$30K</a:t>
            </a:r>
            <a:endParaRPr lang="en-US" sz="1600" dirty="0"/>
          </a:p>
        </p:txBody>
      </p:sp>
      <p:sp>
        <p:nvSpPr>
          <p:cNvPr id="35" name="Text 33"/>
          <p:cNvSpPr/>
          <p:nvPr/>
        </p:nvSpPr>
        <p:spPr>
          <a:xfrm>
            <a:off x="8229600" y="5989320"/>
            <a:ext cx="3200400" cy="411480"/>
          </a:xfrm>
          <a:prstGeom prst="rect">
            <a:avLst/>
          </a:prstGeom>
          <a:noFill/>
          <a:ln/>
        </p:spPr>
        <p:txBody>
          <a:bodyPr wrap="square" rtlCol="0" anchor="ctr"/>
          <a:lstStyle/>
          <a:p>
            <a:pPr indent="0" marL="0">
              <a:buNone/>
            </a:pPr>
            <a:r>
              <a:rPr lang="en-US" sz="1050" dirty="0">
                <a:solidFill>
                  <a:srgbClr val="4A3825"/>
                </a:solidFill>
                <a:latin typeface="Calibri" pitchFamily="34" charset="0"/>
                <a:ea typeface="Calibri" pitchFamily="34" charset="-122"/>
                <a:cs typeface="Calibri" pitchFamily="34" charset="-120"/>
              </a:rPr>
              <a:t>Reserve · working capital for next 2 acquisitions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The math</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SAFE participants at three check sizes, three exit valuations. MOIC and IRR for a 4-year hold.</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3108960"/>
        </p:xfrm>
        <a:graphic>
          <a:graphicData uri="http://schemas.openxmlformats.org/drawingml/2006/table">
            <a:tbl>
              <a:tblPr/>
              <a:tblGrid>
                <a:gridCol w="1828800"/>
                <a:gridCol w="2308860"/>
                <a:gridCol w="2308860"/>
                <a:gridCol w="2308860"/>
                <a:gridCol w="23088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 Size</a:t>
                      </a:r>
                      <a:endParaRPr lang="en-US" sz="13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Exit @ $50M</a:t>
                      </a:r>
                      <a:endParaRPr lang="en-US" sz="13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Exit @ $80M</a:t>
                      </a:r>
                      <a:endParaRPr lang="en-US" sz="13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Exit @ $120M (base)</a:t>
                      </a:r>
                      <a:endParaRPr lang="en-US" sz="13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Exit @ $200M (upside)</a:t>
                      </a:r>
                      <a:endParaRPr lang="en-US" sz="13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1A1208"/>
                    </a:solidFill>
                  </a:tcPr>
                </a:tc>
              </a:tr>
              <a:tr h="640080">
                <a:tc>
                  <a:txBody>
                    <a:bodyPr/>
                    <a:lstStyle/>
                    <a:p>
                      <a:pPr indent="0" marL="0">
                        <a:buNone/>
                      </a:pPr>
                      <a:r>
                        <a:rPr lang="en-US" sz="1400" b="1" dirty="0">
                          <a:solidFill>
                            <a:srgbClr val="1A1208"/>
                          </a:solidFill>
                          <a:latin typeface="Consolas" pitchFamily="34" charset="0"/>
                          <a:ea typeface="Consolas" pitchFamily="34" charset="-122"/>
                          <a:cs typeface="Consolas" pitchFamily="34" charset="-120"/>
                        </a:rPr>
                        <a:t>$30K</a:t>
                      </a:r>
                      <a:endParaRPr lang="en-US" sz="1400" dirty="0">
                        <a:latin typeface="Consolas" charset="0"/>
                        <a:ea typeface="Consolas" charset="0"/>
                        <a:cs typeface="Consolas"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A3825"/>
                          </a:solidFill>
                          <a:latin typeface="Calibri" pitchFamily="34" charset="0"/>
                          <a:ea typeface="Calibri" pitchFamily="34" charset="-122"/>
                          <a:cs typeface="Calibri" pitchFamily="34" charset="-120"/>
                        </a:rPr>
                        <a:t>$600K</a:t>
                      </a:r>
                      <a:endParaRPr lang="en-US" sz="1200" dirty="0">
                        <a:latin typeface="Calibri" charset="0"/>
                        <a:ea typeface="Calibri" charset="0"/>
                        <a:cs typeface="Calibri" charset="0"/>
                      </a:endParaRPr>
                    </a:p>
                    <a:p>
                      <a:pPr algn="ctr" indent="0" marL="0">
                        <a:buNone/>
                      </a:pPr>
                      <a:r>
                        <a:rPr lang="en-US" sz="1200" dirty="0">
                          <a:solidFill>
                            <a:srgbClr val="4A3825"/>
                          </a:solidFill>
                          <a:latin typeface="Calibri" pitchFamily="34" charset="0"/>
                          <a:ea typeface="Calibri" pitchFamily="34" charset="-122"/>
                          <a:cs typeface="Calibri" pitchFamily="34" charset="-120"/>
                        </a:rPr>
                        <a:t>20.0× MOIC · 111%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A3825"/>
                          </a:solidFill>
                          <a:latin typeface="Calibri" pitchFamily="34" charset="0"/>
                          <a:ea typeface="Calibri" pitchFamily="34" charset="-122"/>
                          <a:cs typeface="Calibri" pitchFamily="34" charset="-120"/>
                        </a:rPr>
                        <a:t>$960K</a:t>
                      </a:r>
                      <a:endParaRPr lang="en-US" sz="1200" dirty="0">
                        <a:latin typeface="Calibri" charset="0"/>
                        <a:ea typeface="Calibri" charset="0"/>
                        <a:cs typeface="Calibri" charset="0"/>
                      </a:endParaRPr>
                    </a:p>
                    <a:p>
                      <a:pPr algn="ctr" indent="0" marL="0">
                        <a:buNone/>
                      </a:pPr>
                      <a:r>
                        <a:rPr lang="en-US" sz="1200" dirty="0">
                          <a:solidFill>
                            <a:srgbClr val="4A3825"/>
                          </a:solidFill>
                          <a:latin typeface="Calibri" pitchFamily="34" charset="0"/>
                          <a:ea typeface="Calibri" pitchFamily="34" charset="-122"/>
                          <a:cs typeface="Calibri" pitchFamily="34" charset="-120"/>
                        </a:rPr>
                        <a:t>32.0× MOIC · 138%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87618"/>
                          </a:solidFill>
                          <a:latin typeface="Calibri" pitchFamily="34" charset="0"/>
                          <a:ea typeface="Calibri" pitchFamily="34" charset="-122"/>
                          <a:cs typeface="Calibri" pitchFamily="34" charset="-120"/>
                        </a:rPr>
                        <a:t>$1.4M</a:t>
                      </a:r>
                      <a:endParaRPr lang="en-US" sz="1200" dirty="0">
                        <a:latin typeface="Calibri" charset="0"/>
                        <a:ea typeface="Calibri" charset="0"/>
                        <a:cs typeface="Calibri" charset="0"/>
                      </a:endParaRPr>
                    </a:p>
                    <a:p>
                      <a:pPr algn="ctr" indent="0" marL="0">
                        <a:buNone/>
                      </a:pPr>
                      <a:r>
                        <a:rPr lang="en-US" sz="1200" b="1" dirty="0">
                          <a:solidFill>
                            <a:srgbClr val="A87618"/>
                          </a:solidFill>
                          <a:latin typeface="Calibri" pitchFamily="34" charset="0"/>
                          <a:ea typeface="Calibri" pitchFamily="34" charset="-122"/>
                          <a:cs typeface="Calibri" pitchFamily="34" charset="-120"/>
                        </a:rPr>
                        <a:t>48.0× MOIC · 163%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87618"/>
                          </a:solidFill>
                          <a:latin typeface="Calibri" pitchFamily="34" charset="0"/>
                          <a:ea typeface="Calibri" pitchFamily="34" charset="-122"/>
                          <a:cs typeface="Calibri" pitchFamily="34" charset="-120"/>
                        </a:rPr>
                        <a:t>$2.4M</a:t>
                      </a:r>
                      <a:endParaRPr lang="en-US" sz="1200" dirty="0">
                        <a:latin typeface="Calibri" charset="0"/>
                        <a:ea typeface="Calibri" charset="0"/>
                        <a:cs typeface="Calibri" charset="0"/>
                      </a:endParaRPr>
                    </a:p>
                    <a:p>
                      <a:pPr algn="ctr" indent="0" marL="0">
                        <a:buNone/>
                      </a:pPr>
                      <a:r>
                        <a:rPr lang="en-US" sz="1200" b="1" dirty="0">
                          <a:solidFill>
                            <a:srgbClr val="A87618"/>
                          </a:solidFill>
                          <a:latin typeface="Calibri" pitchFamily="34" charset="0"/>
                          <a:ea typeface="Calibri" pitchFamily="34" charset="-122"/>
                          <a:cs typeface="Calibri" pitchFamily="34" charset="-120"/>
                        </a:rPr>
                        <a:t>80.0× MOIC · 199%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A1208"/>
                          </a:solidFill>
                          <a:latin typeface="Consolas" pitchFamily="34" charset="0"/>
                          <a:ea typeface="Consolas" pitchFamily="34" charset="-122"/>
                          <a:cs typeface="Consolas" pitchFamily="34" charset="-120"/>
                        </a:rPr>
                        <a:t>$100K</a:t>
                      </a:r>
                      <a:endParaRPr lang="en-US" sz="1400" dirty="0">
                        <a:latin typeface="Consolas" charset="0"/>
                        <a:ea typeface="Consolas" charset="0"/>
                        <a:cs typeface="Consolas"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ctr" indent="0" marL="0">
                        <a:buNone/>
                      </a:pPr>
                      <a:r>
                        <a:rPr lang="en-US" sz="1200" dirty="0">
                          <a:solidFill>
                            <a:srgbClr val="4A3825"/>
                          </a:solidFill>
                          <a:latin typeface="Calibri" pitchFamily="34" charset="0"/>
                          <a:ea typeface="Calibri" pitchFamily="34" charset="-122"/>
                          <a:cs typeface="Calibri" pitchFamily="34" charset="-120"/>
                        </a:rPr>
                        <a:t>$2.0M</a:t>
                      </a:r>
                      <a:endParaRPr lang="en-US" sz="1200" dirty="0">
                        <a:latin typeface="Calibri" charset="0"/>
                        <a:ea typeface="Calibri" charset="0"/>
                        <a:cs typeface="Calibri" charset="0"/>
                      </a:endParaRPr>
                    </a:p>
                    <a:p>
                      <a:pPr algn="ctr" indent="0" marL="0">
                        <a:buNone/>
                      </a:pPr>
                      <a:r>
                        <a:rPr lang="en-US" sz="1200" dirty="0">
                          <a:solidFill>
                            <a:srgbClr val="4A3825"/>
                          </a:solidFill>
                          <a:latin typeface="Calibri" pitchFamily="34" charset="0"/>
                          <a:ea typeface="Calibri" pitchFamily="34" charset="-122"/>
                          <a:cs typeface="Calibri" pitchFamily="34" charset="-120"/>
                        </a:rPr>
                        <a:t>20.0× MOIC · 111%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ctr" indent="0" marL="0">
                        <a:buNone/>
                      </a:pPr>
                      <a:r>
                        <a:rPr lang="en-US" sz="1200" dirty="0">
                          <a:solidFill>
                            <a:srgbClr val="4A3825"/>
                          </a:solidFill>
                          <a:latin typeface="Calibri" pitchFamily="34" charset="0"/>
                          <a:ea typeface="Calibri" pitchFamily="34" charset="-122"/>
                          <a:cs typeface="Calibri" pitchFamily="34" charset="-120"/>
                        </a:rPr>
                        <a:t>$3.2M</a:t>
                      </a:r>
                      <a:endParaRPr lang="en-US" sz="1200" dirty="0">
                        <a:latin typeface="Calibri" charset="0"/>
                        <a:ea typeface="Calibri" charset="0"/>
                        <a:cs typeface="Calibri" charset="0"/>
                      </a:endParaRPr>
                    </a:p>
                    <a:p>
                      <a:pPr algn="ctr" indent="0" marL="0">
                        <a:buNone/>
                      </a:pPr>
                      <a:r>
                        <a:rPr lang="en-US" sz="1200" dirty="0">
                          <a:solidFill>
                            <a:srgbClr val="4A3825"/>
                          </a:solidFill>
                          <a:latin typeface="Calibri" pitchFamily="34" charset="0"/>
                          <a:ea typeface="Calibri" pitchFamily="34" charset="-122"/>
                          <a:cs typeface="Calibri" pitchFamily="34" charset="-120"/>
                        </a:rPr>
                        <a:t>32.0× MOIC · 138%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ctr" indent="0" marL="0">
                        <a:buNone/>
                      </a:pPr>
                      <a:r>
                        <a:rPr lang="en-US" sz="1200" b="1" dirty="0">
                          <a:solidFill>
                            <a:srgbClr val="A87618"/>
                          </a:solidFill>
                          <a:latin typeface="Calibri" pitchFamily="34" charset="0"/>
                          <a:ea typeface="Calibri" pitchFamily="34" charset="-122"/>
                          <a:cs typeface="Calibri" pitchFamily="34" charset="-120"/>
                        </a:rPr>
                        <a:t>$4.8M</a:t>
                      </a:r>
                      <a:endParaRPr lang="en-US" sz="1200" dirty="0">
                        <a:latin typeface="Calibri" charset="0"/>
                        <a:ea typeface="Calibri" charset="0"/>
                        <a:cs typeface="Calibri" charset="0"/>
                      </a:endParaRPr>
                    </a:p>
                    <a:p>
                      <a:pPr algn="ctr" indent="0" marL="0">
                        <a:buNone/>
                      </a:pPr>
                      <a:r>
                        <a:rPr lang="en-US" sz="1200" b="1" dirty="0">
                          <a:solidFill>
                            <a:srgbClr val="A87618"/>
                          </a:solidFill>
                          <a:latin typeface="Calibri" pitchFamily="34" charset="0"/>
                          <a:ea typeface="Calibri" pitchFamily="34" charset="-122"/>
                          <a:cs typeface="Calibri" pitchFamily="34" charset="-120"/>
                        </a:rPr>
                        <a:t>48.0× MOIC · 163%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ctr" indent="0" marL="0">
                        <a:buNone/>
                      </a:pPr>
                      <a:r>
                        <a:rPr lang="en-US" sz="1200" b="1" dirty="0">
                          <a:solidFill>
                            <a:srgbClr val="A87618"/>
                          </a:solidFill>
                          <a:latin typeface="Calibri" pitchFamily="34" charset="0"/>
                          <a:ea typeface="Calibri" pitchFamily="34" charset="-122"/>
                          <a:cs typeface="Calibri" pitchFamily="34" charset="-120"/>
                        </a:rPr>
                        <a:t>$8.0M</a:t>
                      </a:r>
                      <a:endParaRPr lang="en-US" sz="1200" dirty="0">
                        <a:latin typeface="Calibri" charset="0"/>
                        <a:ea typeface="Calibri" charset="0"/>
                        <a:cs typeface="Calibri" charset="0"/>
                      </a:endParaRPr>
                    </a:p>
                    <a:p>
                      <a:pPr algn="ctr" indent="0" marL="0">
                        <a:buNone/>
                      </a:pPr>
                      <a:r>
                        <a:rPr lang="en-US" sz="1200" b="1" dirty="0">
                          <a:solidFill>
                            <a:srgbClr val="A87618"/>
                          </a:solidFill>
                          <a:latin typeface="Calibri" pitchFamily="34" charset="0"/>
                          <a:ea typeface="Calibri" pitchFamily="34" charset="-122"/>
                          <a:cs typeface="Calibri" pitchFamily="34" charset="-120"/>
                        </a:rPr>
                        <a:t>80.0× MOIC · 199%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r>
              <a:tr h="640080">
                <a:tc>
                  <a:txBody>
                    <a:bodyPr/>
                    <a:lstStyle/>
                    <a:p>
                      <a:pPr indent="0" marL="0">
                        <a:buNone/>
                      </a:pPr>
                      <a:r>
                        <a:rPr lang="en-US" sz="1400" b="1" dirty="0">
                          <a:solidFill>
                            <a:srgbClr val="1A1208"/>
                          </a:solidFill>
                          <a:latin typeface="Consolas" pitchFamily="34" charset="0"/>
                          <a:ea typeface="Consolas" pitchFamily="34" charset="-122"/>
                          <a:cs typeface="Consolas" pitchFamily="34" charset="-120"/>
                        </a:rPr>
                        <a:t>$250K</a:t>
                      </a:r>
                      <a:endParaRPr lang="en-US" sz="1400" dirty="0">
                        <a:latin typeface="Consolas" charset="0"/>
                        <a:ea typeface="Consolas" charset="0"/>
                        <a:cs typeface="Consolas"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A3825"/>
                          </a:solidFill>
                          <a:latin typeface="Calibri" pitchFamily="34" charset="0"/>
                          <a:ea typeface="Calibri" pitchFamily="34" charset="-122"/>
                          <a:cs typeface="Calibri" pitchFamily="34" charset="-120"/>
                        </a:rPr>
                        <a:t>$5.0M</a:t>
                      </a:r>
                      <a:endParaRPr lang="en-US" sz="1200" dirty="0">
                        <a:latin typeface="Calibri" charset="0"/>
                        <a:ea typeface="Calibri" charset="0"/>
                        <a:cs typeface="Calibri" charset="0"/>
                      </a:endParaRPr>
                    </a:p>
                    <a:p>
                      <a:pPr algn="ctr" indent="0" marL="0">
                        <a:buNone/>
                      </a:pPr>
                      <a:r>
                        <a:rPr lang="en-US" sz="1200" dirty="0">
                          <a:solidFill>
                            <a:srgbClr val="4A3825"/>
                          </a:solidFill>
                          <a:latin typeface="Calibri" pitchFamily="34" charset="0"/>
                          <a:ea typeface="Calibri" pitchFamily="34" charset="-122"/>
                          <a:cs typeface="Calibri" pitchFamily="34" charset="-120"/>
                        </a:rPr>
                        <a:t>20.0× MOIC · 111%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A3825"/>
                          </a:solidFill>
                          <a:latin typeface="Calibri" pitchFamily="34" charset="0"/>
                          <a:ea typeface="Calibri" pitchFamily="34" charset="-122"/>
                          <a:cs typeface="Calibri" pitchFamily="34" charset="-120"/>
                        </a:rPr>
                        <a:t>$8.0M</a:t>
                      </a:r>
                      <a:endParaRPr lang="en-US" sz="1200" dirty="0">
                        <a:latin typeface="Calibri" charset="0"/>
                        <a:ea typeface="Calibri" charset="0"/>
                        <a:cs typeface="Calibri" charset="0"/>
                      </a:endParaRPr>
                    </a:p>
                    <a:p>
                      <a:pPr algn="ctr" indent="0" marL="0">
                        <a:buNone/>
                      </a:pPr>
                      <a:r>
                        <a:rPr lang="en-US" sz="1200" dirty="0">
                          <a:solidFill>
                            <a:srgbClr val="4A3825"/>
                          </a:solidFill>
                          <a:latin typeface="Calibri" pitchFamily="34" charset="0"/>
                          <a:ea typeface="Calibri" pitchFamily="34" charset="-122"/>
                          <a:cs typeface="Calibri" pitchFamily="34" charset="-120"/>
                        </a:rPr>
                        <a:t>32.0× MOIC · 138%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87618"/>
                          </a:solidFill>
                          <a:latin typeface="Calibri" pitchFamily="34" charset="0"/>
                          <a:ea typeface="Calibri" pitchFamily="34" charset="-122"/>
                          <a:cs typeface="Calibri" pitchFamily="34" charset="-120"/>
                        </a:rPr>
                        <a:t>$12.0M</a:t>
                      </a:r>
                      <a:endParaRPr lang="en-US" sz="1200" dirty="0">
                        <a:latin typeface="Calibri" charset="0"/>
                        <a:ea typeface="Calibri" charset="0"/>
                        <a:cs typeface="Calibri" charset="0"/>
                      </a:endParaRPr>
                    </a:p>
                    <a:p>
                      <a:pPr algn="ctr" indent="0" marL="0">
                        <a:buNone/>
                      </a:pPr>
                      <a:r>
                        <a:rPr lang="en-US" sz="1200" b="1" dirty="0">
                          <a:solidFill>
                            <a:srgbClr val="A87618"/>
                          </a:solidFill>
                          <a:latin typeface="Calibri" pitchFamily="34" charset="0"/>
                          <a:ea typeface="Calibri" pitchFamily="34" charset="-122"/>
                          <a:cs typeface="Calibri" pitchFamily="34" charset="-120"/>
                        </a:rPr>
                        <a:t>48.0× MOIC · 163%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87618"/>
                          </a:solidFill>
                          <a:latin typeface="Calibri" pitchFamily="34" charset="0"/>
                          <a:ea typeface="Calibri" pitchFamily="34" charset="-122"/>
                          <a:cs typeface="Calibri" pitchFamily="34" charset="-120"/>
                        </a:rPr>
                        <a:t>$20.0M</a:t>
                      </a:r>
                      <a:endParaRPr lang="en-US" sz="1200" dirty="0">
                        <a:latin typeface="Calibri" charset="0"/>
                        <a:ea typeface="Calibri" charset="0"/>
                        <a:cs typeface="Calibri" charset="0"/>
                      </a:endParaRPr>
                    </a:p>
                    <a:p>
                      <a:pPr algn="ctr" indent="0" marL="0">
                        <a:buNone/>
                      </a:pPr>
                      <a:r>
                        <a:rPr lang="en-US" sz="1200" b="1" dirty="0">
                          <a:solidFill>
                            <a:srgbClr val="A87618"/>
                          </a:solidFill>
                          <a:latin typeface="Calibri" pitchFamily="34" charset="0"/>
                          <a:ea typeface="Calibri" pitchFamily="34" charset="-122"/>
                          <a:cs typeface="Calibri" pitchFamily="34" charset="-120"/>
                        </a:rPr>
                        <a:t>80.0× MOIC · 199%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A1208"/>
                          </a:solidFill>
                          <a:latin typeface="Consolas" pitchFamily="34" charset="0"/>
                          <a:ea typeface="Consolas" pitchFamily="34" charset="-122"/>
                          <a:cs typeface="Consolas" pitchFamily="34" charset="-120"/>
                        </a:rPr>
                        <a:t>$500K</a:t>
                      </a:r>
                      <a:endParaRPr lang="en-US" sz="1400" dirty="0">
                        <a:latin typeface="Consolas" charset="0"/>
                        <a:ea typeface="Consolas" charset="0"/>
                        <a:cs typeface="Consolas"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ctr" indent="0" marL="0">
                        <a:buNone/>
                      </a:pPr>
                      <a:r>
                        <a:rPr lang="en-US" sz="1200" dirty="0">
                          <a:solidFill>
                            <a:srgbClr val="4A3825"/>
                          </a:solidFill>
                          <a:latin typeface="Calibri" pitchFamily="34" charset="0"/>
                          <a:ea typeface="Calibri" pitchFamily="34" charset="-122"/>
                          <a:cs typeface="Calibri" pitchFamily="34" charset="-120"/>
                        </a:rPr>
                        <a:t>$10.0M</a:t>
                      </a:r>
                      <a:endParaRPr lang="en-US" sz="1200" dirty="0">
                        <a:latin typeface="Calibri" charset="0"/>
                        <a:ea typeface="Calibri" charset="0"/>
                        <a:cs typeface="Calibri" charset="0"/>
                      </a:endParaRPr>
                    </a:p>
                    <a:p>
                      <a:pPr algn="ctr" indent="0" marL="0">
                        <a:buNone/>
                      </a:pPr>
                      <a:r>
                        <a:rPr lang="en-US" sz="1200" dirty="0">
                          <a:solidFill>
                            <a:srgbClr val="4A3825"/>
                          </a:solidFill>
                          <a:latin typeface="Calibri" pitchFamily="34" charset="0"/>
                          <a:ea typeface="Calibri" pitchFamily="34" charset="-122"/>
                          <a:cs typeface="Calibri" pitchFamily="34" charset="-120"/>
                        </a:rPr>
                        <a:t>20.0× MOIC · 111%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ctr" indent="0" marL="0">
                        <a:buNone/>
                      </a:pPr>
                      <a:r>
                        <a:rPr lang="en-US" sz="1200" dirty="0">
                          <a:solidFill>
                            <a:srgbClr val="4A3825"/>
                          </a:solidFill>
                          <a:latin typeface="Calibri" pitchFamily="34" charset="0"/>
                          <a:ea typeface="Calibri" pitchFamily="34" charset="-122"/>
                          <a:cs typeface="Calibri" pitchFamily="34" charset="-120"/>
                        </a:rPr>
                        <a:t>$16.0M</a:t>
                      </a:r>
                      <a:endParaRPr lang="en-US" sz="1200" dirty="0">
                        <a:latin typeface="Calibri" charset="0"/>
                        <a:ea typeface="Calibri" charset="0"/>
                        <a:cs typeface="Calibri" charset="0"/>
                      </a:endParaRPr>
                    </a:p>
                    <a:p>
                      <a:pPr algn="ctr" indent="0" marL="0">
                        <a:buNone/>
                      </a:pPr>
                      <a:r>
                        <a:rPr lang="en-US" sz="1200" dirty="0">
                          <a:solidFill>
                            <a:srgbClr val="4A3825"/>
                          </a:solidFill>
                          <a:latin typeface="Calibri" pitchFamily="34" charset="0"/>
                          <a:ea typeface="Calibri" pitchFamily="34" charset="-122"/>
                          <a:cs typeface="Calibri" pitchFamily="34" charset="-120"/>
                        </a:rPr>
                        <a:t>32.0× MOIC · 138%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ctr" indent="0" marL="0">
                        <a:buNone/>
                      </a:pPr>
                      <a:r>
                        <a:rPr lang="en-US" sz="1200" b="1" dirty="0">
                          <a:solidFill>
                            <a:srgbClr val="A87618"/>
                          </a:solidFill>
                          <a:latin typeface="Calibri" pitchFamily="34" charset="0"/>
                          <a:ea typeface="Calibri" pitchFamily="34" charset="-122"/>
                          <a:cs typeface="Calibri" pitchFamily="34" charset="-120"/>
                        </a:rPr>
                        <a:t>$24.0M</a:t>
                      </a:r>
                      <a:endParaRPr lang="en-US" sz="1200" dirty="0">
                        <a:latin typeface="Calibri" charset="0"/>
                        <a:ea typeface="Calibri" charset="0"/>
                        <a:cs typeface="Calibri" charset="0"/>
                      </a:endParaRPr>
                    </a:p>
                    <a:p>
                      <a:pPr algn="ctr" indent="0" marL="0">
                        <a:buNone/>
                      </a:pPr>
                      <a:r>
                        <a:rPr lang="en-US" sz="1200" b="1" dirty="0">
                          <a:solidFill>
                            <a:srgbClr val="A87618"/>
                          </a:solidFill>
                          <a:latin typeface="Calibri" pitchFamily="34" charset="0"/>
                          <a:ea typeface="Calibri" pitchFamily="34" charset="-122"/>
                          <a:cs typeface="Calibri" pitchFamily="34" charset="-120"/>
                        </a:rPr>
                        <a:t>48.0× MOIC · 163%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c>
                  <a:txBody>
                    <a:bodyPr/>
                    <a:lstStyle/>
                    <a:p>
                      <a:pPr algn="ctr" indent="0" marL="0">
                        <a:buNone/>
                      </a:pPr>
                      <a:r>
                        <a:rPr lang="en-US" sz="1200" b="1" dirty="0">
                          <a:solidFill>
                            <a:srgbClr val="A87618"/>
                          </a:solidFill>
                          <a:latin typeface="Calibri" pitchFamily="34" charset="0"/>
                          <a:ea typeface="Calibri" pitchFamily="34" charset="-122"/>
                          <a:cs typeface="Calibri" pitchFamily="34" charset="-120"/>
                        </a:rPr>
                        <a:t>$40.0M</a:t>
                      </a:r>
                      <a:endParaRPr lang="en-US" sz="1200" dirty="0">
                        <a:latin typeface="Calibri" charset="0"/>
                        <a:ea typeface="Calibri" charset="0"/>
                        <a:cs typeface="Calibri" charset="0"/>
                      </a:endParaRPr>
                    </a:p>
                    <a:p>
                      <a:pPr algn="ctr" indent="0" marL="0">
                        <a:buNone/>
                      </a:pPr>
                      <a:r>
                        <a:rPr lang="en-US" sz="1200" b="1" dirty="0">
                          <a:solidFill>
                            <a:srgbClr val="A87618"/>
                          </a:solidFill>
                          <a:latin typeface="Calibri" pitchFamily="34" charset="0"/>
                          <a:ea typeface="Calibri" pitchFamily="34" charset="-122"/>
                          <a:cs typeface="Calibri" pitchFamily="34" charset="-120"/>
                        </a:rPr>
                        <a:t>80.0× MOIC · 199% IRR</a:t>
                      </a:r>
                      <a:endParaRPr lang="en-US" sz="1200" dirty="0">
                        <a:latin typeface="Calibri" charset="0"/>
                        <a:ea typeface="Calibri" charset="0"/>
                        <a:cs typeface="Calibri" charset="0"/>
                      </a:endParaRPr>
                    </a:p>
                  </a:txBody>
                  <a:tcPr marL="91440" marR="91440" marT="45720" marB="45720">
                    <a:lnL w="6350" cap="flat" cmpd="sng" algn="ctr">
                      <a:solidFill>
                        <a:srgbClr val="F8EFD7"/>
                      </a:solidFill>
                      <a:prstDash val="solid"/>
                      <a:round/>
                      <a:headEnd type="none" w="med" len="med"/>
                      <a:tailEnd type="none" w="med" len="med"/>
                    </a:lnL>
                    <a:lnR w="6350" cap="flat" cmpd="sng" algn="ctr">
                      <a:solidFill>
                        <a:srgbClr val="F8EFD7"/>
                      </a:solidFill>
                      <a:prstDash val="solid"/>
                      <a:round/>
                      <a:headEnd type="none" w="med" len="med"/>
                      <a:tailEnd type="none" w="med" len="med"/>
                    </a:lnR>
                    <a:lnT w="6350" cap="flat" cmpd="sng" algn="ctr">
                      <a:solidFill>
                        <a:srgbClr val="F8EFD7"/>
                      </a:solidFill>
                      <a:prstDash val="solid"/>
                      <a:round/>
                      <a:headEnd type="none" w="med" len="med"/>
                      <a:tailEnd type="none" w="med" len="med"/>
                    </a:lnT>
                    <a:lnB w="6350" cap="flat" cmpd="sng" algn="ctr">
                      <a:solidFill>
                        <a:srgbClr val="F8EFD7"/>
                      </a:solidFill>
                      <a:prstDash val="solid"/>
                      <a:round/>
                      <a:headEnd type="none" w="med" len="med"/>
                      <a:tailEnd type="none" w="med" len="med"/>
                    </a:lnB>
                    <a:solidFill>
                      <a:srgbClr val="FAF6EA"/>
                    </a:solidFill>
                  </a:tcPr>
                </a:tc>
              </a:tr>
            </a:tbl>
          </a:graphicData>
        </a:graphic>
      </p:graphicFrame>
      <p:sp>
        <p:nvSpPr>
          <p:cNvPr id="5" name="Text 2"/>
          <p:cNvSpPr/>
          <p:nvPr/>
        </p:nvSpPr>
        <p:spPr>
          <a:xfrm>
            <a:off x="548640" y="5029200"/>
            <a:ext cx="11064240" cy="274320"/>
          </a:xfrm>
          <a:prstGeom prst="rect">
            <a:avLst/>
          </a:prstGeom>
          <a:noFill/>
          <a:ln/>
        </p:spPr>
        <p:txBody>
          <a:bodyPr wrap="square" rtlCol="0" anchor="ctr"/>
          <a:lstStyle/>
          <a:p>
            <a:pPr indent="0" marL="0">
              <a:buNone/>
            </a:pPr>
            <a:r>
              <a:rPr lang="en-US" sz="1000" b="1" spc="300" kern="0" dirty="0">
                <a:solidFill>
                  <a:srgbClr val="A87618"/>
                </a:solidFill>
                <a:latin typeface="Calibri" pitchFamily="34" charset="0"/>
                <a:ea typeface="Calibri" pitchFamily="34" charset="-122"/>
                <a:cs typeface="Calibri" pitchFamily="34" charset="-120"/>
              </a:rPr>
              <a:t>ASSUMPTIONS</a:t>
            </a:r>
            <a:endParaRPr lang="en-US" sz="1000" dirty="0"/>
          </a:p>
        </p:txBody>
      </p:sp>
      <p:sp>
        <p:nvSpPr>
          <p:cNvPr id="6" name="Text 3"/>
          <p:cNvSpPr/>
          <p:nvPr/>
        </p:nvSpPr>
        <p:spPr>
          <a:xfrm>
            <a:off x="548640" y="5303520"/>
            <a:ext cx="11064240" cy="365760"/>
          </a:xfrm>
          <a:prstGeom prst="rect">
            <a:avLst/>
          </a:prstGeom>
          <a:noFill/>
          <a:ln/>
        </p:spPr>
        <p:txBody>
          <a:bodyPr wrap="square" rtlCol="0" anchor="ctr"/>
          <a:lstStyle/>
          <a:p>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 SAFE converts at $2M cap at Series A · </a:t>
            </a:r>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 20% Series A dilution applied · </a:t>
            </a:r>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 4-year hold to exit · </a:t>
            </a:r>
            <a:pPr indent="0" marL="0">
              <a:lnSpc>
                <a:spcPct val="140000"/>
              </a:lnSpc>
              <a:buNone/>
            </a:pPr>
            <a:r>
              <a:rPr lang="en-US" sz="1100" dirty="0">
                <a:solidFill>
                  <a:srgbClr val="4A3825"/>
                </a:solidFill>
                <a:latin typeface="Calibri" pitchFamily="34" charset="0"/>
                <a:ea typeface="Calibri" pitchFamily="34" charset="-122"/>
                <a:cs typeface="Calibri" pitchFamily="34" charset="-120"/>
              </a:rPr>
              <a:t>• Linear scaling; no Series B+ dilution modeled</a:t>
            </a:r>
            <a:endParaRPr lang="en-US" sz="1100" dirty="0"/>
          </a:p>
        </p:txBody>
      </p:sp>
      <p:sp>
        <p:nvSpPr>
          <p:cNvPr id="7" name="Text 4"/>
          <p:cNvSpPr/>
          <p:nvPr/>
        </p:nvSpPr>
        <p:spPr>
          <a:xfrm>
            <a:off x="548640" y="5760720"/>
            <a:ext cx="11064240" cy="365760"/>
          </a:xfrm>
          <a:prstGeom prst="rect">
            <a:avLst/>
          </a:prstGeom>
          <a:noFill/>
          <a:ln/>
        </p:spPr>
        <p:txBody>
          <a:bodyPr wrap="square" rtlCol="0" anchor="ctr"/>
          <a:lstStyle/>
          <a:p>
            <a:pPr indent="0" marL="0">
              <a:buNone/>
            </a:pPr>
            <a:r>
              <a:rPr lang="en-US" sz="1000" i="1" dirty="0">
                <a:solidFill>
                  <a:srgbClr val="8B6E3D"/>
                </a:solidFill>
                <a:latin typeface="Calibri" pitchFamily="34" charset="0"/>
                <a:ea typeface="Calibri" pitchFamily="34" charset="-122"/>
                <a:cs typeface="Calibri" pitchFamily="34" charset="-120"/>
              </a:rPr>
              <a:t>Numbers are illustrative. Actual returns depend on final cap table, dilution events, exit terms, and tax treatment. SAFE investors will see definitive math at close.</a:t>
            </a:r>
            <a:endParaRPr lang="en-US" sz="1000" dirty="0"/>
          </a:p>
        </p:txBody>
      </p:sp>
      <p:sp>
        <p:nvSpPr>
          <p:cNvPr id="8" name="Text 5"/>
          <p:cNvSpPr/>
          <p:nvPr/>
        </p:nvSpPr>
        <p:spPr>
          <a:xfrm>
            <a:off x="548640" y="6263640"/>
            <a:ext cx="11064240" cy="365760"/>
          </a:xfrm>
          <a:prstGeom prst="rect">
            <a:avLst/>
          </a:prstGeom>
          <a:noFill/>
          <a:ln/>
        </p:spPr>
        <p:txBody>
          <a:bodyPr wrap="square" rtlCol="0" anchor="ctr"/>
          <a:lstStyle/>
          <a:p>
            <a:pPr algn="ctr" indent="0" marL="0">
              <a:buNone/>
            </a:pPr>
            <a:r>
              <a:rPr lang="en-US" sz="1300" b="1" i="1" dirty="0">
                <a:solidFill>
                  <a:srgbClr val="1A1208"/>
                </a:solidFill>
                <a:latin typeface="Calibri" pitchFamily="34" charset="0"/>
                <a:ea typeface="Calibri" pitchFamily="34" charset="-122"/>
                <a:cs typeface="Calibri" pitchFamily="34" charset="-120"/>
              </a:rPr>
              <a:t>Base case ($120M exit) returns 48× MOIC on the SAFE. Conservative case ($80M) still returns 32×. The $2M cap is generous to early SAFE investors — that's the point.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A"/>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The risks we own</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Honest accounting of what could go wrong, and how we are managing each.</a:t>
            </a:r>
            <a:endParaRPr lang="en-US" sz="1400" dirty="0"/>
          </a:p>
        </p:txBody>
      </p:sp>
      <p:sp>
        <p:nvSpPr>
          <p:cNvPr id="4" name="Shape 2"/>
          <p:cNvSpPr/>
          <p:nvPr/>
        </p:nvSpPr>
        <p:spPr>
          <a:xfrm>
            <a:off x="548640" y="1554480"/>
            <a:ext cx="5394960" cy="1417320"/>
          </a:xfrm>
          <a:prstGeom prst="rect">
            <a:avLst/>
          </a:prstGeom>
          <a:solidFill>
            <a:srgbClr val="FFFFFF"/>
          </a:solidFill>
          <a:ln w="12700">
            <a:solidFill>
              <a:srgbClr val="F8EFD7"/>
            </a:solidFill>
            <a:prstDash val="solid"/>
          </a:ln>
        </p:spPr>
      </p:sp>
      <p:sp>
        <p:nvSpPr>
          <p:cNvPr id="5" name="Text 3"/>
          <p:cNvSpPr/>
          <p:nvPr/>
        </p:nvSpPr>
        <p:spPr>
          <a:xfrm>
            <a:off x="822960" y="1737360"/>
            <a:ext cx="4937760" cy="228600"/>
          </a:xfrm>
          <a:prstGeom prst="rect">
            <a:avLst/>
          </a:prstGeom>
          <a:noFill/>
          <a:ln/>
        </p:spPr>
        <p:txBody>
          <a:bodyPr wrap="square" rtlCol="0" anchor="ctr"/>
          <a:lstStyle/>
          <a:p>
            <a:pPr indent="0" marL="0">
              <a:buNone/>
            </a:pPr>
            <a:r>
              <a:rPr lang="en-US" sz="900" b="1" spc="300" kern="0" dirty="0">
                <a:solidFill>
                  <a:srgbClr val="B85042"/>
                </a:solidFill>
                <a:latin typeface="Calibri" pitchFamily="34" charset="0"/>
                <a:ea typeface="Calibri" pitchFamily="34" charset="-122"/>
                <a:cs typeface="Calibri" pitchFamily="34" charset="-120"/>
              </a:rPr>
              <a:t>▲ RISK</a:t>
            </a:r>
            <a:endParaRPr lang="en-US" sz="900" dirty="0"/>
          </a:p>
        </p:txBody>
      </p:sp>
      <p:sp>
        <p:nvSpPr>
          <p:cNvPr id="6" name="Text 4"/>
          <p:cNvSpPr/>
          <p:nvPr/>
        </p:nvSpPr>
        <p:spPr>
          <a:xfrm>
            <a:off x="822960" y="1965960"/>
            <a:ext cx="4937760" cy="365760"/>
          </a:xfrm>
          <a:prstGeom prst="rect">
            <a:avLst/>
          </a:prstGeom>
          <a:noFill/>
          <a:ln/>
        </p:spPr>
        <p:txBody>
          <a:bodyPr wrap="square" rtlCol="0" anchor="ctr"/>
          <a:lstStyle/>
          <a:p>
            <a:pPr indent="0" marL="0">
              <a:buNone/>
            </a:pPr>
            <a:r>
              <a:rPr lang="en-US" sz="1300" b="1" dirty="0">
                <a:solidFill>
                  <a:srgbClr val="1A1208"/>
                </a:solidFill>
                <a:latin typeface="Calibri" pitchFamily="34" charset="0"/>
                <a:ea typeface="Calibri" pitchFamily="34" charset="-122"/>
                <a:cs typeface="Calibri" pitchFamily="34" charset="-120"/>
              </a:rPr>
              <a:t>LP consent delays during rollup</a:t>
            </a:r>
            <a:endParaRPr lang="en-US" sz="1300" dirty="0"/>
          </a:p>
        </p:txBody>
      </p:sp>
      <p:sp>
        <p:nvSpPr>
          <p:cNvPr id="7" name="Text 5"/>
          <p:cNvSpPr/>
          <p:nvPr/>
        </p:nvSpPr>
        <p:spPr>
          <a:xfrm>
            <a:off x="822960" y="2331720"/>
            <a:ext cx="4937760" cy="228600"/>
          </a:xfrm>
          <a:prstGeom prst="rect">
            <a:avLst/>
          </a:prstGeom>
          <a:noFill/>
          <a:ln/>
        </p:spPr>
        <p:txBody>
          <a:bodyPr wrap="square" rtlCol="0" anchor="ctr"/>
          <a:lstStyle/>
          <a:p>
            <a:pPr indent="0" marL="0">
              <a:buNone/>
            </a:pPr>
            <a:r>
              <a:rPr lang="en-US" sz="900" b="1" spc="300" kern="0" dirty="0">
                <a:solidFill>
                  <a:srgbClr val="A87618"/>
                </a:solidFill>
                <a:latin typeface="Calibri" pitchFamily="34" charset="0"/>
                <a:ea typeface="Calibri" pitchFamily="34" charset="-122"/>
                <a:cs typeface="Calibri" pitchFamily="34" charset="-120"/>
              </a:rPr>
              <a:t>MITIGATION</a:t>
            </a:r>
            <a:endParaRPr lang="en-US" sz="900" dirty="0"/>
          </a:p>
        </p:txBody>
      </p:sp>
      <p:sp>
        <p:nvSpPr>
          <p:cNvPr id="8" name="Text 6"/>
          <p:cNvSpPr/>
          <p:nvPr/>
        </p:nvSpPr>
        <p:spPr>
          <a:xfrm>
            <a:off x="822960" y="2560320"/>
            <a:ext cx="4937760" cy="457200"/>
          </a:xfrm>
          <a:prstGeom prst="rect">
            <a:avLst/>
          </a:prstGeom>
          <a:noFill/>
          <a:ln/>
        </p:spPr>
        <p:txBody>
          <a:bodyPr wrap="square" rtlCol="0" anchor="ctr"/>
          <a:lstStyle/>
          <a:p>
            <a:pPr indent="0" marL="0">
              <a:lnSpc>
                <a:spcPct val="130000"/>
              </a:lnSpc>
              <a:buNone/>
            </a:pPr>
            <a:r>
              <a:rPr lang="en-US" sz="1100" dirty="0">
                <a:solidFill>
                  <a:srgbClr val="4A3825"/>
                </a:solidFill>
                <a:latin typeface="Calibri" pitchFamily="34" charset="0"/>
                <a:ea typeface="Calibri" pitchFamily="34" charset="-122"/>
                <a:cs typeface="Calibri" pitchFamily="34" charset="-120"/>
              </a:rPr>
              <a:t>Capital floor + Arlington pref preserved. No LP loses anything. Many gain protections they did not formally have.</a:t>
            </a:r>
            <a:endParaRPr lang="en-US" sz="1100" dirty="0"/>
          </a:p>
        </p:txBody>
      </p:sp>
      <p:sp>
        <p:nvSpPr>
          <p:cNvPr id="9" name="Shape 7"/>
          <p:cNvSpPr/>
          <p:nvPr/>
        </p:nvSpPr>
        <p:spPr>
          <a:xfrm>
            <a:off x="6126480" y="1554480"/>
            <a:ext cx="5394960" cy="1417320"/>
          </a:xfrm>
          <a:prstGeom prst="rect">
            <a:avLst/>
          </a:prstGeom>
          <a:solidFill>
            <a:srgbClr val="FFFFFF"/>
          </a:solidFill>
          <a:ln w="12700">
            <a:solidFill>
              <a:srgbClr val="F8EFD7"/>
            </a:solidFill>
            <a:prstDash val="solid"/>
          </a:ln>
        </p:spPr>
      </p:sp>
      <p:sp>
        <p:nvSpPr>
          <p:cNvPr id="10" name="Text 8"/>
          <p:cNvSpPr/>
          <p:nvPr/>
        </p:nvSpPr>
        <p:spPr>
          <a:xfrm>
            <a:off x="6400800" y="1737360"/>
            <a:ext cx="4937760" cy="228600"/>
          </a:xfrm>
          <a:prstGeom prst="rect">
            <a:avLst/>
          </a:prstGeom>
          <a:noFill/>
          <a:ln/>
        </p:spPr>
        <p:txBody>
          <a:bodyPr wrap="square" rtlCol="0" anchor="ctr"/>
          <a:lstStyle/>
          <a:p>
            <a:pPr indent="0" marL="0">
              <a:buNone/>
            </a:pPr>
            <a:r>
              <a:rPr lang="en-US" sz="900" b="1" spc="300" kern="0" dirty="0">
                <a:solidFill>
                  <a:srgbClr val="B85042"/>
                </a:solidFill>
                <a:latin typeface="Calibri" pitchFamily="34" charset="0"/>
                <a:ea typeface="Calibri" pitchFamily="34" charset="-122"/>
                <a:cs typeface="Calibri" pitchFamily="34" charset="-120"/>
              </a:rPr>
              <a:t>▲ RISK</a:t>
            </a:r>
            <a:endParaRPr lang="en-US" sz="900" dirty="0"/>
          </a:p>
        </p:txBody>
      </p:sp>
      <p:sp>
        <p:nvSpPr>
          <p:cNvPr id="11" name="Text 9"/>
          <p:cNvSpPr/>
          <p:nvPr/>
        </p:nvSpPr>
        <p:spPr>
          <a:xfrm>
            <a:off x="6400800" y="1965960"/>
            <a:ext cx="4937760" cy="365760"/>
          </a:xfrm>
          <a:prstGeom prst="rect">
            <a:avLst/>
          </a:prstGeom>
          <a:noFill/>
          <a:ln/>
        </p:spPr>
        <p:txBody>
          <a:bodyPr wrap="square" rtlCol="0" anchor="ctr"/>
          <a:lstStyle/>
          <a:p>
            <a:pPr indent="0" marL="0">
              <a:buNone/>
            </a:pPr>
            <a:r>
              <a:rPr lang="en-US" sz="1300" b="1" dirty="0">
                <a:solidFill>
                  <a:srgbClr val="1A1208"/>
                </a:solidFill>
                <a:latin typeface="Calibri" pitchFamily="34" charset="0"/>
                <a:ea typeface="Calibri" pitchFamily="34" charset="-122"/>
                <a:cs typeface="Calibri" pitchFamily="34" charset="-120"/>
              </a:rPr>
              <a:t>Operational bandwidth as we scale acquisitions</a:t>
            </a:r>
            <a:endParaRPr lang="en-US" sz="1300" dirty="0"/>
          </a:p>
        </p:txBody>
      </p:sp>
      <p:sp>
        <p:nvSpPr>
          <p:cNvPr id="12" name="Text 10"/>
          <p:cNvSpPr/>
          <p:nvPr/>
        </p:nvSpPr>
        <p:spPr>
          <a:xfrm>
            <a:off x="6400800" y="2331720"/>
            <a:ext cx="4937760" cy="228600"/>
          </a:xfrm>
          <a:prstGeom prst="rect">
            <a:avLst/>
          </a:prstGeom>
          <a:noFill/>
          <a:ln/>
        </p:spPr>
        <p:txBody>
          <a:bodyPr wrap="square" rtlCol="0" anchor="ctr"/>
          <a:lstStyle/>
          <a:p>
            <a:pPr indent="0" marL="0">
              <a:buNone/>
            </a:pPr>
            <a:r>
              <a:rPr lang="en-US" sz="900" b="1" spc="300" kern="0" dirty="0">
                <a:solidFill>
                  <a:srgbClr val="A87618"/>
                </a:solidFill>
                <a:latin typeface="Calibri" pitchFamily="34" charset="0"/>
                <a:ea typeface="Calibri" pitchFamily="34" charset="-122"/>
                <a:cs typeface="Calibri" pitchFamily="34" charset="-120"/>
              </a:rPr>
              <a:t>MITIGATION</a:t>
            </a:r>
            <a:endParaRPr lang="en-US" sz="900" dirty="0"/>
          </a:p>
        </p:txBody>
      </p:sp>
      <p:sp>
        <p:nvSpPr>
          <p:cNvPr id="13" name="Text 11"/>
          <p:cNvSpPr/>
          <p:nvPr/>
        </p:nvSpPr>
        <p:spPr>
          <a:xfrm>
            <a:off x="6400800" y="2560320"/>
            <a:ext cx="4937760" cy="457200"/>
          </a:xfrm>
          <a:prstGeom prst="rect">
            <a:avLst/>
          </a:prstGeom>
          <a:noFill/>
          <a:ln/>
        </p:spPr>
        <p:txBody>
          <a:bodyPr wrap="square" rtlCol="0" anchor="ctr"/>
          <a:lstStyle/>
          <a:p>
            <a:pPr indent="0" marL="0">
              <a:lnSpc>
                <a:spcPct val="130000"/>
              </a:lnSpc>
              <a:buNone/>
            </a:pPr>
            <a:r>
              <a:rPr lang="en-US" sz="1100" dirty="0">
                <a:solidFill>
                  <a:srgbClr val="4A3825"/>
                </a:solidFill>
                <a:latin typeface="Calibri" pitchFamily="34" charset="0"/>
                <a:ea typeface="Calibri" pitchFamily="34" charset="-122"/>
                <a:cs typeface="Calibri" pitchFamily="34" charset="-120"/>
              </a:rPr>
              <a:t>Jonathan ops manager hire in Month 2-4 directly addresses this. Muypin already running daily ops full-time.</a:t>
            </a:r>
            <a:endParaRPr lang="en-US" sz="1100" dirty="0"/>
          </a:p>
        </p:txBody>
      </p:sp>
      <p:sp>
        <p:nvSpPr>
          <p:cNvPr id="14" name="Shape 12"/>
          <p:cNvSpPr/>
          <p:nvPr/>
        </p:nvSpPr>
        <p:spPr>
          <a:xfrm>
            <a:off x="548640" y="3108960"/>
            <a:ext cx="5394960" cy="1417320"/>
          </a:xfrm>
          <a:prstGeom prst="rect">
            <a:avLst/>
          </a:prstGeom>
          <a:solidFill>
            <a:srgbClr val="FFFFFF"/>
          </a:solidFill>
          <a:ln w="12700">
            <a:solidFill>
              <a:srgbClr val="F8EFD7"/>
            </a:solidFill>
            <a:prstDash val="solid"/>
          </a:ln>
        </p:spPr>
      </p:sp>
      <p:sp>
        <p:nvSpPr>
          <p:cNvPr id="15" name="Text 13"/>
          <p:cNvSpPr/>
          <p:nvPr/>
        </p:nvSpPr>
        <p:spPr>
          <a:xfrm>
            <a:off x="822960" y="3291840"/>
            <a:ext cx="4937760" cy="228600"/>
          </a:xfrm>
          <a:prstGeom prst="rect">
            <a:avLst/>
          </a:prstGeom>
          <a:noFill/>
          <a:ln/>
        </p:spPr>
        <p:txBody>
          <a:bodyPr wrap="square" rtlCol="0" anchor="ctr"/>
          <a:lstStyle/>
          <a:p>
            <a:pPr indent="0" marL="0">
              <a:buNone/>
            </a:pPr>
            <a:r>
              <a:rPr lang="en-US" sz="900" b="1" spc="300" kern="0" dirty="0">
                <a:solidFill>
                  <a:srgbClr val="B85042"/>
                </a:solidFill>
                <a:latin typeface="Calibri" pitchFamily="34" charset="0"/>
                <a:ea typeface="Calibri" pitchFamily="34" charset="-122"/>
                <a:cs typeface="Calibri" pitchFamily="34" charset="-120"/>
              </a:rPr>
              <a:t>▲ RISK</a:t>
            </a:r>
            <a:endParaRPr lang="en-US" sz="900" dirty="0"/>
          </a:p>
        </p:txBody>
      </p:sp>
      <p:sp>
        <p:nvSpPr>
          <p:cNvPr id="16" name="Text 14"/>
          <p:cNvSpPr/>
          <p:nvPr/>
        </p:nvSpPr>
        <p:spPr>
          <a:xfrm>
            <a:off x="822960" y="3520440"/>
            <a:ext cx="4937760" cy="365760"/>
          </a:xfrm>
          <a:prstGeom prst="rect">
            <a:avLst/>
          </a:prstGeom>
          <a:noFill/>
          <a:ln/>
        </p:spPr>
        <p:txBody>
          <a:bodyPr wrap="square" rtlCol="0" anchor="ctr"/>
          <a:lstStyle/>
          <a:p>
            <a:pPr indent="0" marL="0">
              <a:buNone/>
            </a:pPr>
            <a:r>
              <a:rPr lang="en-US" sz="1300" b="1" dirty="0">
                <a:solidFill>
                  <a:srgbClr val="1A1208"/>
                </a:solidFill>
                <a:latin typeface="Calibri" pitchFamily="34" charset="0"/>
                <a:ea typeface="Calibri" pitchFamily="34" charset="-122"/>
                <a:cs typeface="Calibri" pitchFamily="34" charset="-120"/>
              </a:rPr>
              <a:t>Multiple compression at exit (2021 vs today)</a:t>
            </a:r>
            <a:endParaRPr lang="en-US" sz="1300" dirty="0"/>
          </a:p>
        </p:txBody>
      </p:sp>
      <p:sp>
        <p:nvSpPr>
          <p:cNvPr id="17" name="Text 15"/>
          <p:cNvSpPr/>
          <p:nvPr/>
        </p:nvSpPr>
        <p:spPr>
          <a:xfrm>
            <a:off x="822960" y="3886200"/>
            <a:ext cx="4937760" cy="228600"/>
          </a:xfrm>
          <a:prstGeom prst="rect">
            <a:avLst/>
          </a:prstGeom>
          <a:noFill/>
          <a:ln/>
        </p:spPr>
        <p:txBody>
          <a:bodyPr wrap="square" rtlCol="0" anchor="ctr"/>
          <a:lstStyle/>
          <a:p>
            <a:pPr indent="0" marL="0">
              <a:buNone/>
            </a:pPr>
            <a:r>
              <a:rPr lang="en-US" sz="900" b="1" spc="300" kern="0" dirty="0">
                <a:solidFill>
                  <a:srgbClr val="A87618"/>
                </a:solidFill>
                <a:latin typeface="Calibri" pitchFamily="34" charset="0"/>
                <a:ea typeface="Calibri" pitchFamily="34" charset="-122"/>
                <a:cs typeface="Calibri" pitchFamily="34" charset="-120"/>
              </a:rPr>
              <a:t>MITIGATION</a:t>
            </a:r>
            <a:endParaRPr lang="en-US" sz="900" dirty="0"/>
          </a:p>
        </p:txBody>
      </p:sp>
      <p:sp>
        <p:nvSpPr>
          <p:cNvPr id="18" name="Text 16"/>
          <p:cNvSpPr/>
          <p:nvPr/>
        </p:nvSpPr>
        <p:spPr>
          <a:xfrm>
            <a:off x="822960" y="4114800"/>
            <a:ext cx="4937760" cy="457200"/>
          </a:xfrm>
          <a:prstGeom prst="rect">
            <a:avLst/>
          </a:prstGeom>
          <a:noFill/>
          <a:ln/>
        </p:spPr>
        <p:txBody>
          <a:bodyPr wrap="square" rtlCol="0" anchor="ctr"/>
          <a:lstStyle/>
          <a:p>
            <a:pPr indent="0" marL="0">
              <a:lnSpc>
                <a:spcPct val="130000"/>
              </a:lnSpc>
              <a:buNone/>
            </a:pPr>
            <a:r>
              <a:rPr lang="en-US" sz="1100" dirty="0">
                <a:solidFill>
                  <a:srgbClr val="4A3825"/>
                </a:solidFill>
                <a:latin typeface="Calibri" pitchFamily="34" charset="0"/>
                <a:ea typeface="Calibri" pitchFamily="34" charset="-122"/>
                <a:cs typeface="Calibri" pitchFamily="34" charset="-120"/>
              </a:rPr>
              <a:t>We model on Cava (3.5×) and Krispy Kreme (3.6×) levels, not Sweetgreen 2021 (15×). Conservative throughout.</a:t>
            </a:r>
            <a:endParaRPr lang="en-US" sz="1100" dirty="0"/>
          </a:p>
        </p:txBody>
      </p:sp>
      <p:sp>
        <p:nvSpPr>
          <p:cNvPr id="19" name="Shape 17"/>
          <p:cNvSpPr/>
          <p:nvPr/>
        </p:nvSpPr>
        <p:spPr>
          <a:xfrm>
            <a:off x="6126480" y="3108960"/>
            <a:ext cx="5394960" cy="1417320"/>
          </a:xfrm>
          <a:prstGeom prst="rect">
            <a:avLst/>
          </a:prstGeom>
          <a:solidFill>
            <a:srgbClr val="FFFFFF"/>
          </a:solidFill>
          <a:ln w="12700">
            <a:solidFill>
              <a:srgbClr val="F8EFD7"/>
            </a:solidFill>
            <a:prstDash val="solid"/>
          </a:ln>
        </p:spPr>
      </p:sp>
      <p:sp>
        <p:nvSpPr>
          <p:cNvPr id="20" name="Text 18"/>
          <p:cNvSpPr/>
          <p:nvPr/>
        </p:nvSpPr>
        <p:spPr>
          <a:xfrm>
            <a:off x="6400800" y="3291840"/>
            <a:ext cx="4937760" cy="228600"/>
          </a:xfrm>
          <a:prstGeom prst="rect">
            <a:avLst/>
          </a:prstGeom>
          <a:noFill/>
          <a:ln/>
        </p:spPr>
        <p:txBody>
          <a:bodyPr wrap="square" rtlCol="0" anchor="ctr"/>
          <a:lstStyle/>
          <a:p>
            <a:pPr indent="0" marL="0">
              <a:buNone/>
            </a:pPr>
            <a:r>
              <a:rPr lang="en-US" sz="900" b="1" spc="300" kern="0" dirty="0">
                <a:solidFill>
                  <a:srgbClr val="B85042"/>
                </a:solidFill>
                <a:latin typeface="Calibri" pitchFamily="34" charset="0"/>
                <a:ea typeface="Calibri" pitchFamily="34" charset="-122"/>
                <a:cs typeface="Calibri" pitchFamily="34" charset="-120"/>
              </a:rPr>
              <a:t>▲ RISK</a:t>
            </a:r>
            <a:endParaRPr lang="en-US" sz="900" dirty="0"/>
          </a:p>
        </p:txBody>
      </p:sp>
      <p:sp>
        <p:nvSpPr>
          <p:cNvPr id="21" name="Text 19"/>
          <p:cNvSpPr/>
          <p:nvPr/>
        </p:nvSpPr>
        <p:spPr>
          <a:xfrm>
            <a:off x="6400800" y="3520440"/>
            <a:ext cx="4937760" cy="365760"/>
          </a:xfrm>
          <a:prstGeom prst="rect">
            <a:avLst/>
          </a:prstGeom>
          <a:noFill/>
          <a:ln/>
        </p:spPr>
        <p:txBody>
          <a:bodyPr wrap="square" rtlCol="0" anchor="ctr"/>
          <a:lstStyle/>
          <a:p>
            <a:pPr indent="0" marL="0">
              <a:buNone/>
            </a:pPr>
            <a:r>
              <a:rPr lang="en-US" sz="1300" b="1" dirty="0">
                <a:solidFill>
                  <a:srgbClr val="1A1208"/>
                </a:solidFill>
                <a:latin typeface="Calibri" pitchFamily="34" charset="0"/>
                <a:ea typeface="Calibri" pitchFamily="34" charset="-122"/>
                <a:cs typeface="Calibri" pitchFamily="34" charset="-120"/>
              </a:rPr>
              <a:t>Revenue verification gap (gross vs net)</a:t>
            </a:r>
            <a:endParaRPr lang="en-US" sz="1300" dirty="0"/>
          </a:p>
        </p:txBody>
      </p:sp>
      <p:sp>
        <p:nvSpPr>
          <p:cNvPr id="22" name="Text 20"/>
          <p:cNvSpPr/>
          <p:nvPr/>
        </p:nvSpPr>
        <p:spPr>
          <a:xfrm>
            <a:off x="6400800" y="3886200"/>
            <a:ext cx="4937760" cy="228600"/>
          </a:xfrm>
          <a:prstGeom prst="rect">
            <a:avLst/>
          </a:prstGeom>
          <a:noFill/>
          <a:ln/>
        </p:spPr>
        <p:txBody>
          <a:bodyPr wrap="square" rtlCol="0" anchor="ctr"/>
          <a:lstStyle/>
          <a:p>
            <a:pPr indent="0" marL="0">
              <a:buNone/>
            </a:pPr>
            <a:r>
              <a:rPr lang="en-US" sz="900" b="1" spc="300" kern="0" dirty="0">
                <a:solidFill>
                  <a:srgbClr val="A87618"/>
                </a:solidFill>
                <a:latin typeface="Calibri" pitchFamily="34" charset="0"/>
                <a:ea typeface="Calibri" pitchFamily="34" charset="-122"/>
                <a:cs typeface="Calibri" pitchFamily="34" charset="-120"/>
              </a:rPr>
              <a:t>MITIGATION</a:t>
            </a:r>
            <a:endParaRPr lang="en-US" sz="900" dirty="0"/>
          </a:p>
        </p:txBody>
      </p:sp>
      <p:sp>
        <p:nvSpPr>
          <p:cNvPr id="23" name="Text 21"/>
          <p:cNvSpPr/>
          <p:nvPr/>
        </p:nvSpPr>
        <p:spPr>
          <a:xfrm>
            <a:off x="6400800" y="4114800"/>
            <a:ext cx="4937760" cy="457200"/>
          </a:xfrm>
          <a:prstGeom prst="rect">
            <a:avLst/>
          </a:prstGeom>
          <a:noFill/>
          <a:ln/>
        </p:spPr>
        <p:txBody>
          <a:bodyPr wrap="square" rtlCol="0" anchor="ctr"/>
          <a:lstStyle/>
          <a:p>
            <a:pPr indent="0" marL="0">
              <a:lnSpc>
                <a:spcPct val="130000"/>
              </a:lnSpc>
              <a:buNone/>
            </a:pPr>
            <a:r>
              <a:rPr lang="en-US" sz="1100" dirty="0">
                <a:solidFill>
                  <a:srgbClr val="4A3825"/>
                </a:solidFill>
                <a:latin typeface="Calibri" pitchFamily="34" charset="0"/>
                <a:ea typeface="Calibri" pitchFamily="34" charset="-122"/>
                <a:cs typeface="Calibri" pitchFamily="34" charset="-120"/>
              </a:rPr>
              <a:t>Fractional bookkeeper engaged Month 1. Verified May 2026 close locks in real numbers before SAFE close.</a:t>
            </a:r>
            <a:endParaRPr lang="en-US" sz="1100" dirty="0"/>
          </a:p>
        </p:txBody>
      </p:sp>
      <p:sp>
        <p:nvSpPr>
          <p:cNvPr id="24" name="Shape 22"/>
          <p:cNvSpPr/>
          <p:nvPr/>
        </p:nvSpPr>
        <p:spPr>
          <a:xfrm>
            <a:off x="548640" y="4663440"/>
            <a:ext cx="5394960" cy="1417320"/>
          </a:xfrm>
          <a:prstGeom prst="rect">
            <a:avLst/>
          </a:prstGeom>
          <a:solidFill>
            <a:srgbClr val="FFFFFF"/>
          </a:solidFill>
          <a:ln w="12700">
            <a:solidFill>
              <a:srgbClr val="F8EFD7"/>
            </a:solidFill>
            <a:prstDash val="solid"/>
          </a:ln>
        </p:spPr>
      </p:sp>
      <p:sp>
        <p:nvSpPr>
          <p:cNvPr id="25" name="Text 23"/>
          <p:cNvSpPr/>
          <p:nvPr/>
        </p:nvSpPr>
        <p:spPr>
          <a:xfrm>
            <a:off x="822960" y="4846320"/>
            <a:ext cx="4937760" cy="228600"/>
          </a:xfrm>
          <a:prstGeom prst="rect">
            <a:avLst/>
          </a:prstGeom>
          <a:noFill/>
          <a:ln/>
        </p:spPr>
        <p:txBody>
          <a:bodyPr wrap="square" rtlCol="0" anchor="ctr"/>
          <a:lstStyle/>
          <a:p>
            <a:pPr indent="0" marL="0">
              <a:buNone/>
            </a:pPr>
            <a:r>
              <a:rPr lang="en-US" sz="900" b="1" spc="300" kern="0" dirty="0">
                <a:solidFill>
                  <a:srgbClr val="B85042"/>
                </a:solidFill>
                <a:latin typeface="Calibri" pitchFamily="34" charset="0"/>
                <a:ea typeface="Calibri" pitchFamily="34" charset="-122"/>
                <a:cs typeface="Calibri" pitchFamily="34" charset="-120"/>
              </a:rPr>
              <a:t>▲ RISK</a:t>
            </a:r>
            <a:endParaRPr lang="en-US" sz="900" dirty="0"/>
          </a:p>
        </p:txBody>
      </p:sp>
      <p:sp>
        <p:nvSpPr>
          <p:cNvPr id="26" name="Text 24"/>
          <p:cNvSpPr/>
          <p:nvPr/>
        </p:nvSpPr>
        <p:spPr>
          <a:xfrm>
            <a:off x="822960" y="5074920"/>
            <a:ext cx="4937760" cy="365760"/>
          </a:xfrm>
          <a:prstGeom prst="rect">
            <a:avLst/>
          </a:prstGeom>
          <a:noFill/>
          <a:ln/>
        </p:spPr>
        <p:txBody>
          <a:bodyPr wrap="square" rtlCol="0" anchor="ctr"/>
          <a:lstStyle/>
          <a:p>
            <a:pPr indent="0" marL="0">
              <a:buNone/>
            </a:pPr>
            <a:r>
              <a:rPr lang="en-US" sz="1300" b="1" dirty="0">
                <a:solidFill>
                  <a:srgbClr val="1A1208"/>
                </a:solidFill>
                <a:latin typeface="Calibri" pitchFamily="34" charset="0"/>
                <a:ea typeface="Calibri" pitchFamily="34" charset="-122"/>
                <a:cs typeface="Calibri" pitchFamily="34" charset="-120"/>
              </a:rPr>
              <a:t>Lender / landlord consent on any shop</a:t>
            </a:r>
            <a:endParaRPr lang="en-US" sz="1300" dirty="0"/>
          </a:p>
        </p:txBody>
      </p:sp>
      <p:sp>
        <p:nvSpPr>
          <p:cNvPr id="27" name="Text 25"/>
          <p:cNvSpPr/>
          <p:nvPr/>
        </p:nvSpPr>
        <p:spPr>
          <a:xfrm>
            <a:off x="822960" y="5440680"/>
            <a:ext cx="4937760" cy="228600"/>
          </a:xfrm>
          <a:prstGeom prst="rect">
            <a:avLst/>
          </a:prstGeom>
          <a:noFill/>
          <a:ln/>
        </p:spPr>
        <p:txBody>
          <a:bodyPr wrap="square" rtlCol="0" anchor="ctr"/>
          <a:lstStyle/>
          <a:p>
            <a:pPr indent="0" marL="0">
              <a:buNone/>
            </a:pPr>
            <a:r>
              <a:rPr lang="en-US" sz="900" b="1" spc="300" kern="0" dirty="0">
                <a:solidFill>
                  <a:srgbClr val="A87618"/>
                </a:solidFill>
                <a:latin typeface="Calibri" pitchFamily="34" charset="0"/>
                <a:ea typeface="Calibri" pitchFamily="34" charset="-122"/>
                <a:cs typeface="Calibri" pitchFamily="34" charset="-120"/>
              </a:rPr>
              <a:t>MITIGATION</a:t>
            </a:r>
            <a:endParaRPr lang="en-US" sz="900" dirty="0"/>
          </a:p>
        </p:txBody>
      </p:sp>
      <p:sp>
        <p:nvSpPr>
          <p:cNvPr id="28" name="Text 26"/>
          <p:cNvSpPr/>
          <p:nvPr/>
        </p:nvSpPr>
        <p:spPr>
          <a:xfrm>
            <a:off x="822960" y="5669280"/>
            <a:ext cx="4937760" cy="457200"/>
          </a:xfrm>
          <a:prstGeom prst="rect">
            <a:avLst/>
          </a:prstGeom>
          <a:noFill/>
          <a:ln/>
        </p:spPr>
        <p:txBody>
          <a:bodyPr wrap="square" rtlCol="0" anchor="ctr"/>
          <a:lstStyle/>
          <a:p>
            <a:pPr indent="0" marL="0">
              <a:lnSpc>
                <a:spcPct val="130000"/>
              </a:lnSpc>
              <a:buNone/>
            </a:pPr>
            <a:r>
              <a:rPr lang="en-US" sz="1100" dirty="0">
                <a:solidFill>
                  <a:srgbClr val="4A3825"/>
                </a:solidFill>
                <a:latin typeface="Calibri" pitchFamily="34" charset="0"/>
                <a:ea typeface="Calibri" pitchFamily="34" charset="-122"/>
                <a:cs typeface="Calibri" pitchFamily="34" charset="-120"/>
              </a:rPr>
              <a:t>Shell HoldCo can absorb subsidiaries individually as consents complete. Not all-or-nothing structure.</a:t>
            </a:r>
            <a:endParaRPr lang="en-US" sz="1100" dirty="0"/>
          </a:p>
        </p:txBody>
      </p:sp>
      <p:sp>
        <p:nvSpPr>
          <p:cNvPr id="29" name="Shape 27"/>
          <p:cNvSpPr/>
          <p:nvPr/>
        </p:nvSpPr>
        <p:spPr>
          <a:xfrm>
            <a:off x="6126480" y="4663440"/>
            <a:ext cx="5394960" cy="1417320"/>
          </a:xfrm>
          <a:prstGeom prst="rect">
            <a:avLst/>
          </a:prstGeom>
          <a:solidFill>
            <a:srgbClr val="FFFFFF"/>
          </a:solidFill>
          <a:ln w="12700">
            <a:solidFill>
              <a:srgbClr val="F8EFD7"/>
            </a:solidFill>
            <a:prstDash val="solid"/>
          </a:ln>
        </p:spPr>
      </p:sp>
      <p:sp>
        <p:nvSpPr>
          <p:cNvPr id="30" name="Text 28"/>
          <p:cNvSpPr/>
          <p:nvPr/>
        </p:nvSpPr>
        <p:spPr>
          <a:xfrm>
            <a:off x="6400800" y="4846320"/>
            <a:ext cx="4937760" cy="228600"/>
          </a:xfrm>
          <a:prstGeom prst="rect">
            <a:avLst/>
          </a:prstGeom>
          <a:noFill/>
          <a:ln/>
        </p:spPr>
        <p:txBody>
          <a:bodyPr wrap="square" rtlCol="0" anchor="ctr"/>
          <a:lstStyle/>
          <a:p>
            <a:pPr indent="0" marL="0">
              <a:buNone/>
            </a:pPr>
            <a:r>
              <a:rPr lang="en-US" sz="900" b="1" spc="300" kern="0" dirty="0">
                <a:solidFill>
                  <a:srgbClr val="B85042"/>
                </a:solidFill>
                <a:latin typeface="Calibri" pitchFamily="34" charset="0"/>
                <a:ea typeface="Calibri" pitchFamily="34" charset="-122"/>
                <a:cs typeface="Calibri" pitchFamily="34" charset="-120"/>
              </a:rPr>
              <a:t>▲ RISK</a:t>
            </a:r>
            <a:endParaRPr lang="en-US" sz="900" dirty="0"/>
          </a:p>
        </p:txBody>
      </p:sp>
      <p:sp>
        <p:nvSpPr>
          <p:cNvPr id="31" name="Text 29"/>
          <p:cNvSpPr/>
          <p:nvPr/>
        </p:nvSpPr>
        <p:spPr>
          <a:xfrm>
            <a:off x="6400800" y="5074920"/>
            <a:ext cx="4937760" cy="365760"/>
          </a:xfrm>
          <a:prstGeom prst="rect">
            <a:avLst/>
          </a:prstGeom>
          <a:noFill/>
          <a:ln/>
        </p:spPr>
        <p:txBody>
          <a:bodyPr wrap="square" rtlCol="0" anchor="ctr"/>
          <a:lstStyle/>
          <a:p>
            <a:pPr indent="0" marL="0">
              <a:buNone/>
            </a:pPr>
            <a:r>
              <a:rPr lang="en-US" sz="1300" b="1" dirty="0">
                <a:solidFill>
                  <a:srgbClr val="1A1208"/>
                </a:solidFill>
                <a:latin typeface="Calibri" pitchFamily="34" charset="0"/>
                <a:ea typeface="Calibri" pitchFamily="34" charset="-122"/>
                <a:cs typeface="Calibri" pitchFamily="34" charset="-120"/>
              </a:rPr>
              <a:t>Securities compliance (14 LPs, Reg D)</a:t>
            </a:r>
            <a:endParaRPr lang="en-US" sz="1300" dirty="0"/>
          </a:p>
        </p:txBody>
      </p:sp>
      <p:sp>
        <p:nvSpPr>
          <p:cNvPr id="32" name="Text 30"/>
          <p:cNvSpPr/>
          <p:nvPr/>
        </p:nvSpPr>
        <p:spPr>
          <a:xfrm>
            <a:off x="6400800" y="5440680"/>
            <a:ext cx="4937760" cy="228600"/>
          </a:xfrm>
          <a:prstGeom prst="rect">
            <a:avLst/>
          </a:prstGeom>
          <a:noFill/>
          <a:ln/>
        </p:spPr>
        <p:txBody>
          <a:bodyPr wrap="square" rtlCol="0" anchor="ctr"/>
          <a:lstStyle/>
          <a:p>
            <a:pPr indent="0" marL="0">
              <a:buNone/>
            </a:pPr>
            <a:r>
              <a:rPr lang="en-US" sz="900" b="1" spc="300" kern="0" dirty="0">
                <a:solidFill>
                  <a:srgbClr val="A87618"/>
                </a:solidFill>
                <a:latin typeface="Calibri" pitchFamily="34" charset="0"/>
                <a:ea typeface="Calibri" pitchFamily="34" charset="-122"/>
                <a:cs typeface="Calibri" pitchFamily="34" charset="-120"/>
              </a:rPr>
              <a:t>MITIGATION</a:t>
            </a:r>
            <a:endParaRPr lang="en-US" sz="900" dirty="0"/>
          </a:p>
        </p:txBody>
      </p:sp>
      <p:sp>
        <p:nvSpPr>
          <p:cNvPr id="33" name="Text 31"/>
          <p:cNvSpPr/>
          <p:nvPr/>
        </p:nvSpPr>
        <p:spPr>
          <a:xfrm>
            <a:off x="6400800" y="5669280"/>
            <a:ext cx="4937760" cy="457200"/>
          </a:xfrm>
          <a:prstGeom prst="rect">
            <a:avLst/>
          </a:prstGeom>
          <a:noFill/>
          <a:ln/>
        </p:spPr>
        <p:txBody>
          <a:bodyPr wrap="square" rtlCol="0" anchor="ctr"/>
          <a:lstStyle/>
          <a:p>
            <a:pPr indent="0" marL="0">
              <a:lnSpc>
                <a:spcPct val="130000"/>
              </a:lnSpc>
              <a:buNone/>
            </a:pPr>
            <a:r>
              <a:rPr lang="en-US" sz="1100" dirty="0">
                <a:solidFill>
                  <a:srgbClr val="4A3825"/>
                </a:solidFill>
                <a:latin typeface="Calibri" pitchFamily="34" charset="0"/>
                <a:ea typeface="Calibri" pitchFamily="34" charset="-122"/>
                <a:cs typeface="Calibri" pitchFamily="34" charset="-120"/>
              </a:rPr>
              <a:t>Accreditation questionnaires sent Month 1. Securities counsel engaged. Reg D 506(b) compliance achievable.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208"/>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FAF6EA"/>
                </a:solidFill>
                <a:latin typeface="Georgia" pitchFamily="34" charset="0"/>
                <a:ea typeface="Georgia" pitchFamily="34" charset="-122"/>
                <a:cs typeface="Georgia" pitchFamily="34" charset="-120"/>
              </a:rPr>
              <a:t>Why now</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F5E2B8"/>
                </a:solidFill>
                <a:latin typeface="Calibri" pitchFamily="34" charset="0"/>
                <a:ea typeface="Calibri" pitchFamily="34" charset="-122"/>
                <a:cs typeface="Calibri" pitchFamily="34" charset="-120"/>
              </a:rPr>
              <a:t>Three timing windows that compound to make this round time-sensitive.</a:t>
            </a:r>
            <a:endParaRPr lang="en-US" sz="1400" dirty="0"/>
          </a:p>
        </p:txBody>
      </p:sp>
      <p:sp>
        <p:nvSpPr>
          <p:cNvPr id="4" name="Shape 2"/>
          <p:cNvSpPr/>
          <p:nvPr/>
        </p:nvSpPr>
        <p:spPr>
          <a:xfrm>
            <a:off x="548640" y="1737360"/>
            <a:ext cx="1097280" cy="1280160"/>
          </a:xfrm>
          <a:prstGeom prst="rect">
            <a:avLst/>
          </a:prstGeom>
          <a:solidFill>
            <a:srgbClr val="D99C2B"/>
          </a:solidFill>
          <a:ln w="12700">
            <a:solidFill>
              <a:srgbClr val="D99C2B"/>
            </a:solidFill>
            <a:prstDash val="solid"/>
          </a:ln>
        </p:spPr>
      </p:sp>
      <p:sp>
        <p:nvSpPr>
          <p:cNvPr id="5" name="Text 3"/>
          <p:cNvSpPr/>
          <p:nvPr/>
        </p:nvSpPr>
        <p:spPr>
          <a:xfrm>
            <a:off x="548640" y="2057400"/>
            <a:ext cx="1097280" cy="640080"/>
          </a:xfrm>
          <a:prstGeom prst="rect">
            <a:avLst/>
          </a:prstGeom>
          <a:noFill/>
          <a:ln/>
        </p:spPr>
        <p:txBody>
          <a:bodyPr wrap="square" rtlCol="0" anchor="ctr"/>
          <a:lstStyle/>
          <a:p>
            <a:pPr algn="ctr" indent="0" marL="0">
              <a:buNone/>
            </a:pPr>
            <a:r>
              <a:rPr lang="en-US" sz="4000" b="1" dirty="0">
                <a:solidFill>
                  <a:srgbClr val="1A1208"/>
                </a:solidFill>
                <a:latin typeface="Georgia" pitchFamily="34" charset="0"/>
                <a:ea typeface="Georgia" pitchFamily="34" charset="-122"/>
                <a:cs typeface="Georgia" pitchFamily="34" charset="-120"/>
              </a:rPr>
              <a:t>01</a:t>
            </a:r>
            <a:endParaRPr lang="en-US" sz="4000" dirty="0"/>
          </a:p>
        </p:txBody>
      </p:sp>
      <p:sp>
        <p:nvSpPr>
          <p:cNvPr id="6" name="Shape 4"/>
          <p:cNvSpPr/>
          <p:nvPr/>
        </p:nvSpPr>
        <p:spPr>
          <a:xfrm>
            <a:off x="1691640" y="1737360"/>
            <a:ext cx="9921240" cy="1280160"/>
          </a:xfrm>
          <a:prstGeom prst="rect">
            <a:avLst/>
          </a:prstGeom>
          <a:solidFill>
            <a:srgbClr val="4A3825"/>
          </a:solidFill>
          <a:ln w="12700">
            <a:solidFill>
              <a:srgbClr val="D99C2B"/>
            </a:solidFill>
            <a:prstDash val="solid"/>
          </a:ln>
        </p:spPr>
      </p:sp>
      <p:sp>
        <p:nvSpPr>
          <p:cNvPr id="7" name="Text 5"/>
          <p:cNvSpPr/>
          <p:nvPr/>
        </p:nvSpPr>
        <p:spPr>
          <a:xfrm>
            <a:off x="1920240" y="1920240"/>
            <a:ext cx="9509760" cy="365760"/>
          </a:xfrm>
          <a:prstGeom prst="rect">
            <a:avLst/>
          </a:prstGeom>
          <a:noFill/>
          <a:ln/>
        </p:spPr>
        <p:txBody>
          <a:bodyPr wrap="square" rtlCol="0" anchor="ctr"/>
          <a:lstStyle/>
          <a:p>
            <a:pPr indent="0" marL="0">
              <a:buNone/>
            </a:pPr>
            <a:r>
              <a:rPr lang="en-US" sz="2000" b="1" dirty="0">
                <a:solidFill>
                  <a:srgbClr val="FAF6EA"/>
                </a:solidFill>
                <a:latin typeface="Georgia" pitchFamily="34" charset="0"/>
                <a:ea typeface="Georgia" pitchFamily="34" charset="-122"/>
                <a:cs typeface="Georgia" pitchFamily="34" charset="-120"/>
              </a:rPr>
              <a:t>Pre-ramp valuations</a:t>
            </a:r>
            <a:endParaRPr lang="en-US" sz="2000" dirty="0"/>
          </a:p>
        </p:txBody>
      </p:sp>
      <p:sp>
        <p:nvSpPr>
          <p:cNvPr id="8" name="Text 6"/>
          <p:cNvSpPr/>
          <p:nvPr/>
        </p:nvSpPr>
        <p:spPr>
          <a:xfrm>
            <a:off x="1920240" y="2331720"/>
            <a:ext cx="9509760" cy="640080"/>
          </a:xfrm>
          <a:prstGeom prst="rect">
            <a:avLst/>
          </a:prstGeom>
          <a:noFill/>
          <a:ln/>
        </p:spPr>
        <p:txBody>
          <a:bodyPr wrap="square" rtlCol="0" anchor="ctr"/>
          <a:lstStyle/>
          <a:p>
            <a:pPr indent="0" marL="0">
              <a:lnSpc>
                <a:spcPct val="140000"/>
              </a:lnSpc>
              <a:buNone/>
            </a:pPr>
            <a:r>
              <a:rPr lang="en-US" sz="1300" dirty="0">
                <a:solidFill>
                  <a:srgbClr val="D4C09B"/>
                </a:solidFill>
                <a:latin typeface="Calibri" pitchFamily="34" charset="0"/>
                <a:ea typeface="Calibri" pitchFamily="34" charset="-122"/>
                <a:cs typeface="Calibri" pitchFamily="34" charset="-120"/>
              </a:rPr>
              <a:t>Stores are 4-6 months old. Pricing on today's numbers undervalues the trajectory. The $2M cap captures this — invest BEFORE the ramp, not after.</a:t>
            </a:r>
            <a:endParaRPr lang="en-US" sz="1300" dirty="0"/>
          </a:p>
        </p:txBody>
      </p:sp>
      <p:sp>
        <p:nvSpPr>
          <p:cNvPr id="9" name="Shape 7"/>
          <p:cNvSpPr/>
          <p:nvPr/>
        </p:nvSpPr>
        <p:spPr>
          <a:xfrm>
            <a:off x="548640" y="3246120"/>
            <a:ext cx="1097280" cy="1280160"/>
          </a:xfrm>
          <a:prstGeom prst="rect">
            <a:avLst/>
          </a:prstGeom>
          <a:solidFill>
            <a:srgbClr val="D99C2B"/>
          </a:solidFill>
          <a:ln w="12700">
            <a:solidFill>
              <a:srgbClr val="D99C2B"/>
            </a:solidFill>
            <a:prstDash val="solid"/>
          </a:ln>
        </p:spPr>
      </p:sp>
      <p:sp>
        <p:nvSpPr>
          <p:cNvPr id="10" name="Text 8"/>
          <p:cNvSpPr/>
          <p:nvPr/>
        </p:nvSpPr>
        <p:spPr>
          <a:xfrm>
            <a:off x="548640" y="3566160"/>
            <a:ext cx="1097280" cy="640080"/>
          </a:xfrm>
          <a:prstGeom prst="rect">
            <a:avLst/>
          </a:prstGeom>
          <a:noFill/>
          <a:ln/>
        </p:spPr>
        <p:txBody>
          <a:bodyPr wrap="square" rtlCol="0" anchor="ctr"/>
          <a:lstStyle/>
          <a:p>
            <a:pPr algn="ctr" indent="0" marL="0">
              <a:buNone/>
            </a:pPr>
            <a:r>
              <a:rPr lang="en-US" sz="4000" b="1" dirty="0">
                <a:solidFill>
                  <a:srgbClr val="1A1208"/>
                </a:solidFill>
                <a:latin typeface="Georgia" pitchFamily="34" charset="0"/>
                <a:ea typeface="Georgia" pitchFamily="34" charset="-122"/>
                <a:cs typeface="Georgia" pitchFamily="34" charset="-120"/>
              </a:rPr>
              <a:t>02</a:t>
            </a:r>
            <a:endParaRPr lang="en-US" sz="4000" dirty="0"/>
          </a:p>
        </p:txBody>
      </p:sp>
      <p:sp>
        <p:nvSpPr>
          <p:cNvPr id="11" name="Shape 9"/>
          <p:cNvSpPr/>
          <p:nvPr/>
        </p:nvSpPr>
        <p:spPr>
          <a:xfrm>
            <a:off x="1691640" y="3246120"/>
            <a:ext cx="9921240" cy="1280160"/>
          </a:xfrm>
          <a:prstGeom prst="rect">
            <a:avLst/>
          </a:prstGeom>
          <a:solidFill>
            <a:srgbClr val="4A3825"/>
          </a:solidFill>
          <a:ln w="12700">
            <a:solidFill>
              <a:srgbClr val="D99C2B"/>
            </a:solidFill>
            <a:prstDash val="solid"/>
          </a:ln>
        </p:spPr>
      </p:sp>
      <p:sp>
        <p:nvSpPr>
          <p:cNvPr id="12" name="Text 10"/>
          <p:cNvSpPr/>
          <p:nvPr/>
        </p:nvSpPr>
        <p:spPr>
          <a:xfrm>
            <a:off x="1920240" y="3429000"/>
            <a:ext cx="9509760" cy="365760"/>
          </a:xfrm>
          <a:prstGeom prst="rect">
            <a:avLst/>
          </a:prstGeom>
          <a:noFill/>
          <a:ln/>
        </p:spPr>
        <p:txBody>
          <a:bodyPr wrap="square" rtlCol="0" anchor="ctr"/>
          <a:lstStyle/>
          <a:p>
            <a:pPr indent="0" marL="0">
              <a:buNone/>
            </a:pPr>
            <a:r>
              <a:rPr lang="en-US" sz="2000" b="1" dirty="0">
                <a:solidFill>
                  <a:srgbClr val="FAF6EA"/>
                </a:solidFill>
                <a:latin typeface="Georgia" pitchFamily="34" charset="0"/>
                <a:ea typeface="Georgia" pitchFamily="34" charset="-122"/>
                <a:cs typeface="Georgia" pitchFamily="34" charset="-120"/>
              </a:rPr>
              <a:t>Roll-up window is open</a:t>
            </a:r>
            <a:endParaRPr lang="en-US" sz="2000" dirty="0"/>
          </a:p>
        </p:txBody>
      </p:sp>
      <p:sp>
        <p:nvSpPr>
          <p:cNvPr id="13" name="Text 11"/>
          <p:cNvSpPr/>
          <p:nvPr/>
        </p:nvSpPr>
        <p:spPr>
          <a:xfrm>
            <a:off x="1920240" y="3840480"/>
            <a:ext cx="9509760" cy="640080"/>
          </a:xfrm>
          <a:prstGeom prst="rect">
            <a:avLst/>
          </a:prstGeom>
          <a:noFill/>
          <a:ln/>
        </p:spPr>
        <p:txBody>
          <a:bodyPr wrap="square" rtlCol="0" anchor="ctr"/>
          <a:lstStyle/>
          <a:p>
            <a:pPr indent="0" marL="0">
              <a:lnSpc>
                <a:spcPct val="140000"/>
              </a:lnSpc>
              <a:buNone/>
            </a:pPr>
            <a:r>
              <a:rPr lang="en-US" sz="1300" dirty="0">
                <a:solidFill>
                  <a:srgbClr val="D4C09B"/>
                </a:solidFill>
                <a:latin typeface="Calibri" pitchFamily="34" charset="0"/>
                <a:ea typeface="Calibri" pitchFamily="34" charset="-122"/>
                <a:cs typeface="Calibri" pitchFamily="34" charset="-120"/>
              </a:rPr>
              <a:t>HoldCo forms now. Once Series A closes, terms harden. Today's SAFE participants are the only ones who get this entry price.</a:t>
            </a:r>
            <a:endParaRPr lang="en-US" sz="1300" dirty="0"/>
          </a:p>
        </p:txBody>
      </p:sp>
      <p:sp>
        <p:nvSpPr>
          <p:cNvPr id="14" name="Shape 12"/>
          <p:cNvSpPr/>
          <p:nvPr/>
        </p:nvSpPr>
        <p:spPr>
          <a:xfrm>
            <a:off x="548640" y="4754880"/>
            <a:ext cx="1097280" cy="1280160"/>
          </a:xfrm>
          <a:prstGeom prst="rect">
            <a:avLst/>
          </a:prstGeom>
          <a:solidFill>
            <a:srgbClr val="D99C2B"/>
          </a:solidFill>
          <a:ln w="12700">
            <a:solidFill>
              <a:srgbClr val="D99C2B"/>
            </a:solidFill>
            <a:prstDash val="solid"/>
          </a:ln>
        </p:spPr>
      </p:sp>
      <p:sp>
        <p:nvSpPr>
          <p:cNvPr id="15" name="Text 13"/>
          <p:cNvSpPr/>
          <p:nvPr/>
        </p:nvSpPr>
        <p:spPr>
          <a:xfrm>
            <a:off x="548640" y="5074920"/>
            <a:ext cx="1097280" cy="640080"/>
          </a:xfrm>
          <a:prstGeom prst="rect">
            <a:avLst/>
          </a:prstGeom>
          <a:noFill/>
          <a:ln/>
        </p:spPr>
        <p:txBody>
          <a:bodyPr wrap="square" rtlCol="0" anchor="ctr"/>
          <a:lstStyle/>
          <a:p>
            <a:pPr algn="ctr" indent="0" marL="0">
              <a:buNone/>
            </a:pPr>
            <a:r>
              <a:rPr lang="en-US" sz="4000" b="1" dirty="0">
                <a:solidFill>
                  <a:srgbClr val="1A1208"/>
                </a:solidFill>
                <a:latin typeface="Georgia" pitchFamily="34" charset="0"/>
                <a:ea typeface="Georgia" pitchFamily="34" charset="-122"/>
                <a:cs typeface="Georgia" pitchFamily="34" charset="-120"/>
              </a:rPr>
              <a:t>03</a:t>
            </a:r>
            <a:endParaRPr lang="en-US" sz="4000" dirty="0"/>
          </a:p>
        </p:txBody>
      </p:sp>
      <p:sp>
        <p:nvSpPr>
          <p:cNvPr id="16" name="Shape 14"/>
          <p:cNvSpPr/>
          <p:nvPr/>
        </p:nvSpPr>
        <p:spPr>
          <a:xfrm>
            <a:off x="1691640" y="4754880"/>
            <a:ext cx="9921240" cy="1280160"/>
          </a:xfrm>
          <a:prstGeom prst="rect">
            <a:avLst/>
          </a:prstGeom>
          <a:solidFill>
            <a:srgbClr val="4A3825"/>
          </a:solidFill>
          <a:ln w="12700">
            <a:solidFill>
              <a:srgbClr val="D99C2B"/>
            </a:solidFill>
            <a:prstDash val="solid"/>
          </a:ln>
        </p:spPr>
      </p:sp>
      <p:sp>
        <p:nvSpPr>
          <p:cNvPr id="17" name="Text 15"/>
          <p:cNvSpPr/>
          <p:nvPr/>
        </p:nvSpPr>
        <p:spPr>
          <a:xfrm>
            <a:off x="1920240" y="4937760"/>
            <a:ext cx="9509760" cy="365760"/>
          </a:xfrm>
          <a:prstGeom prst="rect">
            <a:avLst/>
          </a:prstGeom>
          <a:noFill/>
          <a:ln/>
        </p:spPr>
        <p:txBody>
          <a:bodyPr wrap="square" rtlCol="0" anchor="ctr"/>
          <a:lstStyle/>
          <a:p>
            <a:pPr indent="0" marL="0">
              <a:buNone/>
            </a:pPr>
            <a:r>
              <a:rPr lang="en-US" sz="2000" b="1" dirty="0">
                <a:solidFill>
                  <a:srgbClr val="FAF6EA"/>
                </a:solidFill>
                <a:latin typeface="Georgia" pitchFamily="34" charset="0"/>
                <a:ea typeface="Georgia" pitchFamily="34" charset="-122"/>
                <a:cs typeface="Georgia" pitchFamily="34" charset="-120"/>
              </a:rPr>
              <a:t>Operations stretching</a:t>
            </a:r>
            <a:endParaRPr lang="en-US" sz="2000" dirty="0"/>
          </a:p>
        </p:txBody>
      </p:sp>
      <p:sp>
        <p:nvSpPr>
          <p:cNvPr id="18" name="Text 16"/>
          <p:cNvSpPr/>
          <p:nvPr/>
        </p:nvSpPr>
        <p:spPr>
          <a:xfrm>
            <a:off x="1920240" y="5349240"/>
            <a:ext cx="9509760" cy="640080"/>
          </a:xfrm>
          <a:prstGeom prst="rect">
            <a:avLst/>
          </a:prstGeom>
          <a:noFill/>
          <a:ln/>
        </p:spPr>
        <p:txBody>
          <a:bodyPr wrap="square" rtlCol="0" anchor="ctr"/>
          <a:lstStyle/>
          <a:p>
            <a:pPr indent="0" marL="0">
              <a:lnSpc>
                <a:spcPct val="140000"/>
              </a:lnSpc>
              <a:buNone/>
            </a:pPr>
            <a:r>
              <a:rPr lang="en-US" sz="1300" dirty="0">
                <a:solidFill>
                  <a:srgbClr val="D4C09B"/>
                </a:solidFill>
                <a:latin typeface="Calibri" pitchFamily="34" charset="0"/>
                <a:ea typeface="Calibri" pitchFamily="34" charset="-122"/>
                <a:cs typeface="Calibri" pitchFamily="34" charset="-120"/>
              </a:rPr>
              <a:t>We have 7 shops with 4 founders running ops part-time. Jonathan hire requires SAFE proceeds. Every week of delay is real operational drag.</a:t>
            </a:r>
            <a:endParaRPr lang="en-US" sz="1300" dirty="0"/>
          </a:p>
        </p:txBody>
      </p:sp>
      <p:sp>
        <p:nvSpPr>
          <p:cNvPr id="19" name="Text 17"/>
          <p:cNvSpPr/>
          <p:nvPr/>
        </p:nvSpPr>
        <p:spPr>
          <a:xfrm>
            <a:off x="548640" y="6309360"/>
            <a:ext cx="11064240" cy="365760"/>
          </a:xfrm>
          <a:prstGeom prst="rect">
            <a:avLst/>
          </a:prstGeom>
          <a:noFill/>
          <a:ln/>
        </p:spPr>
        <p:txBody>
          <a:bodyPr wrap="square" rtlCol="0" anchor="ctr"/>
          <a:lstStyle/>
          <a:p>
            <a:pPr algn="ctr" indent="0" marL="0">
              <a:buNone/>
            </a:pPr>
            <a:r>
              <a:rPr lang="en-US" sz="1400" b="1" i="1" dirty="0">
                <a:solidFill>
                  <a:srgbClr val="D99C2B"/>
                </a:solidFill>
                <a:latin typeface="Calibri" pitchFamily="34" charset="0"/>
                <a:ea typeface="Calibri" pitchFamily="34" charset="-122"/>
                <a:cs typeface="Calibri" pitchFamily="34" charset="-120"/>
              </a:rPr>
              <a:t>The next 30 days set the trajectory.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A"/>
        </a:solidFill>
      </p:bgPr>
    </p:bg>
    <p:spTree>
      <p:nvGrpSpPr>
        <p:cNvPr id="1" name=""/>
        <p:cNvGrpSpPr/>
        <p:nvPr/>
      </p:nvGrpSpPr>
      <p:grpSpPr>
        <a:xfrm>
          <a:off x="0" y="0"/>
          <a:ext cx="0" cy="0"/>
          <a:chOff x="0" y="0"/>
          <a:chExt cx="0" cy="0"/>
        </a:xfrm>
      </p:grpSpPr>
      <p:sp>
        <p:nvSpPr>
          <p:cNvPr id="2" name="Text 0"/>
          <p:cNvSpPr/>
          <p:nvPr/>
        </p:nvSpPr>
        <p:spPr>
          <a:xfrm>
            <a:off x="548640" y="457200"/>
            <a:ext cx="11064240" cy="457200"/>
          </a:xfrm>
          <a:prstGeom prst="rect">
            <a:avLst/>
          </a:prstGeom>
          <a:noFill/>
          <a:ln/>
        </p:spPr>
        <p:txBody>
          <a:bodyPr wrap="square" rtlCol="0" anchor="ctr"/>
          <a:lstStyle/>
          <a:p>
            <a:pPr indent="0" marL="0">
              <a:buNone/>
            </a:pPr>
            <a:r>
              <a:rPr lang="en-US" sz="3200" b="1" dirty="0">
                <a:solidFill>
                  <a:srgbClr val="1A1208"/>
                </a:solidFill>
                <a:latin typeface="Georgia" pitchFamily="34" charset="0"/>
                <a:ea typeface="Georgia" pitchFamily="34" charset="-122"/>
                <a:cs typeface="Georgia" pitchFamily="34" charset="-120"/>
              </a:rPr>
              <a:t>Next steps</a:t>
            </a:r>
            <a:endParaRPr lang="en-US" sz="32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400" i="1" dirty="0">
                <a:solidFill>
                  <a:srgbClr val="8B6E3D"/>
                </a:solidFill>
                <a:latin typeface="Calibri" pitchFamily="34" charset="0"/>
                <a:ea typeface="Calibri" pitchFamily="34" charset="-122"/>
                <a:cs typeface="Calibri" pitchFamily="34" charset="-120"/>
              </a:rPr>
              <a:t>What happens between today and SAFE close.</a:t>
            </a:r>
            <a:endParaRPr lang="en-US" sz="1400" dirty="0"/>
          </a:p>
        </p:txBody>
      </p:sp>
      <p:sp>
        <p:nvSpPr>
          <p:cNvPr id="4" name="Shape 2"/>
          <p:cNvSpPr/>
          <p:nvPr/>
        </p:nvSpPr>
        <p:spPr>
          <a:xfrm>
            <a:off x="548640" y="1645920"/>
            <a:ext cx="11064240" cy="822960"/>
          </a:xfrm>
          <a:prstGeom prst="rect">
            <a:avLst/>
          </a:prstGeom>
          <a:solidFill>
            <a:srgbClr val="FFFFFF"/>
          </a:solidFill>
          <a:ln w="12700">
            <a:solidFill>
              <a:srgbClr val="D99C2B"/>
            </a:solidFill>
            <a:prstDash val="solid"/>
          </a:ln>
        </p:spPr>
      </p:sp>
      <p:sp>
        <p:nvSpPr>
          <p:cNvPr id="5" name="Text 3"/>
          <p:cNvSpPr/>
          <p:nvPr/>
        </p:nvSpPr>
        <p:spPr>
          <a:xfrm>
            <a:off x="822960" y="1874520"/>
            <a:ext cx="1828800" cy="36576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WEEK 1</a:t>
            </a:r>
            <a:endParaRPr lang="en-US" sz="1600" dirty="0"/>
          </a:p>
        </p:txBody>
      </p:sp>
      <p:sp>
        <p:nvSpPr>
          <p:cNvPr id="6" name="Text 4"/>
          <p:cNvSpPr/>
          <p:nvPr/>
        </p:nvSpPr>
        <p:spPr>
          <a:xfrm>
            <a:off x="2743200" y="1874520"/>
            <a:ext cx="8686800" cy="365760"/>
          </a:xfrm>
          <a:prstGeom prst="rect">
            <a:avLst/>
          </a:prstGeom>
          <a:noFill/>
          <a:ln/>
        </p:spPr>
        <p:txBody>
          <a:bodyPr wrap="square" rtlCol="0" anchor="ctr"/>
          <a:lstStyle/>
          <a:p>
            <a:pPr indent="0" marL="0">
              <a:buNone/>
            </a:pPr>
            <a:r>
              <a:rPr lang="en-US" sz="1400" dirty="0">
                <a:solidFill>
                  <a:srgbClr val="4A3825"/>
                </a:solidFill>
                <a:latin typeface="Calibri" pitchFamily="34" charset="0"/>
                <a:ea typeface="Calibri" pitchFamily="34" charset="-122"/>
                <a:cs typeface="Calibri" pitchFamily="34" charset="-120"/>
              </a:rPr>
              <a:t>Follow-up call · clarify any open questions · expression of interest</a:t>
            </a:r>
            <a:endParaRPr lang="en-US" sz="1400" dirty="0"/>
          </a:p>
        </p:txBody>
      </p:sp>
      <p:sp>
        <p:nvSpPr>
          <p:cNvPr id="7" name="Shape 5"/>
          <p:cNvSpPr/>
          <p:nvPr/>
        </p:nvSpPr>
        <p:spPr>
          <a:xfrm>
            <a:off x="548640" y="2651760"/>
            <a:ext cx="11064240" cy="822960"/>
          </a:xfrm>
          <a:prstGeom prst="rect">
            <a:avLst/>
          </a:prstGeom>
          <a:solidFill>
            <a:srgbClr val="FFFFFF"/>
          </a:solidFill>
          <a:ln w="12700">
            <a:solidFill>
              <a:srgbClr val="D99C2B"/>
            </a:solidFill>
            <a:prstDash val="solid"/>
          </a:ln>
        </p:spPr>
      </p:sp>
      <p:sp>
        <p:nvSpPr>
          <p:cNvPr id="8" name="Text 6"/>
          <p:cNvSpPr/>
          <p:nvPr/>
        </p:nvSpPr>
        <p:spPr>
          <a:xfrm>
            <a:off x="822960" y="2880360"/>
            <a:ext cx="1828800" cy="36576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WEEK 2</a:t>
            </a:r>
            <a:endParaRPr lang="en-US" sz="1600" dirty="0"/>
          </a:p>
        </p:txBody>
      </p:sp>
      <p:sp>
        <p:nvSpPr>
          <p:cNvPr id="9" name="Text 7"/>
          <p:cNvSpPr/>
          <p:nvPr/>
        </p:nvSpPr>
        <p:spPr>
          <a:xfrm>
            <a:off x="2743200" y="2880360"/>
            <a:ext cx="8686800" cy="365760"/>
          </a:xfrm>
          <a:prstGeom prst="rect">
            <a:avLst/>
          </a:prstGeom>
          <a:noFill/>
          <a:ln/>
        </p:spPr>
        <p:txBody>
          <a:bodyPr wrap="square" rtlCol="0" anchor="ctr"/>
          <a:lstStyle/>
          <a:p>
            <a:pPr indent="0" marL="0">
              <a:buNone/>
            </a:pPr>
            <a:r>
              <a:rPr lang="en-US" sz="1400" dirty="0">
                <a:solidFill>
                  <a:srgbClr val="4A3825"/>
                </a:solidFill>
                <a:latin typeface="Calibri" pitchFamily="34" charset="0"/>
                <a:ea typeface="Calibri" pitchFamily="34" charset="-122"/>
                <a:cs typeface="Calibri" pitchFamily="34" charset="-120"/>
              </a:rPr>
              <a:t>Term sheet shared · review with your counsel · indicative commitment</a:t>
            </a:r>
            <a:endParaRPr lang="en-US" sz="1400" dirty="0"/>
          </a:p>
        </p:txBody>
      </p:sp>
      <p:sp>
        <p:nvSpPr>
          <p:cNvPr id="10" name="Shape 8"/>
          <p:cNvSpPr/>
          <p:nvPr/>
        </p:nvSpPr>
        <p:spPr>
          <a:xfrm>
            <a:off x="548640" y="3657600"/>
            <a:ext cx="11064240" cy="822960"/>
          </a:xfrm>
          <a:prstGeom prst="rect">
            <a:avLst/>
          </a:prstGeom>
          <a:solidFill>
            <a:srgbClr val="FFFFFF"/>
          </a:solidFill>
          <a:ln w="12700">
            <a:solidFill>
              <a:srgbClr val="D99C2B"/>
            </a:solidFill>
            <a:prstDash val="solid"/>
          </a:ln>
        </p:spPr>
      </p:sp>
      <p:sp>
        <p:nvSpPr>
          <p:cNvPr id="11" name="Text 9"/>
          <p:cNvSpPr/>
          <p:nvPr/>
        </p:nvSpPr>
        <p:spPr>
          <a:xfrm>
            <a:off x="822960" y="3886200"/>
            <a:ext cx="1828800" cy="36576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WEEK 3</a:t>
            </a:r>
            <a:endParaRPr lang="en-US" sz="1600" dirty="0"/>
          </a:p>
        </p:txBody>
      </p:sp>
      <p:sp>
        <p:nvSpPr>
          <p:cNvPr id="12" name="Text 10"/>
          <p:cNvSpPr/>
          <p:nvPr/>
        </p:nvSpPr>
        <p:spPr>
          <a:xfrm>
            <a:off x="2743200" y="3886200"/>
            <a:ext cx="8686800" cy="365760"/>
          </a:xfrm>
          <a:prstGeom prst="rect">
            <a:avLst/>
          </a:prstGeom>
          <a:noFill/>
          <a:ln/>
        </p:spPr>
        <p:txBody>
          <a:bodyPr wrap="square" rtlCol="0" anchor="ctr"/>
          <a:lstStyle/>
          <a:p>
            <a:pPr indent="0" marL="0">
              <a:buNone/>
            </a:pPr>
            <a:r>
              <a:rPr lang="en-US" sz="1400" dirty="0">
                <a:solidFill>
                  <a:srgbClr val="4A3825"/>
                </a:solidFill>
                <a:latin typeface="Calibri" pitchFamily="34" charset="0"/>
                <a:ea typeface="Calibri" pitchFamily="34" charset="-122"/>
                <a:cs typeface="Calibri" pitchFamily="34" charset="-120"/>
              </a:rPr>
              <a:t>Final SAFE document · signatures · wire instructions</a:t>
            </a:r>
            <a:endParaRPr lang="en-US" sz="1400" dirty="0"/>
          </a:p>
        </p:txBody>
      </p:sp>
      <p:sp>
        <p:nvSpPr>
          <p:cNvPr id="13" name="Shape 11"/>
          <p:cNvSpPr/>
          <p:nvPr/>
        </p:nvSpPr>
        <p:spPr>
          <a:xfrm>
            <a:off x="548640" y="4663440"/>
            <a:ext cx="11064240" cy="822960"/>
          </a:xfrm>
          <a:prstGeom prst="rect">
            <a:avLst/>
          </a:prstGeom>
          <a:solidFill>
            <a:srgbClr val="FFFFFF"/>
          </a:solidFill>
          <a:ln w="12700">
            <a:solidFill>
              <a:srgbClr val="D99C2B"/>
            </a:solidFill>
            <a:prstDash val="solid"/>
          </a:ln>
        </p:spPr>
      </p:sp>
      <p:sp>
        <p:nvSpPr>
          <p:cNvPr id="14" name="Text 12"/>
          <p:cNvSpPr/>
          <p:nvPr/>
        </p:nvSpPr>
        <p:spPr>
          <a:xfrm>
            <a:off x="822960" y="4892040"/>
            <a:ext cx="1828800" cy="365760"/>
          </a:xfrm>
          <a:prstGeom prst="rect">
            <a:avLst/>
          </a:prstGeom>
          <a:noFill/>
          <a:ln/>
        </p:spPr>
        <p:txBody>
          <a:bodyPr wrap="square" rtlCol="0" anchor="ctr"/>
          <a:lstStyle/>
          <a:p>
            <a:pPr indent="0" marL="0">
              <a:buNone/>
            </a:pPr>
            <a:r>
              <a:rPr lang="en-US" sz="1600" b="1" dirty="0">
                <a:solidFill>
                  <a:srgbClr val="A87618"/>
                </a:solidFill>
                <a:latin typeface="Consolas" pitchFamily="34" charset="0"/>
                <a:ea typeface="Consolas" pitchFamily="34" charset="-122"/>
                <a:cs typeface="Consolas" pitchFamily="34" charset="-120"/>
              </a:rPr>
              <a:t>WEEK 4</a:t>
            </a:r>
            <a:endParaRPr lang="en-US" sz="1600" dirty="0"/>
          </a:p>
        </p:txBody>
      </p:sp>
      <p:sp>
        <p:nvSpPr>
          <p:cNvPr id="15" name="Text 13"/>
          <p:cNvSpPr/>
          <p:nvPr/>
        </p:nvSpPr>
        <p:spPr>
          <a:xfrm>
            <a:off x="2743200" y="4892040"/>
            <a:ext cx="8686800" cy="365760"/>
          </a:xfrm>
          <a:prstGeom prst="rect">
            <a:avLst/>
          </a:prstGeom>
          <a:noFill/>
          <a:ln/>
        </p:spPr>
        <p:txBody>
          <a:bodyPr wrap="square" rtlCol="0" anchor="ctr"/>
          <a:lstStyle/>
          <a:p>
            <a:pPr indent="0" marL="0">
              <a:buNone/>
            </a:pPr>
            <a:r>
              <a:rPr lang="en-US" sz="1400" dirty="0">
                <a:solidFill>
                  <a:srgbClr val="4A3825"/>
                </a:solidFill>
                <a:latin typeface="Calibri" pitchFamily="34" charset="0"/>
                <a:ea typeface="Calibri" pitchFamily="34" charset="-122"/>
                <a:cs typeface="Calibri" pitchFamily="34" charset="-120"/>
              </a:rPr>
              <a:t>SAFE closes · HoldCo formation begins · regular monthly investor updates start</a:t>
            </a:r>
            <a:endParaRPr lang="en-US" sz="1400" dirty="0"/>
          </a:p>
        </p:txBody>
      </p:sp>
      <p:sp>
        <p:nvSpPr>
          <p:cNvPr id="16" name="Text 14"/>
          <p:cNvSpPr/>
          <p:nvPr/>
        </p:nvSpPr>
        <p:spPr>
          <a:xfrm>
            <a:off x="548640" y="5852160"/>
            <a:ext cx="11064240" cy="457200"/>
          </a:xfrm>
          <a:prstGeom prst="rect">
            <a:avLst/>
          </a:prstGeom>
          <a:noFill/>
          <a:ln/>
        </p:spPr>
        <p:txBody>
          <a:bodyPr wrap="square" rtlCol="0" anchor="ctr"/>
          <a:lstStyle/>
          <a:p>
            <a:pPr algn="ctr" indent="0" marL="0">
              <a:buNone/>
            </a:pPr>
            <a:r>
              <a:rPr lang="en-US" sz="1200" i="1" dirty="0">
                <a:solidFill>
                  <a:srgbClr val="8B6E3D"/>
                </a:solidFill>
                <a:latin typeface="Calibri" pitchFamily="34" charset="0"/>
                <a:ea typeface="Calibri" pitchFamily="34" charset="-122"/>
                <a:cs typeface="Calibri" pitchFamily="34" charset="-120"/>
              </a:rPr>
              <a:t>All materials available on request: strategic memo · cap table model · §721 contribution memos · LP consent process documentation.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208"/>
        </a:solidFill>
      </p:bgPr>
    </p:bg>
    <p:spTree>
      <p:nvGrpSpPr>
        <p:cNvPr id="1" name=""/>
        <p:cNvGrpSpPr/>
        <p:nvPr/>
      </p:nvGrpSpPr>
      <p:grpSpPr>
        <a:xfrm>
          <a:off x="0" y="0"/>
          <a:ext cx="0" cy="0"/>
          <a:chOff x="0" y="0"/>
          <a:chExt cx="0" cy="0"/>
        </a:xfrm>
      </p:grpSpPr>
      <p:sp>
        <p:nvSpPr>
          <p:cNvPr id="2" name="Text 0"/>
          <p:cNvSpPr/>
          <p:nvPr/>
        </p:nvSpPr>
        <p:spPr>
          <a:xfrm>
            <a:off x="548640" y="1645920"/>
            <a:ext cx="11064240" cy="1371600"/>
          </a:xfrm>
          <a:prstGeom prst="rect">
            <a:avLst/>
          </a:prstGeom>
          <a:noFill/>
          <a:ln/>
        </p:spPr>
        <p:txBody>
          <a:bodyPr wrap="square" rtlCol="0" anchor="ctr"/>
          <a:lstStyle/>
          <a:p>
            <a:pPr algn="ctr" indent="0" marL="0">
              <a:buNone/>
            </a:pPr>
            <a:r>
              <a:rPr lang="en-US" sz="7200" b="1" i="1" dirty="0">
                <a:solidFill>
                  <a:srgbClr val="FAF6EA"/>
                </a:solidFill>
                <a:latin typeface="Georgia" pitchFamily="34" charset="0"/>
                <a:ea typeface="Georgia" pitchFamily="34" charset="-122"/>
                <a:cs typeface="Georgia" pitchFamily="34" charset="-120"/>
              </a:rPr>
              <a:t>Golden Glaze</a:t>
            </a:r>
            <a:endParaRPr lang="en-US" sz="7200" dirty="0"/>
          </a:p>
        </p:txBody>
      </p:sp>
      <p:sp>
        <p:nvSpPr>
          <p:cNvPr id="3" name="Text 1"/>
          <p:cNvSpPr/>
          <p:nvPr/>
        </p:nvSpPr>
        <p:spPr>
          <a:xfrm>
            <a:off x="548640" y="3200400"/>
            <a:ext cx="11064240" cy="548640"/>
          </a:xfrm>
          <a:prstGeom prst="rect">
            <a:avLst/>
          </a:prstGeom>
          <a:noFill/>
          <a:ln/>
        </p:spPr>
        <p:txBody>
          <a:bodyPr wrap="square" rtlCol="0" anchor="ctr"/>
          <a:lstStyle/>
          <a:p>
            <a:pPr algn="ctr" indent="0" marL="0">
              <a:buNone/>
            </a:pPr>
            <a:r>
              <a:rPr lang="en-US" sz="1800" i="1" dirty="0">
                <a:solidFill>
                  <a:srgbClr val="F5E2B8"/>
                </a:solidFill>
                <a:latin typeface="Calibri" pitchFamily="34" charset="0"/>
                <a:ea typeface="Calibri" pitchFamily="34" charset="-122"/>
                <a:cs typeface="Calibri" pitchFamily="34" charset="-120"/>
              </a:rPr>
              <a:t>The next great American specialty bakery — built right.</a:t>
            </a:r>
            <a:endParaRPr lang="en-US" sz="1800" dirty="0"/>
          </a:p>
        </p:txBody>
      </p:sp>
      <p:sp>
        <p:nvSpPr>
          <p:cNvPr id="4" name="Shape 2"/>
          <p:cNvSpPr/>
          <p:nvPr/>
        </p:nvSpPr>
        <p:spPr>
          <a:xfrm>
            <a:off x="3200400" y="4297680"/>
            <a:ext cx="5760720" cy="1463040"/>
          </a:xfrm>
          <a:prstGeom prst="rect">
            <a:avLst/>
          </a:prstGeom>
          <a:solidFill>
            <a:srgbClr val="4A3825"/>
          </a:solidFill>
          <a:ln w="12700">
            <a:solidFill>
              <a:srgbClr val="D99C2B"/>
            </a:solidFill>
            <a:prstDash val="solid"/>
          </a:ln>
        </p:spPr>
      </p:sp>
      <p:sp>
        <p:nvSpPr>
          <p:cNvPr id="5" name="Text 3"/>
          <p:cNvSpPr/>
          <p:nvPr/>
        </p:nvSpPr>
        <p:spPr>
          <a:xfrm>
            <a:off x="3200400" y="4434840"/>
            <a:ext cx="5760720" cy="274320"/>
          </a:xfrm>
          <a:prstGeom prst="rect">
            <a:avLst/>
          </a:prstGeom>
          <a:noFill/>
          <a:ln/>
        </p:spPr>
        <p:txBody>
          <a:bodyPr wrap="square" rtlCol="0" anchor="ctr"/>
          <a:lstStyle/>
          <a:p>
            <a:pPr algn="ctr" indent="0" marL="0">
              <a:buNone/>
            </a:pPr>
            <a:r>
              <a:rPr lang="en-US" sz="1000" b="1" spc="300" kern="0" dirty="0">
                <a:solidFill>
                  <a:srgbClr val="D99C2B"/>
                </a:solidFill>
                <a:latin typeface="Calibri" pitchFamily="34" charset="0"/>
                <a:ea typeface="Calibri" pitchFamily="34" charset="-122"/>
                <a:cs typeface="Calibri" pitchFamily="34" charset="-120"/>
              </a:rPr>
              <a:t>CONTACT</a:t>
            </a:r>
            <a:endParaRPr lang="en-US" sz="1000" dirty="0"/>
          </a:p>
        </p:txBody>
      </p:sp>
      <p:sp>
        <p:nvSpPr>
          <p:cNvPr id="6" name="Text 4"/>
          <p:cNvSpPr/>
          <p:nvPr/>
        </p:nvSpPr>
        <p:spPr>
          <a:xfrm>
            <a:off x="3200400" y="4709160"/>
            <a:ext cx="5760720" cy="640080"/>
          </a:xfrm>
          <a:prstGeom prst="rect">
            <a:avLst/>
          </a:prstGeom>
          <a:noFill/>
          <a:ln/>
        </p:spPr>
        <p:txBody>
          <a:bodyPr wrap="square" rtlCol="0" anchor="ctr"/>
          <a:lstStyle/>
          <a:p>
            <a:pPr algn="ctr" indent="0" marL="0">
              <a:lnSpc>
                <a:spcPct val="140000"/>
              </a:lnSpc>
              <a:buNone/>
            </a:pPr>
            <a:r>
              <a:rPr lang="en-US" sz="1400" dirty="0">
                <a:solidFill>
                  <a:srgbClr val="FAF6EA"/>
                </a:solidFill>
                <a:latin typeface="Calibri" pitchFamily="34" charset="0"/>
                <a:ea typeface="Calibri" pitchFamily="34" charset="-122"/>
                <a:cs typeface="Calibri" pitchFamily="34" charset="-120"/>
              </a:rPr>
              <a:t>Jack Wong · Founder &amp; CEO</a:t>
            </a:r>
            <a:endParaRPr lang="en-US" sz="1400" dirty="0"/>
          </a:p>
          <a:p>
            <a:pPr algn="ctr" indent="0" marL="0">
              <a:lnSpc>
                <a:spcPct val="140000"/>
              </a:lnSpc>
              <a:buNone/>
            </a:pPr>
            <a:r>
              <a:rPr lang="en-US" sz="1400" dirty="0">
                <a:solidFill>
                  <a:srgbClr val="FAF6EA"/>
                </a:solidFill>
                <a:latin typeface="Calibri" pitchFamily="34" charset="0"/>
                <a:ea typeface="Calibri" pitchFamily="34" charset="-122"/>
                <a:cs typeface="Calibri" pitchFamily="34" charset="-120"/>
              </a:rPr>
              <a:t>Youyou · Co-founder &amp; COO</a:t>
            </a:r>
            <a:endParaRPr lang="en-US" sz="1400" dirty="0"/>
          </a:p>
        </p:txBody>
      </p:sp>
      <p:sp>
        <p:nvSpPr>
          <p:cNvPr id="7" name="Text 5"/>
          <p:cNvSpPr/>
          <p:nvPr/>
        </p:nvSpPr>
        <p:spPr>
          <a:xfrm>
            <a:off x="3200400" y="5349240"/>
            <a:ext cx="5760720" cy="274320"/>
          </a:xfrm>
          <a:prstGeom prst="rect">
            <a:avLst/>
          </a:prstGeom>
          <a:noFill/>
          <a:ln/>
        </p:spPr>
        <p:txBody>
          <a:bodyPr wrap="square" rtlCol="0" anchor="ctr"/>
          <a:lstStyle/>
          <a:p>
            <a:pPr algn="ctr" indent="0" marL="0">
              <a:buNone/>
            </a:pPr>
            <a:r>
              <a:rPr lang="en-US" sz="1100" i="1" dirty="0">
                <a:solidFill>
                  <a:srgbClr val="D4C09B"/>
                </a:solidFill>
                <a:latin typeface="Calibri" pitchFamily="34" charset="0"/>
                <a:ea typeface="Calibri" pitchFamily="34" charset="-122"/>
                <a:cs typeface="Calibri" pitchFamily="34" charset="-120"/>
              </a:rPr>
              <a:t>Golden Glaze Holdings · Dallas-Fort Worth</a:t>
            </a:r>
            <a:endParaRPr lang="en-US" sz="1100" dirty="0"/>
          </a:p>
        </p:txBody>
      </p:sp>
      <p:sp>
        <p:nvSpPr>
          <p:cNvPr id="8" name="Text 6"/>
          <p:cNvSpPr/>
          <p:nvPr/>
        </p:nvSpPr>
        <p:spPr>
          <a:xfrm>
            <a:off x="548640" y="6355080"/>
            <a:ext cx="11064240" cy="274320"/>
          </a:xfrm>
          <a:prstGeom prst="rect">
            <a:avLst/>
          </a:prstGeom>
          <a:noFill/>
          <a:ln/>
        </p:spPr>
        <p:txBody>
          <a:bodyPr wrap="square" rtlCol="0" anchor="ctr"/>
          <a:lstStyle/>
          <a:p>
            <a:pPr algn="ctr" indent="0" marL="0">
              <a:buNone/>
            </a:pPr>
            <a:r>
              <a:rPr lang="en-US" sz="900" spc="200" kern="0" dirty="0">
                <a:solidFill>
                  <a:srgbClr val="8B6E3D"/>
                </a:solidFill>
                <a:latin typeface="Calibri" pitchFamily="34" charset="0"/>
                <a:ea typeface="Calibri" pitchFamily="34" charset="-122"/>
                <a:cs typeface="Calibri" pitchFamily="34" charset="-120"/>
              </a:rPr>
              <a:t>Confidential investment memorandum · May 2026 · Do not distribute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Golden Glaze Holdings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 Glaze — Strategic Investment Deck</dc:title>
  <dc:subject>PptxGenJS Presentation</dc:subject>
  <dc:creator>Golden Glaze Holdings</dc:creator>
  <cp:lastModifiedBy>Golden Glaze Holdings</cp:lastModifiedBy>
  <cp:revision>1</cp:revision>
  <dcterms:created xsi:type="dcterms:W3CDTF">2026-05-16T04:32:56Z</dcterms:created>
  <dcterms:modified xsi:type="dcterms:W3CDTF">2026-05-16T04:32:56Z</dcterms:modified>
</cp:coreProperties>
</file>